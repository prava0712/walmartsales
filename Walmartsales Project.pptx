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4.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Ex1.xml" ContentType="application/vnd.ms-office.chartex+xml"/>
  <Override PartName="/ppt/charts/style10.xml" ContentType="application/vnd.ms-office.chartstyle+xml"/>
  <Override PartName="/ppt/charts/colors10.xml" ContentType="application/vnd.ms-office.chartcolorstyle+xml"/>
  <Override PartName="/ppt/charts/chart10.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1.xml" ContentType="application/vnd.openxmlformats-officedocument.drawingml.chart+xml"/>
  <Override PartName="/ppt/charts/style12.xml" ContentType="application/vnd.ms-office.chartstyle+xml"/>
  <Override PartName="/ppt/charts/colors12.xml" ContentType="application/vnd.ms-office.chartcolorstyle+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1" r:id="rId1"/>
  </p:sldMasterIdLst>
  <p:sldIdLst>
    <p:sldId id="256" r:id="rId2"/>
    <p:sldId id="257" r:id="rId3"/>
    <p:sldId id="258" r:id="rId4"/>
    <p:sldId id="259" r:id="rId5"/>
    <p:sldId id="260" r:id="rId6"/>
    <p:sldId id="261" r:id="rId7"/>
    <p:sldId id="262" r:id="rId8"/>
    <p:sldId id="263" r:id="rId9"/>
    <p:sldId id="264" r:id="rId10"/>
    <p:sldId id="265" r:id="rId11"/>
    <p:sldId id="270" r:id="rId12"/>
    <p:sldId id="267" r:id="rId13"/>
    <p:sldId id="268" r:id="rId14"/>
    <p:sldId id="269" r:id="rId15"/>
    <p:sldId id="271" r:id="rId16"/>
    <p:sldId id="272" r:id="rId17"/>
    <p:sldId id="273" r:id="rId18"/>
    <p:sldId id="274" r:id="rId19"/>
    <p:sldId id="276"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061D484-3F0B-475B-B43E-3516924058C3}">
          <p14:sldIdLst>
            <p14:sldId id="256"/>
            <p14:sldId id="257"/>
          </p14:sldIdLst>
        </p14:section>
        <p14:section name="Untitled Section" id="{55F607CA-91DE-4DAA-A5ED-1FEBF33ADB29}">
          <p14:sldIdLst>
            <p14:sldId id="258"/>
          </p14:sldIdLst>
        </p14:section>
        <p14:section name="Untitled Section" id="{7855CDC9-0697-47B3-BDD4-FC8C54093E34}">
          <p14:sldIdLst>
            <p14:sldId id="259"/>
            <p14:sldId id="260"/>
            <p14:sldId id="261"/>
            <p14:sldId id="262"/>
            <p14:sldId id="263"/>
            <p14:sldId id="264"/>
            <p14:sldId id="265"/>
            <p14:sldId id="270"/>
            <p14:sldId id="267"/>
            <p14:sldId id="268"/>
            <p14:sldId id="269"/>
            <p14:sldId id="271"/>
            <p14:sldId id="272"/>
            <p14:sldId id="273"/>
            <p14:sldId id="274"/>
            <p14:sldId id="276"/>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626"/>
    <a:srgbClr val="33CCCC"/>
    <a:srgbClr val="0F3A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81" d="100"/>
          <a:sy n="81" d="100"/>
        </p:scale>
        <p:origin x="6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Pravallika\Downloads\walmart%20task%201.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Pravallika\Downloads\walmart%20task%202.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Pravallika\Downloads\walmart%20task%203.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Pravallika\Downloads\walmart%20task%203.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Pravallika\Downloads\walmart%20task%203.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Pravallika\Downloads\walmart%20task%204.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Pravallika\Downloads\walmart%20task%205.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Pravallika\Downloads\walmart%20task%206.csv"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Pravallika\Downloads\walmart%20task%207.csv"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Pravallika\Downloads\walmart%20task%209.csv" TargetMode="External"/><Relationship Id="rId2" Type="http://schemas.microsoft.com/office/2011/relationships/chartColorStyle" Target="colors11.xml"/><Relationship Id="rId1" Type="http://schemas.microsoft.com/office/2011/relationships/chartStyle" Target="style11.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Pravallika\Downloads\walmart%20task%2010.csv" TargetMode="External"/><Relationship Id="rId2" Type="http://schemas.microsoft.com/office/2011/relationships/chartColorStyle" Target="colors12.xml"/><Relationship Id="rId1" Type="http://schemas.microsoft.com/office/2011/relationships/chartStyle" Target="style12.xml"/></Relationships>
</file>

<file path=ppt/charts/_rels/chartEx1.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file:///C:\Users\Pravallika\Downloads\walmart%20task%208.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600" b="1" i="0" u="none" strike="noStrike" kern="1200" spc="100" baseline="0" dirty="0">
                <a:solidFill>
                  <a:prstClr val="white">
                    <a:lumMod val="95000"/>
                  </a:prstClr>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a:t>Top Branch by Sales Growth Rate</a:t>
            </a:r>
            <a:endParaRPr lang="en-IN" dirty="0"/>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'walmart task 1'!$B$1</c:f>
              <c:strCache>
                <c:ptCount val="1"/>
                <c:pt idx="0">
                  <c:v>TopPerformer</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'walmart task 1'!$A$2:$A$4</c:f>
              <c:strCache>
                <c:ptCount val="3"/>
                <c:pt idx="0">
                  <c:v>B</c:v>
                </c:pt>
                <c:pt idx="1">
                  <c:v>C</c:v>
                </c:pt>
                <c:pt idx="2">
                  <c:v>A</c:v>
                </c:pt>
              </c:strCache>
            </c:strRef>
          </c:cat>
          <c:val>
            <c:numRef>
              <c:f>'walmart task 1'!$B$2:$B$4</c:f>
              <c:numCache>
                <c:formatCode>General</c:formatCode>
                <c:ptCount val="3"/>
                <c:pt idx="0">
                  <c:v>88.94</c:v>
                </c:pt>
                <c:pt idx="1">
                  <c:v>85.21</c:v>
                </c:pt>
                <c:pt idx="2">
                  <c:v>54.43</c:v>
                </c:pt>
              </c:numCache>
            </c:numRef>
          </c:val>
          <c:extLst>
            <c:ext xmlns:c16="http://schemas.microsoft.com/office/drawing/2014/chart" uri="{C3380CC4-5D6E-409C-BE32-E72D297353CC}">
              <c16:uniqueId val="{00000000-7184-49F4-A456-FEB7393C69AF}"/>
            </c:ext>
          </c:extLst>
        </c:ser>
        <c:dLbls>
          <c:showLegendKey val="0"/>
          <c:showVal val="0"/>
          <c:showCatName val="0"/>
          <c:showSerName val="0"/>
          <c:showPercent val="0"/>
          <c:showBubbleSize val="0"/>
        </c:dLbls>
        <c:gapWidth val="150"/>
        <c:shape val="box"/>
        <c:axId val="1177488047"/>
        <c:axId val="1177484687"/>
        <c:axId val="0"/>
      </c:bar3DChart>
      <c:catAx>
        <c:axId val="117748804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77484687"/>
        <c:crosses val="autoZero"/>
        <c:auto val="1"/>
        <c:lblAlgn val="ctr"/>
        <c:lblOffset val="100"/>
        <c:noMultiLvlLbl val="0"/>
      </c:catAx>
      <c:valAx>
        <c:axId val="1177484687"/>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774880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'walmart task 2'!$C$1</c:f>
              <c:strCache>
                <c:ptCount val="1"/>
                <c:pt idx="0">
                  <c:v>ProfitMargin</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'walmart task 2'!$A$2:$B$4</c:f>
              <c:multiLvlStrCache>
                <c:ptCount val="3"/>
                <c:lvl>
                  <c:pt idx="0">
                    <c:v>Fashion accessories</c:v>
                  </c:pt>
                  <c:pt idx="1">
                    <c:v>Health and beauty</c:v>
                  </c:pt>
                  <c:pt idx="2">
                    <c:v>Sports and travel</c:v>
                  </c:pt>
                </c:lvl>
                <c:lvl>
                  <c:pt idx="0">
                    <c:v>A</c:v>
                  </c:pt>
                  <c:pt idx="1">
                    <c:v>B</c:v>
                  </c:pt>
                  <c:pt idx="2">
                    <c:v>C</c:v>
                  </c:pt>
                </c:lvl>
              </c:multiLvlStrCache>
            </c:multiLvlStrRef>
          </c:cat>
          <c:val>
            <c:numRef>
              <c:f>'walmart task 2'!$C$2:$C$4</c:f>
              <c:numCache>
                <c:formatCode>General</c:formatCode>
                <c:ptCount val="3"/>
                <c:pt idx="0">
                  <c:v>-12.09</c:v>
                </c:pt>
                <c:pt idx="1">
                  <c:v>-17.75</c:v>
                </c:pt>
                <c:pt idx="2">
                  <c:v>-10.17</c:v>
                </c:pt>
              </c:numCache>
            </c:numRef>
          </c:val>
          <c:extLst>
            <c:ext xmlns:c16="http://schemas.microsoft.com/office/drawing/2014/chart" uri="{C3380CC4-5D6E-409C-BE32-E72D297353CC}">
              <c16:uniqueId val="{00000000-88EE-42F1-8512-D18F7E5B845D}"/>
            </c:ext>
          </c:extLst>
        </c:ser>
        <c:dLbls>
          <c:showLegendKey val="0"/>
          <c:showVal val="0"/>
          <c:showCatName val="0"/>
          <c:showSerName val="0"/>
          <c:showPercent val="0"/>
          <c:showBubbleSize val="0"/>
        </c:dLbls>
        <c:gapWidth val="100"/>
        <c:overlap val="-24"/>
        <c:axId val="1177465487"/>
        <c:axId val="1177465967"/>
      </c:barChart>
      <c:catAx>
        <c:axId val="117746548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77465967"/>
        <c:crosses val="autoZero"/>
        <c:auto val="1"/>
        <c:lblAlgn val="ctr"/>
        <c:lblOffset val="100"/>
        <c:noMultiLvlLbl val="0"/>
      </c:catAx>
      <c:valAx>
        <c:axId val="117746596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774654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 task 3.csv]Sheet1!PivotTable15</c:name>
    <c:fmtId val="5"/>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Sum of TotalSpent by SpendingCategory</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Sheet1!$A$4:$A$6</c:f>
              <c:strCache>
                <c:ptCount val="3"/>
                <c:pt idx="0">
                  <c:v>High</c:v>
                </c:pt>
                <c:pt idx="1">
                  <c:v>Low</c:v>
                </c:pt>
                <c:pt idx="2">
                  <c:v>Medium</c:v>
                </c:pt>
              </c:strCache>
            </c:strRef>
          </c:cat>
          <c:val>
            <c:numRef>
              <c:f>Sheet1!$B$4:$B$6</c:f>
              <c:numCache>
                <c:formatCode>General</c:formatCode>
                <c:ptCount val="3"/>
                <c:pt idx="0">
                  <c:v>282280.71000000008</c:v>
                </c:pt>
                <c:pt idx="1">
                  <c:v>19301.500000000007</c:v>
                </c:pt>
                <c:pt idx="2">
                  <c:v>21384.620000000003</c:v>
                </c:pt>
              </c:numCache>
            </c:numRef>
          </c:val>
          <c:extLst>
            <c:ext xmlns:c16="http://schemas.microsoft.com/office/drawing/2014/chart" uri="{C3380CC4-5D6E-409C-BE32-E72D297353CC}">
              <c16:uniqueId val="{00000000-9FA4-4462-90F3-63E496F79734}"/>
            </c:ext>
          </c:extLst>
        </c:ser>
        <c:dLbls>
          <c:showLegendKey val="0"/>
          <c:showVal val="0"/>
          <c:showCatName val="0"/>
          <c:showSerName val="0"/>
          <c:showPercent val="0"/>
          <c:showBubbleSize val="0"/>
        </c:dLbls>
        <c:gapWidth val="100"/>
        <c:overlap val="-24"/>
        <c:axId val="640142863"/>
        <c:axId val="640143823"/>
      </c:barChart>
      <c:catAx>
        <c:axId val="64014286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40143823"/>
        <c:crosses val="autoZero"/>
        <c:auto val="1"/>
        <c:lblAlgn val="ctr"/>
        <c:lblOffset val="100"/>
        <c:noMultiLvlLbl val="0"/>
      </c:catAx>
      <c:valAx>
        <c:axId val="640143823"/>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40142863"/>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 task 3.csv]Sheet2!PivotTable30</c:name>
    <c:fmtId val="8"/>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Sum of </a:t>
            </a:r>
            <a:r>
              <a:rPr lang="en-IN" dirty="0" err="1"/>
              <a:t>TotalSpent</a:t>
            </a:r>
            <a:r>
              <a:rPr lang="en-IN" dirty="0"/>
              <a:t> by Branch</a:t>
            </a:r>
          </a:p>
        </c:rich>
      </c:tx>
      <c:layout>
        <c:manualLayout>
          <c:xMode val="edge"/>
          <c:yMode val="edge"/>
          <c:x val="0.20734453391066229"/>
          <c:y val="0"/>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3391850373148599E-2"/>
          <c:y val="0.20615756363787863"/>
          <c:w val="0.85268241469816275"/>
          <c:h val="0.70959135316418775"/>
        </c:manualLayout>
      </c:layout>
      <c:barChart>
        <c:barDir val="col"/>
        <c:grouping val="clustered"/>
        <c:varyColors val="0"/>
        <c:ser>
          <c:idx val="0"/>
          <c:order val="0"/>
          <c:tx>
            <c:strRef>
              <c:f>Sheet2!$B$3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Sheet2!$A$4:$A$6</c:f>
              <c:strCache>
                <c:ptCount val="3"/>
                <c:pt idx="0">
                  <c:v>A</c:v>
                </c:pt>
                <c:pt idx="1">
                  <c:v>B</c:v>
                </c:pt>
                <c:pt idx="2">
                  <c:v>C</c:v>
                </c:pt>
              </c:strCache>
            </c:strRef>
          </c:cat>
          <c:val>
            <c:numRef>
              <c:f>Sheet2!$B$4:$B$6</c:f>
              <c:numCache>
                <c:formatCode>General</c:formatCode>
                <c:ptCount val="3"/>
                <c:pt idx="0">
                  <c:v>106200.35999999994</c:v>
                </c:pt>
                <c:pt idx="1">
                  <c:v>106197.71999999999</c:v>
                </c:pt>
                <c:pt idx="2">
                  <c:v>110568.74999999999</c:v>
                </c:pt>
              </c:numCache>
            </c:numRef>
          </c:val>
          <c:extLst>
            <c:ext xmlns:c16="http://schemas.microsoft.com/office/drawing/2014/chart" uri="{C3380CC4-5D6E-409C-BE32-E72D297353CC}">
              <c16:uniqueId val="{00000000-0648-4D07-B364-991BDA012614}"/>
            </c:ext>
          </c:extLst>
        </c:ser>
        <c:dLbls>
          <c:showLegendKey val="0"/>
          <c:showVal val="0"/>
          <c:showCatName val="0"/>
          <c:showSerName val="0"/>
          <c:showPercent val="0"/>
          <c:showBubbleSize val="0"/>
        </c:dLbls>
        <c:gapWidth val="100"/>
        <c:overlap val="-24"/>
        <c:axId val="640164943"/>
        <c:axId val="640165903"/>
      </c:barChart>
      <c:catAx>
        <c:axId val="64016494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40165903"/>
        <c:crosses val="autoZero"/>
        <c:auto val="1"/>
        <c:lblAlgn val="ctr"/>
        <c:lblOffset val="100"/>
        <c:noMultiLvlLbl val="0"/>
      </c:catAx>
      <c:valAx>
        <c:axId val="640165903"/>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40164943"/>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[walmart task 3.csv]Sheet3!PivotTable45</c:name>
    <c:fmtId val="6"/>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Sum of TotalSpent by Gender and Customer type</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3">
                    <a:shade val="76000"/>
                    <a:satMod val="103000"/>
                    <a:lumMod val="102000"/>
                    <a:tint val="94000"/>
                  </a:schemeClr>
                </a:gs>
                <a:gs pos="50000">
                  <a:schemeClr val="accent3">
                    <a:shade val="76000"/>
                    <a:satMod val="110000"/>
                    <a:lumMod val="100000"/>
                    <a:shade val="100000"/>
                  </a:schemeClr>
                </a:gs>
                <a:gs pos="100000">
                  <a:schemeClr val="accent3">
                    <a:shade val="76000"/>
                    <a:lumMod val="99000"/>
                    <a:satMod val="120000"/>
                    <a:shade val="78000"/>
                  </a:schemeClr>
                </a:gs>
              </a:gsLst>
              <a:lin ang="5400000" scaled="0"/>
            </a:gradFill>
            <a:ln w="9525">
              <a:solidFill>
                <a:schemeClr val="accent3">
                  <a:shade val="76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3">
                    <a:tint val="77000"/>
                    <a:satMod val="103000"/>
                    <a:lumMod val="102000"/>
                    <a:tint val="94000"/>
                  </a:schemeClr>
                </a:gs>
                <a:gs pos="50000">
                  <a:schemeClr val="accent3">
                    <a:tint val="77000"/>
                    <a:satMod val="110000"/>
                    <a:lumMod val="100000"/>
                    <a:shade val="100000"/>
                  </a:schemeClr>
                </a:gs>
                <a:gs pos="100000">
                  <a:schemeClr val="accent3">
                    <a:tint val="77000"/>
                    <a:lumMod val="99000"/>
                    <a:satMod val="120000"/>
                    <a:shade val="78000"/>
                  </a:schemeClr>
                </a:gs>
              </a:gsLst>
              <a:lin ang="5400000" scaled="0"/>
            </a:gradFill>
            <a:ln w="9525">
              <a:solidFill>
                <a:schemeClr val="accent3">
                  <a:tint val="77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Sheet3!$B$3:$B$4</c:f>
              <c:strCache>
                <c:ptCount val="1"/>
                <c:pt idx="0">
                  <c:v>Member</c:v>
                </c:pt>
              </c:strCache>
            </c:strRef>
          </c:tx>
          <c:spPr>
            <a:gradFill rotWithShape="1">
              <a:gsLst>
                <a:gs pos="0">
                  <a:schemeClr val="accent3">
                    <a:shade val="76000"/>
                    <a:satMod val="103000"/>
                    <a:lumMod val="102000"/>
                    <a:tint val="94000"/>
                  </a:schemeClr>
                </a:gs>
                <a:gs pos="50000">
                  <a:schemeClr val="accent3">
                    <a:shade val="76000"/>
                    <a:satMod val="110000"/>
                    <a:lumMod val="100000"/>
                    <a:shade val="100000"/>
                  </a:schemeClr>
                </a:gs>
                <a:gs pos="100000">
                  <a:schemeClr val="accent3">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Sheet3!$A$5:$A$6</c:f>
              <c:strCache>
                <c:ptCount val="2"/>
                <c:pt idx="0">
                  <c:v>Female</c:v>
                </c:pt>
                <c:pt idx="1">
                  <c:v>Male</c:v>
                </c:pt>
              </c:strCache>
            </c:strRef>
          </c:cat>
          <c:val>
            <c:numRef>
              <c:f>Sheet3!$B$5:$B$6</c:f>
              <c:numCache>
                <c:formatCode>General</c:formatCode>
                <c:ptCount val="2"/>
                <c:pt idx="0">
                  <c:v>88146.930000000008</c:v>
                </c:pt>
                <c:pt idx="1">
                  <c:v>76076.540000000008</c:v>
                </c:pt>
              </c:numCache>
            </c:numRef>
          </c:val>
          <c:extLst>
            <c:ext xmlns:c16="http://schemas.microsoft.com/office/drawing/2014/chart" uri="{C3380CC4-5D6E-409C-BE32-E72D297353CC}">
              <c16:uniqueId val="{00000000-ACAA-4D4A-B46F-7CF1987AD82E}"/>
            </c:ext>
          </c:extLst>
        </c:ser>
        <c:ser>
          <c:idx val="1"/>
          <c:order val="1"/>
          <c:tx>
            <c:strRef>
              <c:f>Sheet3!$C$3:$C$4</c:f>
              <c:strCache>
                <c:ptCount val="1"/>
                <c:pt idx="0">
                  <c:v>Normal</c:v>
                </c:pt>
              </c:strCache>
            </c:strRef>
          </c:tx>
          <c:spPr>
            <a:gradFill rotWithShape="1">
              <a:gsLst>
                <a:gs pos="0">
                  <a:schemeClr val="accent3">
                    <a:tint val="77000"/>
                    <a:satMod val="103000"/>
                    <a:lumMod val="102000"/>
                    <a:tint val="94000"/>
                  </a:schemeClr>
                </a:gs>
                <a:gs pos="50000">
                  <a:schemeClr val="accent3">
                    <a:tint val="77000"/>
                    <a:satMod val="110000"/>
                    <a:lumMod val="100000"/>
                    <a:shade val="100000"/>
                  </a:schemeClr>
                </a:gs>
                <a:gs pos="100000">
                  <a:schemeClr val="accent3">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Sheet3!$A$5:$A$6</c:f>
              <c:strCache>
                <c:ptCount val="2"/>
                <c:pt idx="0">
                  <c:v>Female</c:v>
                </c:pt>
                <c:pt idx="1">
                  <c:v>Male</c:v>
                </c:pt>
              </c:strCache>
            </c:strRef>
          </c:cat>
          <c:val>
            <c:numRef>
              <c:f>Sheet3!$C$5:$C$6</c:f>
              <c:numCache>
                <c:formatCode>General</c:formatCode>
                <c:ptCount val="2"/>
                <c:pt idx="0">
                  <c:v>79735.99000000002</c:v>
                </c:pt>
                <c:pt idx="1">
                  <c:v>79007.370000000024</c:v>
                </c:pt>
              </c:numCache>
            </c:numRef>
          </c:val>
          <c:extLst>
            <c:ext xmlns:c16="http://schemas.microsoft.com/office/drawing/2014/chart" uri="{C3380CC4-5D6E-409C-BE32-E72D297353CC}">
              <c16:uniqueId val="{00000001-ACAA-4D4A-B46F-7CF1987AD82E}"/>
            </c:ext>
          </c:extLst>
        </c:ser>
        <c:dLbls>
          <c:showLegendKey val="0"/>
          <c:showVal val="0"/>
          <c:showCatName val="0"/>
          <c:showSerName val="0"/>
          <c:showPercent val="0"/>
          <c:showBubbleSize val="0"/>
        </c:dLbls>
        <c:gapWidth val="100"/>
        <c:overlap val="-24"/>
        <c:axId val="640116463"/>
        <c:axId val="640108303"/>
      </c:barChart>
      <c:catAx>
        <c:axId val="64011646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40108303"/>
        <c:crosses val="autoZero"/>
        <c:auto val="1"/>
        <c:lblAlgn val="ctr"/>
        <c:lblOffset val="100"/>
        <c:noMultiLvlLbl val="0"/>
      </c:catAx>
      <c:valAx>
        <c:axId val="640108303"/>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401164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 task 4.csv]Sheet1!PivotTable64</c:name>
    <c:fmtId val="5"/>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cs typeface="+mn-cs"/>
              </a:defRPr>
            </a:pPr>
            <a:r>
              <a:rPr lang="en-US" sz="1600" b="1" i="0" u="none" strike="noStrike" baseline="0" dirty="0">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a:t>Detecting Anomalies in Sales Transactions</a:t>
            </a:r>
            <a:endParaRPr lang="en-IN" dirty="0">
              <a:latin typeface="Cambria Math" panose="02040503050406030204" pitchFamily="18" charset="0"/>
              <a:ea typeface="Cambria Math" panose="02040503050406030204" pitchFamily="18" charset="0"/>
            </a:endParaRP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cs typeface="+mn-cs"/>
            </a:defRPr>
          </a:pPr>
          <a:endParaRPr lang="en-IN"/>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diamond"/>
          <c:size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square"/>
          <c:size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triangle"/>
          <c:size val="5"/>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Sheet1!$C$3</c:f>
              <c:strCache>
                <c:ptCount val="1"/>
                <c:pt idx="0">
                  <c:v>Sum of 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Sheet1!$A$4:$B$9</c:f>
              <c:multiLvlStrCache>
                <c:ptCount val="6"/>
                <c:lvl>
                  <c:pt idx="0">
                    <c:v>High Anomaly</c:v>
                  </c:pt>
                  <c:pt idx="1">
                    <c:v>High Anomaly</c:v>
                  </c:pt>
                  <c:pt idx="2">
                    <c:v>High Anomaly</c:v>
                  </c:pt>
                  <c:pt idx="3">
                    <c:v>High Anomaly</c:v>
                  </c:pt>
                  <c:pt idx="4">
                    <c:v>High Anomaly</c:v>
                  </c:pt>
                  <c:pt idx="5">
                    <c:v>High Anomaly</c:v>
                  </c:pt>
                </c:lvl>
                <c:lvl>
                  <c:pt idx="0">
                    <c:v>Electronic accessories</c:v>
                  </c:pt>
                  <c:pt idx="1">
                    <c:v>Fashion accessories</c:v>
                  </c:pt>
                  <c:pt idx="2">
                    <c:v>Food and beverages</c:v>
                  </c:pt>
                  <c:pt idx="3">
                    <c:v>Health and beauty</c:v>
                  </c:pt>
                  <c:pt idx="4">
                    <c:v>Home and lifestyle</c:v>
                  </c:pt>
                  <c:pt idx="5">
                    <c:v>Sports and travel</c:v>
                  </c:pt>
                </c:lvl>
              </c:multiLvlStrCache>
            </c:multiLvlStrRef>
          </c:cat>
          <c:val>
            <c:numRef>
              <c:f>Sheet1!$C$4:$C$9</c:f>
              <c:numCache>
                <c:formatCode>General</c:formatCode>
                <c:ptCount val="6"/>
                <c:pt idx="0">
                  <c:v>7753.3364999999994</c:v>
                </c:pt>
                <c:pt idx="1">
                  <c:v>8230.9079999999994</c:v>
                </c:pt>
                <c:pt idx="2">
                  <c:v>10796.425499999999</c:v>
                </c:pt>
                <c:pt idx="3">
                  <c:v>6240.5280000000002</c:v>
                </c:pt>
                <c:pt idx="4">
                  <c:v>5911.9620000000004</c:v>
                </c:pt>
                <c:pt idx="5">
                  <c:v>7385.1959999999999</c:v>
                </c:pt>
              </c:numCache>
            </c:numRef>
          </c:val>
          <c:extLst>
            <c:ext xmlns:c16="http://schemas.microsoft.com/office/drawing/2014/chart" uri="{C3380CC4-5D6E-409C-BE32-E72D297353CC}">
              <c16:uniqueId val="{00000000-5064-40A2-BC86-4C95E808976B}"/>
            </c:ext>
          </c:extLst>
        </c:ser>
        <c:ser>
          <c:idx val="1"/>
          <c:order val="1"/>
          <c:tx>
            <c:strRef>
              <c:f>Sheet1!$D$3</c:f>
              <c:strCache>
                <c:ptCount val="1"/>
                <c:pt idx="0">
                  <c:v>Sum of avg_total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Sheet1!$A$4:$B$9</c:f>
              <c:multiLvlStrCache>
                <c:ptCount val="6"/>
                <c:lvl>
                  <c:pt idx="0">
                    <c:v>High Anomaly</c:v>
                  </c:pt>
                  <c:pt idx="1">
                    <c:v>High Anomaly</c:v>
                  </c:pt>
                  <c:pt idx="2">
                    <c:v>High Anomaly</c:v>
                  </c:pt>
                  <c:pt idx="3">
                    <c:v>High Anomaly</c:v>
                  </c:pt>
                  <c:pt idx="4">
                    <c:v>High Anomaly</c:v>
                  </c:pt>
                  <c:pt idx="5">
                    <c:v>High Anomaly</c:v>
                  </c:pt>
                </c:lvl>
                <c:lvl>
                  <c:pt idx="0">
                    <c:v>Electronic accessories</c:v>
                  </c:pt>
                  <c:pt idx="1">
                    <c:v>Fashion accessories</c:v>
                  </c:pt>
                  <c:pt idx="2">
                    <c:v>Food and beverages</c:v>
                  </c:pt>
                  <c:pt idx="3">
                    <c:v>Health and beauty</c:v>
                  </c:pt>
                  <c:pt idx="4">
                    <c:v>Home and lifestyle</c:v>
                  </c:pt>
                  <c:pt idx="5">
                    <c:v>Sports and travel</c:v>
                  </c:pt>
                </c:lvl>
              </c:multiLvlStrCache>
            </c:multiLvlStrRef>
          </c:cat>
          <c:val>
            <c:numRef>
              <c:f>Sheet1!$D$4:$D$9</c:f>
              <c:numCache>
                <c:formatCode>General</c:formatCode>
                <c:ptCount val="6"/>
                <c:pt idx="0">
                  <c:v>2876.6700000000005</c:v>
                </c:pt>
                <c:pt idx="1">
                  <c:v>2745.81</c:v>
                </c:pt>
                <c:pt idx="2">
                  <c:v>3872.0400000000004</c:v>
                </c:pt>
                <c:pt idx="3">
                  <c:v>2265.4799999999996</c:v>
                </c:pt>
                <c:pt idx="4">
                  <c:v>2019.8399999999997</c:v>
                </c:pt>
                <c:pt idx="5">
                  <c:v>2656.56</c:v>
                </c:pt>
              </c:numCache>
            </c:numRef>
          </c:val>
          <c:extLst>
            <c:ext xmlns:c16="http://schemas.microsoft.com/office/drawing/2014/chart" uri="{C3380CC4-5D6E-409C-BE32-E72D297353CC}">
              <c16:uniqueId val="{00000001-5064-40A2-BC86-4C95E808976B}"/>
            </c:ext>
          </c:extLst>
        </c:ser>
        <c:ser>
          <c:idx val="2"/>
          <c:order val="2"/>
          <c:tx>
            <c:strRef>
              <c:f>Sheet1!$E$3</c:f>
              <c:strCache>
                <c:ptCount val="1"/>
                <c:pt idx="0">
                  <c:v>Sum of std_total</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Sheet1!$A$4:$B$9</c:f>
              <c:multiLvlStrCache>
                <c:ptCount val="6"/>
                <c:lvl>
                  <c:pt idx="0">
                    <c:v>High Anomaly</c:v>
                  </c:pt>
                  <c:pt idx="1">
                    <c:v>High Anomaly</c:v>
                  </c:pt>
                  <c:pt idx="2">
                    <c:v>High Anomaly</c:v>
                  </c:pt>
                  <c:pt idx="3">
                    <c:v>High Anomaly</c:v>
                  </c:pt>
                  <c:pt idx="4">
                    <c:v>High Anomaly</c:v>
                  </c:pt>
                  <c:pt idx="5">
                    <c:v>High Anomaly</c:v>
                  </c:pt>
                </c:lvl>
                <c:lvl>
                  <c:pt idx="0">
                    <c:v>Electronic accessories</c:v>
                  </c:pt>
                  <c:pt idx="1">
                    <c:v>Fashion accessories</c:v>
                  </c:pt>
                  <c:pt idx="2">
                    <c:v>Food and beverages</c:v>
                  </c:pt>
                  <c:pt idx="3">
                    <c:v>Health and beauty</c:v>
                  </c:pt>
                  <c:pt idx="4">
                    <c:v>Home and lifestyle</c:v>
                  </c:pt>
                  <c:pt idx="5">
                    <c:v>Sports and travel</c:v>
                  </c:pt>
                </c:lvl>
              </c:multiLvlStrCache>
            </c:multiLvlStrRef>
          </c:cat>
          <c:val>
            <c:numRef>
              <c:f>Sheet1!$E$4:$E$9</c:f>
              <c:numCache>
                <c:formatCode>General</c:formatCode>
                <c:ptCount val="6"/>
                <c:pt idx="0">
                  <c:v>2206.98</c:v>
                </c:pt>
                <c:pt idx="1">
                  <c:v>2185.9200000000005</c:v>
                </c:pt>
                <c:pt idx="2">
                  <c:v>2957.3999999999996</c:v>
                </c:pt>
                <c:pt idx="3">
                  <c:v>1657.32</c:v>
                </c:pt>
                <c:pt idx="4">
                  <c:v>1522.8</c:v>
                </c:pt>
                <c:pt idx="5">
                  <c:v>1981.0400000000004</c:v>
                </c:pt>
              </c:numCache>
            </c:numRef>
          </c:val>
          <c:extLst>
            <c:ext xmlns:c16="http://schemas.microsoft.com/office/drawing/2014/chart" uri="{C3380CC4-5D6E-409C-BE32-E72D297353CC}">
              <c16:uniqueId val="{00000002-5064-40A2-BC86-4C95E808976B}"/>
            </c:ext>
          </c:extLst>
        </c:ser>
        <c:dLbls>
          <c:dLblPos val="outEnd"/>
          <c:showLegendKey val="0"/>
          <c:showVal val="1"/>
          <c:showCatName val="0"/>
          <c:showSerName val="0"/>
          <c:showPercent val="0"/>
          <c:showBubbleSize val="0"/>
        </c:dLbls>
        <c:gapWidth val="115"/>
        <c:overlap val="-20"/>
        <c:axId val="1424503231"/>
        <c:axId val="1424494111"/>
      </c:barChart>
      <c:catAx>
        <c:axId val="1424503231"/>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24494111"/>
        <c:crosses val="autoZero"/>
        <c:auto val="1"/>
        <c:lblAlgn val="ctr"/>
        <c:lblOffset val="100"/>
        <c:noMultiLvlLbl val="0"/>
      </c:catAx>
      <c:valAx>
        <c:axId val="1424494111"/>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24503231"/>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sz="1600" b="1" i="0" u="none" strike="noStrike" baseline="0">
                <a:effectLst>
                  <a:outerShdw blurRad="50800" dist="38100" dir="5400000" algn="t" rotWithShape="0">
                    <a:prstClr val="black">
                      <a:alpha val="40000"/>
                    </a:prstClr>
                  </a:outerShdw>
                </a:effectLst>
              </a:rPr>
              <a:t>Most Popular Payment Method by City </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'walmart task 5'!$D$1</c:f>
              <c:strCache>
                <c:ptCount val="1"/>
                <c:pt idx="0">
                  <c:v>payment_count</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'walmart task 5'!$A$2:$C$10</c:f>
              <c:multiLvlStrCache>
                <c:ptCount val="9"/>
                <c:lvl>
                  <c:pt idx="0">
                    <c:v>Ewallet</c:v>
                  </c:pt>
                  <c:pt idx="1">
                    <c:v>Cash</c:v>
                  </c:pt>
                  <c:pt idx="2">
                    <c:v>Credit card</c:v>
                  </c:pt>
                  <c:pt idx="3">
                    <c:v>Ewallet</c:v>
                  </c:pt>
                  <c:pt idx="4">
                    <c:v>Cash</c:v>
                  </c:pt>
                  <c:pt idx="5">
                    <c:v>Credit card</c:v>
                  </c:pt>
                  <c:pt idx="6">
                    <c:v>Cash</c:v>
                  </c:pt>
                  <c:pt idx="7">
                    <c:v>Ewallet</c:v>
                  </c:pt>
                  <c:pt idx="8">
                    <c:v>Credit card</c:v>
                  </c:pt>
                </c:lvl>
                <c:lvl>
                  <c:pt idx="0">
                    <c:v>Yangon</c:v>
                  </c:pt>
                  <c:pt idx="1">
                    <c:v>Yangon</c:v>
                  </c:pt>
                  <c:pt idx="2">
                    <c:v>Yangon</c:v>
                  </c:pt>
                  <c:pt idx="3">
                    <c:v>Mandalay</c:v>
                  </c:pt>
                  <c:pt idx="4">
                    <c:v>Mandalay</c:v>
                  </c:pt>
                  <c:pt idx="5">
                    <c:v>Mandalay</c:v>
                  </c:pt>
                  <c:pt idx="6">
                    <c:v>Naypyitaw</c:v>
                  </c:pt>
                  <c:pt idx="7">
                    <c:v>Naypyitaw</c:v>
                  </c:pt>
                  <c:pt idx="8">
                    <c:v>Naypyitaw</c:v>
                  </c:pt>
                </c:lvl>
                <c:lvl>
                  <c:pt idx="0">
                    <c:v>A</c:v>
                  </c:pt>
                  <c:pt idx="1">
                    <c:v>A</c:v>
                  </c:pt>
                  <c:pt idx="2">
                    <c:v>A</c:v>
                  </c:pt>
                  <c:pt idx="3">
                    <c:v>B</c:v>
                  </c:pt>
                  <c:pt idx="4">
                    <c:v>B</c:v>
                  </c:pt>
                  <c:pt idx="5">
                    <c:v>B</c:v>
                  </c:pt>
                  <c:pt idx="6">
                    <c:v>C</c:v>
                  </c:pt>
                  <c:pt idx="7">
                    <c:v>C</c:v>
                  </c:pt>
                  <c:pt idx="8">
                    <c:v>C</c:v>
                  </c:pt>
                </c:lvl>
              </c:multiLvlStrCache>
            </c:multiLvlStrRef>
          </c:cat>
          <c:val>
            <c:numRef>
              <c:f>'walmart task 5'!$D$2:$D$10</c:f>
              <c:numCache>
                <c:formatCode>General</c:formatCode>
                <c:ptCount val="9"/>
                <c:pt idx="0">
                  <c:v>126</c:v>
                </c:pt>
                <c:pt idx="1">
                  <c:v>110</c:v>
                </c:pt>
                <c:pt idx="2">
                  <c:v>104</c:v>
                </c:pt>
                <c:pt idx="3">
                  <c:v>113</c:v>
                </c:pt>
                <c:pt idx="4">
                  <c:v>110</c:v>
                </c:pt>
                <c:pt idx="5">
                  <c:v>109</c:v>
                </c:pt>
                <c:pt idx="6">
                  <c:v>124</c:v>
                </c:pt>
                <c:pt idx="7">
                  <c:v>106</c:v>
                </c:pt>
                <c:pt idx="8">
                  <c:v>98</c:v>
                </c:pt>
              </c:numCache>
            </c:numRef>
          </c:val>
          <c:extLst>
            <c:ext xmlns:c16="http://schemas.microsoft.com/office/drawing/2014/chart" uri="{C3380CC4-5D6E-409C-BE32-E72D297353CC}">
              <c16:uniqueId val="{00000000-B5F8-4A89-A4B7-52555BED6731}"/>
            </c:ext>
          </c:extLst>
        </c:ser>
        <c:dLbls>
          <c:showLegendKey val="0"/>
          <c:showVal val="0"/>
          <c:showCatName val="0"/>
          <c:showSerName val="0"/>
          <c:showPercent val="0"/>
          <c:showBubbleSize val="0"/>
        </c:dLbls>
        <c:gapWidth val="100"/>
        <c:overlap val="-24"/>
        <c:axId val="1361194895"/>
        <c:axId val="1361184815"/>
      </c:barChart>
      <c:catAx>
        <c:axId val="136119489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361184815"/>
        <c:crosses val="autoZero"/>
        <c:auto val="1"/>
        <c:lblAlgn val="ctr"/>
        <c:lblOffset val="100"/>
        <c:noMultiLvlLbl val="0"/>
      </c:catAx>
      <c:valAx>
        <c:axId val="1361184815"/>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3611948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 task 6.csv]Sheet1!PivotTable13</c:name>
    <c:fmtId val="5"/>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Monthly Sales Distribution by Gender </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2600406829695088"/>
          <c:y val="0.18300925925925926"/>
          <c:w val="0.85189066732370033"/>
          <c:h val="0.66327974628171482"/>
        </c:manualLayout>
      </c:layout>
      <c:barChart>
        <c:barDir val="col"/>
        <c:grouping val="clustered"/>
        <c:varyColors val="0"/>
        <c:ser>
          <c:idx val="0"/>
          <c:order val="0"/>
          <c:tx>
            <c:strRef>
              <c:f>Sheet1!$B$3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Sheet1!$A$4:$A$5</c:f>
              <c:strCache>
                <c:ptCount val="2"/>
                <c:pt idx="0">
                  <c:v>Female</c:v>
                </c:pt>
                <c:pt idx="1">
                  <c:v>Male</c:v>
                </c:pt>
              </c:strCache>
            </c:strRef>
          </c:cat>
          <c:val>
            <c:numRef>
              <c:f>Sheet1!$B$4:$B$5</c:f>
              <c:numCache>
                <c:formatCode>General</c:formatCode>
                <c:ptCount val="2"/>
                <c:pt idx="0">
                  <c:v>167882.93999999997</c:v>
                </c:pt>
                <c:pt idx="1">
                  <c:v>155083.79999999996</c:v>
                </c:pt>
              </c:numCache>
            </c:numRef>
          </c:val>
          <c:extLst>
            <c:ext xmlns:c16="http://schemas.microsoft.com/office/drawing/2014/chart" uri="{C3380CC4-5D6E-409C-BE32-E72D297353CC}">
              <c16:uniqueId val="{00000000-6559-436B-953B-9F076CB187BC}"/>
            </c:ext>
          </c:extLst>
        </c:ser>
        <c:dLbls>
          <c:showLegendKey val="0"/>
          <c:showVal val="0"/>
          <c:showCatName val="0"/>
          <c:showSerName val="0"/>
          <c:showPercent val="0"/>
          <c:showBubbleSize val="0"/>
        </c:dLbls>
        <c:gapWidth val="100"/>
        <c:overlap val="-24"/>
        <c:axId val="1424525311"/>
        <c:axId val="1424528671"/>
      </c:barChart>
      <c:catAx>
        <c:axId val="1424525311"/>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24528671"/>
        <c:crosses val="autoZero"/>
        <c:auto val="1"/>
        <c:lblAlgn val="ctr"/>
        <c:lblOffset val="100"/>
        <c:noMultiLvlLbl val="0"/>
      </c:catAx>
      <c:valAx>
        <c:axId val="1424528671"/>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24525311"/>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9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 task 7.csv]Sheet1!PivotTable84</c:name>
    <c:fmtId val="1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latin typeface="Cambria Math" panose="02040503050406030204" pitchFamily="18" charset="0"/>
                <a:ea typeface="Cambria Math" panose="02040503050406030204" pitchFamily="18" charset="0"/>
              </a:rPr>
              <a:t>Best</a:t>
            </a:r>
            <a:r>
              <a:rPr lang="en-IN" baseline="0" dirty="0">
                <a:latin typeface="Cambria Math" panose="02040503050406030204" pitchFamily="18" charset="0"/>
                <a:ea typeface="Cambria Math" panose="02040503050406030204" pitchFamily="18" charset="0"/>
              </a:rPr>
              <a:t> Product Line By Customer Type</a:t>
            </a:r>
            <a:endParaRPr lang="en-IN" dirty="0">
              <a:latin typeface="Cambria Math" panose="02040503050406030204" pitchFamily="18" charset="0"/>
              <a:ea typeface="Cambria Math" panose="02040503050406030204" pitchFamily="18" charset="0"/>
            </a:endParaRP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diamond"/>
          <c:size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Sheet1!$A$4:$A$9</c:f>
              <c:strCache>
                <c:ptCount val="6"/>
                <c:pt idx="0">
                  <c:v>Electronic accessories</c:v>
                </c:pt>
                <c:pt idx="1">
                  <c:v>Fashion accessories</c:v>
                </c:pt>
                <c:pt idx="2">
                  <c:v>Food and beverages</c:v>
                </c:pt>
                <c:pt idx="3">
                  <c:v>Health and beauty</c:v>
                </c:pt>
                <c:pt idx="4">
                  <c:v>Home and lifestyle</c:v>
                </c:pt>
                <c:pt idx="5">
                  <c:v>Sports and travel</c:v>
                </c:pt>
              </c:strCache>
            </c:strRef>
          </c:cat>
          <c:val>
            <c:numRef>
              <c:f>Sheet1!$B$4:$B$9</c:f>
              <c:numCache>
                <c:formatCode>General</c:formatCode>
                <c:ptCount val="6"/>
                <c:pt idx="0">
                  <c:v>2</c:v>
                </c:pt>
                <c:pt idx="1">
                  <c:v>2</c:v>
                </c:pt>
                <c:pt idx="2">
                  <c:v>2</c:v>
                </c:pt>
                <c:pt idx="3">
                  <c:v>2</c:v>
                </c:pt>
                <c:pt idx="4">
                  <c:v>2</c:v>
                </c:pt>
                <c:pt idx="5">
                  <c:v>2</c:v>
                </c:pt>
              </c:numCache>
            </c:numRef>
          </c:val>
          <c:extLst>
            <c:ext xmlns:c16="http://schemas.microsoft.com/office/drawing/2014/chart" uri="{C3380CC4-5D6E-409C-BE32-E72D297353CC}">
              <c16:uniqueId val="{00000007-AF04-4B07-A6D1-9F5FDE505382}"/>
            </c:ext>
          </c:extLst>
        </c:ser>
        <c:dLbls>
          <c:showLegendKey val="0"/>
          <c:showVal val="0"/>
          <c:showCatName val="0"/>
          <c:showSerName val="0"/>
          <c:showPercent val="0"/>
          <c:showBubbleSize val="0"/>
        </c:dLbls>
        <c:gapWidth val="115"/>
        <c:overlap val="-20"/>
        <c:axId val="1424530591"/>
        <c:axId val="1424524831"/>
      </c:barChart>
      <c:catAx>
        <c:axId val="1424530591"/>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24524831"/>
        <c:crosses val="autoZero"/>
        <c:auto val="1"/>
        <c:lblAlgn val="ctr"/>
        <c:lblOffset val="100"/>
        <c:noMultiLvlLbl val="0"/>
      </c:catAx>
      <c:valAx>
        <c:axId val="1424524831"/>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24530591"/>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Top 5 Customers by Sales Volume </a:t>
            </a:r>
            <a:endParaRPr lang="en-IN"/>
          </a:p>
        </c:rich>
      </c:tx>
      <c:layout>
        <c:manualLayout>
          <c:xMode val="edge"/>
          <c:yMode val="edge"/>
          <c:x val="0.16100783854720863"/>
          <c:y val="2.4696049001628191E-3"/>
        </c:manualLayout>
      </c:layout>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'walmart task 9'!$A$1</c:f>
              <c:strCache>
                <c:ptCount val="1"/>
                <c:pt idx="0">
                  <c:v>Customer ID</c:v>
                </c:pt>
              </c:strCache>
            </c:strRef>
          </c:tx>
          <c:spPr>
            <a:gradFill rotWithShape="1">
              <a:gsLst>
                <a:gs pos="0">
                  <a:schemeClr val="accent2">
                    <a:shade val="76000"/>
                    <a:satMod val="103000"/>
                    <a:lumMod val="102000"/>
                    <a:tint val="94000"/>
                  </a:schemeClr>
                </a:gs>
                <a:gs pos="50000">
                  <a:schemeClr val="accent2">
                    <a:shade val="76000"/>
                    <a:satMod val="110000"/>
                    <a:lumMod val="100000"/>
                    <a:shade val="100000"/>
                  </a:schemeClr>
                </a:gs>
                <a:gs pos="100000">
                  <a:schemeClr val="accent2">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val>
            <c:numRef>
              <c:f>'walmart task 9'!$A$2:$A$6</c:f>
              <c:numCache>
                <c:formatCode>General</c:formatCode>
                <c:ptCount val="5"/>
                <c:pt idx="0">
                  <c:v>8</c:v>
                </c:pt>
                <c:pt idx="1">
                  <c:v>3</c:v>
                </c:pt>
                <c:pt idx="2">
                  <c:v>2</c:v>
                </c:pt>
                <c:pt idx="3">
                  <c:v>15</c:v>
                </c:pt>
                <c:pt idx="4">
                  <c:v>1</c:v>
                </c:pt>
              </c:numCache>
            </c:numRef>
          </c:val>
          <c:extLst>
            <c:ext xmlns:c16="http://schemas.microsoft.com/office/drawing/2014/chart" uri="{C3380CC4-5D6E-409C-BE32-E72D297353CC}">
              <c16:uniqueId val="{00000000-5424-42D2-BDA4-747F81396FDE}"/>
            </c:ext>
          </c:extLst>
        </c:ser>
        <c:ser>
          <c:idx val="1"/>
          <c:order val="1"/>
          <c:tx>
            <c:strRef>
              <c:f>'walmart task 9'!$B$1</c:f>
              <c:strCache>
                <c:ptCount val="1"/>
                <c:pt idx="0">
                  <c:v>TotalSales</c:v>
                </c:pt>
              </c:strCache>
            </c:strRef>
          </c:tx>
          <c:spPr>
            <a:gradFill rotWithShape="1">
              <a:gsLst>
                <a:gs pos="0">
                  <a:schemeClr val="accent2">
                    <a:tint val="77000"/>
                    <a:satMod val="103000"/>
                    <a:lumMod val="102000"/>
                    <a:tint val="94000"/>
                  </a:schemeClr>
                </a:gs>
                <a:gs pos="50000">
                  <a:schemeClr val="accent2">
                    <a:tint val="77000"/>
                    <a:satMod val="110000"/>
                    <a:lumMod val="100000"/>
                    <a:shade val="100000"/>
                  </a:schemeClr>
                </a:gs>
                <a:gs pos="100000">
                  <a:schemeClr val="accent2">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val>
            <c:numRef>
              <c:f>'walmart task 9'!$B$2:$B$6</c:f>
              <c:numCache>
                <c:formatCode>General</c:formatCode>
                <c:ptCount val="5"/>
                <c:pt idx="0">
                  <c:v>26634.34</c:v>
                </c:pt>
                <c:pt idx="1">
                  <c:v>23402.26</c:v>
                </c:pt>
                <c:pt idx="2">
                  <c:v>23392.28</c:v>
                </c:pt>
                <c:pt idx="3">
                  <c:v>22674.46</c:v>
                </c:pt>
                <c:pt idx="4">
                  <c:v>22634.55</c:v>
                </c:pt>
              </c:numCache>
            </c:numRef>
          </c:val>
          <c:extLst>
            <c:ext xmlns:c16="http://schemas.microsoft.com/office/drawing/2014/chart" uri="{C3380CC4-5D6E-409C-BE32-E72D297353CC}">
              <c16:uniqueId val="{00000001-5424-42D2-BDA4-747F81396FDE}"/>
            </c:ext>
          </c:extLst>
        </c:ser>
        <c:dLbls>
          <c:showLegendKey val="0"/>
          <c:showVal val="1"/>
          <c:showCatName val="0"/>
          <c:showSerName val="0"/>
          <c:showPercent val="0"/>
          <c:showBubbleSize val="0"/>
        </c:dLbls>
        <c:gapWidth val="150"/>
        <c:shape val="box"/>
        <c:axId val="1430402463"/>
        <c:axId val="1430399583"/>
        <c:axId val="0"/>
      </c:bar3DChart>
      <c:catAx>
        <c:axId val="1430402463"/>
        <c:scaling>
          <c:orientation val="minMax"/>
        </c:scaling>
        <c:delete val="0"/>
        <c:axPos val="b"/>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30399583"/>
        <c:crosses val="autoZero"/>
        <c:auto val="1"/>
        <c:lblAlgn val="ctr"/>
        <c:lblOffset val="100"/>
        <c:noMultiLvlLbl val="0"/>
      </c:catAx>
      <c:valAx>
        <c:axId val="1430399583"/>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304024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IN"/>
              <a:t>Sales Trends by Day of the Week</a:t>
            </a:r>
          </a:p>
        </c:rich>
      </c:tx>
      <c:layout>
        <c:manualLayout>
          <c:xMode val="edge"/>
          <c:yMode val="edge"/>
          <c:x val="0.2484051161386244"/>
          <c:y val="0"/>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IN"/>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'walmart task 10'!$A$2</c:f>
              <c:strCache>
                <c:ptCount val="1"/>
                <c:pt idx="0">
                  <c:v>Monday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'walmart task 10'!$B$1</c:f>
              <c:strCache>
                <c:ptCount val="1"/>
                <c:pt idx="0">
                  <c:v>TotalSales</c:v>
                </c:pt>
              </c:strCache>
            </c:strRef>
          </c:cat>
          <c:val>
            <c:numRef>
              <c:f>'walmart task 10'!$B$2</c:f>
              <c:numCache>
                <c:formatCode>General</c:formatCode>
                <c:ptCount val="1"/>
                <c:pt idx="0">
                  <c:v>37899</c:v>
                </c:pt>
              </c:numCache>
            </c:numRef>
          </c:val>
          <c:extLst>
            <c:ext xmlns:c16="http://schemas.microsoft.com/office/drawing/2014/chart" uri="{C3380CC4-5D6E-409C-BE32-E72D297353CC}">
              <c16:uniqueId val="{00000000-5C81-4373-810B-E452DA11067D}"/>
            </c:ext>
          </c:extLst>
        </c:ser>
        <c:ser>
          <c:idx val="1"/>
          <c:order val="1"/>
          <c:tx>
            <c:strRef>
              <c:f>'walmart task 10'!$A$3</c:f>
              <c:strCache>
                <c:ptCount val="1"/>
                <c:pt idx="0">
                  <c:v>Tuesday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'walmart task 10'!$B$1</c:f>
              <c:strCache>
                <c:ptCount val="1"/>
                <c:pt idx="0">
                  <c:v>TotalSales</c:v>
                </c:pt>
              </c:strCache>
            </c:strRef>
          </c:cat>
          <c:val>
            <c:numRef>
              <c:f>'walmart task 10'!$B$3</c:f>
              <c:numCache>
                <c:formatCode>General</c:formatCode>
                <c:ptCount val="1"/>
                <c:pt idx="0">
                  <c:v>51482</c:v>
                </c:pt>
              </c:numCache>
            </c:numRef>
          </c:val>
          <c:extLst>
            <c:ext xmlns:c16="http://schemas.microsoft.com/office/drawing/2014/chart" uri="{C3380CC4-5D6E-409C-BE32-E72D297353CC}">
              <c16:uniqueId val="{00000001-5C81-4373-810B-E452DA11067D}"/>
            </c:ext>
          </c:extLst>
        </c:ser>
        <c:ser>
          <c:idx val="2"/>
          <c:order val="2"/>
          <c:tx>
            <c:strRef>
              <c:f>'walmart task 10'!$A$4</c:f>
              <c:strCache>
                <c:ptCount val="1"/>
                <c:pt idx="0">
                  <c:v>Wednesday</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'walmart task 10'!$B$1</c:f>
              <c:strCache>
                <c:ptCount val="1"/>
                <c:pt idx="0">
                  <c:v>TotalSales</c:v>
                </c:pt>
              </c:strCache>
            </c:strRef>
          </c:cat>
          <c:val>
            <c:numRef>
              <c:f>'walmart task 10'!$B$4</c:f>
              <c:numCache>
                <c:formatCode>General</c:formatCode>
                <c:ptCount val="1"/>
                <c:pt idx="0">
                  <c:v>43731</c:v>
                </c:pt>
              </c:numCache>
            </c:numRef>
          </c:val>
          <c:extLst>
            <c:ext xmlns:c16="http://schemas.microsoft.com/office/drawing/2014/chart" uri="{C3380CC4-5D6E-409C-BE32-E72D297353CC}">
              <c16:uniqueId val="{00000002-5C81-4373-810B-E452DA11067D}"/>
            </c:ext>
          </c:extLst>
        </c:ser>
        <c:ser>
          <c:idx val="3"/>
          <c:order val="3"/>
          <c:tx>
            <c:strRef>
              <c:f>'walmart task 10'!$A$5</c:f>
              <c:strCache>
                <c:ptCount val="1"/>
                <c:pt idx="0">
                  <c:v>Thursday</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'walmart task 10'!$B$1</c:f>
              <c:strCache>
                <c:ptCount val="1"/>
                <c:pt idx="0">
                  <c:v>TotalSales</c:v>
                </c:pt>
              </c:strCache>
            </c:strRef>
          </c:cat>
          <c:val>
            <c:numRef>
              <c:f>'walmart task 10'!$B$5</c:f>
              <c:numCache>
                <c:formatCode>General</c:formatCode>
                <c:ptCount val="1"/>
                <c:pt idx="0">
                  <c:v>45349</c:v>
                </c:pt>
              </c:numCache>
            </c:numRef>
          </c:val>
          <c:extLst>
            <c:ext xmlns:c16="http://schemas.microsoft.com/office/drawing/2014/chart" uri="{C3380CC4-5D6E-409C-BE32-E72D297353CC}">
              <c16:uniqueId val="{00000003-5C81-4373-810B-E452DA11067D}"/>
            </c:ext>
          </c:extLst>
        </c:ser>
        <c:ser>
          <c:idx val="4"/>
          <c:order val="4"/>
          <c:tx>
            <c:strRef>
              <c:f>'walmart task 10'!$A$6</c:f>
              <c:strCache>
                <c:ptCount val="1"/>
                <c:pt idx="0">
                  <c:v>Friday</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'walmart task 10'!$B$1</c:f>
              <c:strCache>
                <c:ptCount val="1"/>
                <c:pt idx="0">
                  <c:v>TotalSales</c:v>
                </c:pt>
              </c:strCache>
            </c:strRef>
          </c:cat>
          <c:val>
            <c:numRef>
              <c:f>'walmart task 10'!$B$6</c:f>
              <c:numCache>
                <c:formatCode>General</c:formatCode>
                <c:ptCount val="1"/>
                <c:pt idx="0">
                  <c:v>43926</c:v>
                </c:pt>
              </c:numCache>
            </c:numRef>
          </c:val>
          <c:extLst>
            <c:ext xmlns:c16="http://schemas.microsoft.com/office/drawing/2014/chart" uri="{C3380CC4-5D6E-409C-BE32-E72D297353CC}">
              <c16:uniqueId val="{00000004-5C81-4373-810B-E452DA11067D}"/>
            </c:ext>
          </c:extLst>
        </c:ser>
        <c:ser>
          <c:idx val="5"/>
          <c:order val="5"/>
          <c:tx>
            <c:strRef>
              <c:f>'walmart task 10'!$A$7</c:f>
              <c:strCache>
                <c:ptCount val="1"/>
                <c:pt idx="0">
                  <c:v>Saturday</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'walmart task 10'!$B$1</c:f>
              <c:strCache>
                <c:ptCount val="1"/>
                <c:pt idx="0">
                  <c:v>TotalSales</c:v>
                </c:pt>
              </c:strCache>
            </c:strRef>
          </c:cat>
          <c:val>
            <c:numRef>
              <c:f>'walmart task 10'!$B$7</c:f>
              <c:numCache>
                <c:formatCode>General</c:formatCode>
                <c:ptCount val="1"/>
                <c:pt idx="0">
                  <c:v>56121</c:v>
                </c:pt>
              </c:numCache>
            </c:numRef>
          </c:val>
          <c:extLst>
            <c:ext xmlns:c16="http://schemas.microsoft.com/office/drawing/2014/chart" uri="{C3380CC4-5D6E-409C-BE32-E72D297353CC}">
              <c16:uniqueId val="{00000005-5C81-4373-810B-E452DA11067D}"/>
            </c:ext>
          </c:extLst>
        </c:ser>
        <c:ser>
          <c:idx val="6"/>
          <c:order val="6"/>
          <c:tx>
            <c:strRef>
              <c:f>'walmart task 10'!$A$8</c:f>
              <c:strCache>
                <c:ptCount val="1"/>
                <c:pt idx="0">
                  <c:v>Sunday</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'walmart task 10'!$B$1</c:f>
              <c:strCache>
                <c:ptCount val="1"/>
                <c:pt idx="0">
                  <c:v>TotalSales</c:v>
                </c:pt>
              </c:strCache>
            </c:strRef>
          </c:cat>
          <c:val>
            <c:numRef>
              <c:f>'walmart task 10'!$B$8</c:f>
              <c:numCache>
                <c:formatCode>General</c:formatCode>
                <c:ptCount val="1"/>
                <c:pt idx="0">
                  <c:v>44458</c:v>
                </c:pt>
              </c:numCache>
            </c:numRef>
          </c:val>
          <c:extLst>
            <c:ext xmlns:c16="http://schemas.microsoft.com/office/drawing/2014/chart" uri="{C3380CC4-5D6E-409C-BE32-E72D297353CC}">
              <c16:uniqueId val="{00000006-5C81-4373-810B-E452DA11067D}"/>
            </c:ext>
          </c:extLst>
        </c:ser>
        <c:dLbls>
          <c:showLegendKey val="0"/>
          <c:showVal val="1"/>
          <c:showCatName val="0"/>
          <c:showSerName val="0"/>
          <c:showPercent val="0"/>
          <c:showBubbleSize val="0"/>
        </c:dLbls>
        <c:gapWidth val="150"/>
        <c:shape val="box"/>
        <c:axId val="1430401503"/>
        <c:axId val="1430401983"/>
        <c:axId val="0"/>
      </c:bar3DChart>
      <c:catAx>
        <c:axId val="1430401503"/>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30401983"/>
        <c:crosses val="autoZero"/>
        <c:auto val="1"/>
        <c:lblAlgn val="ctr"/>
        <c:lblOffset val="100"/>
        <c:noMultiLvlLbl val="0"/>
      </c:catAx>
      <c:valAx>
        <c:axId val="14304019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30401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'walmart task 8'!$A$2:$A$986</cx:f>
        <cx:lvl ptCount="985" formatCode="General">
          <cx:pt idx="0">1</cx:pt>
          <cx:pt idx="1">1</cx:pt>
          <cx:pt idx="2">1</cx:pt>
          <cx:pt idx="3">1</cx:pt>
          <cx:pt idx="4">1</cx:pt>
          <cx:pt idx="5">1</cx:pt>
          <cx:pt idx="6">1</cx:pt>
          <cx:pt idx="7">1</cx:pt>
          <cx:pt idx="8">1</cx:pt>
          <cx:pt idx="9">1</cx:pt>
          <cx:pt idx="10">1</cx:pt>
          <cx:pt idx="11">1</cx:pt>
          <cx:pt idx="12">1</cx:pt>
          <cx:pt idx="13">1</cx:pt>
          <cx:pt idx="14">1</cx:pt>
          <cx:pt idx="15">1</cx:pt>
          <cx:pt idx="16">1</cx:pt>
          <cx:pt idx="17">1</cx:pt>
          <cx:pt idx="18">1</cx:pt>
          <cx:pt idx="19">1</cx:pt>
          <cx:pt idx="20">1</cx:pt>
          <cx:pt idx="21">1</cx:pt>
          <cx:pt idx="22">1</cx:pt>
          <cx:pt idx="23">1</cx:pt>
          <cx:pt idx="24">1</cx:pt>
          <cx:pt idx="25">1</cx:pt>
          <cx:pt idx="26">1</cx:pt>
          <cx:pt idx="27">1</cx:pt>
          <cx:pt idx="28">1</cx:pt>
          <cx:pt idx="29">1</cx:pt>
          <cx:pt idx="30">1</cx:pt>
          <cx:pt idx="31">1</cx:pt>
          <cx:pt idx="32">1</cx:pt>
          <cx:pt idx="33">1</cx:pt>
          <cx:pt idx="34">1</cx:pt>
          <cx:pt idx="35">1</cx:pt>
          <cx:pt idx="36">1</cx:pt>
          <cx:pt idx="37">1</cx:pt>
          <cx:pt idx="38">1</cx:pt>
          <cx:pt idx="39">1</cx:pt>
          <cx:pt idx="40">1</cx:pt>
          <cx:pt idx="41">1</cx:pt>
          <cx:pt idx="42">1</cx:pt>
          <cx:pt idx="43">1</cx:pt>
          <cx:pt idx="44">1</cx:pt>
          <cx:pt idx="45">1</cx:pt>
          <cx:pt idx="46">1</cx:pt>
          <cx:pt idx="47">1</cx:pt>
          <cx:pt idx="48">1</cx:pt>
          <cx:pt idx="49">1</cx:pt>
          <cx:pt idx="50">1</cx:pt>
          <cx:pt idx="51">1</cx:pt>
          <cx:pt idx="52">1</cx:pt>
          <cx:pt idx="53">1</cx:pt>
          <cx:pt idx="54">1</cx:pt>
          <cx:pt idx="55">1</cx:pt>
          <cx:pt idx="56">1</cx:pt>
          <cx:pt idx="57">1</cx:pt>
          <cx:pt idx="58">1</cx:pt>
          <cx:pt idx="59">1</cx:pt>
          <cx:pt idx="60">1</cx:pt>
          <cx:pt idx="61">1</cx:pt>
          <cx:pt idx="62">1</cx:pt>
          <cx:pt idx="63">1</cx:pt>
          <cx:pt idx="64">1</cx:pt>
          <cx:pt idx="65">1</cx:pt>
          <cx:pt idx="66">2</cx:pt>
          <cx:pt idx="67">2</cx:pt>
          <cx:pt idx="68">2</cx:pt>
          <cx:pt idx="69">2</cx:pt>
          <cx:pt idx="70">2</cx:pt>
          <cx:pt idx="71">2</cx:pt>
          <cx:pt idx="72">2</cx:pt>
          <cx:pt idx="73">2</cx:pt>
          <cx:pt idx="74">2</cx:pt>
          <cx:pt idx="75">2</cx:pt>
          <cx:pt idx="76">2</cx:pt>
          <cx:pt idx="77">2</cx:pt>
          <cx:pt idx="78">2</cx:pt>
          <cx:pt idx="79">2</cx:pt>
          <cx:pt idx="80">2</cx:pt>
          <cx:pt idx="81">2</cx:pt>
          <cx:pt idx="82">2</cx:pt>
          <cx:pt idx="83">2</cx:pt>
          <cx:pt idx="84">2</cx:pt>
          <cx:pt idx="85">2</cx:pt>
          <cx:pt idx="86">2</cx:pt>
          <cx:pt idx="87">2</cx:pt>
          <cx:pt idx="88">2</cx:pt>
          <cx:pt idx="89">2</cx:pt>
          <cx:pt idx="90">2</cx:pt>
          <cx:pt idx="91">2</cx:pt>
          <cx:pt idx="92">2</cx:pt>
          <cx:pt idx="93">2</cx:pt>
          <cx:pt idx="94">2</cx:pt>
          <cx:pt idx="95">2</cx:pt>
          <cx:pt idx="96">2</cx:pt>
          <cx:pt idx="97">2</cx:pt>
          <cx:pt idx="98">2</cx:pt>
          <cx:pt idx="99">2</cx:pt>
          <cx:pt idx="100">2</cx:pt>
          <cx:pt idx="101">2</cx:pt>
          <cx:pt idx="102">2</cx:pt>
          <cx:pt idx="103">2</cx:pt>
          <cx:pt idx="104">2</cx:pt>
          <cx:pt idx="105">2</cx:pt>
          <cx:pt idx="106">2</cx:pt>
          <cx:pt idx="107">2</cx:pt>
          <cx:pt idx="108">2</cx:pt>
          <cx:pt idx="109">2</cx:pt>
          <cx:pt idx="110">2</cx:pt>
          <cx:pt idx="111">2</cx:pt>
          <cx:pt idx="112">2</cx:pt>
          <cx:pt idx="113">2</cx:pt>
          <cx:pt idx="114">2</cx:pt>
          <cx:pt idx="115">2</cx:pt>
          <cx:pt idx="116">2</cx:pt>
          <cx:pt idx="117">2</cx:pt>
          <cx:pt idx="118">2</cx:pt>
          <cx:pt idx="119">2</cx:pt>
          <cx:pt idx="120">2</cx:pt>
          <cx:pt idx="121">2</cx:pt>
          <cx:pt idx="122">2</cx:pt>
          <cx:pt idx="123">2</cx:pt>
          <cx:pt idx="124">2</cx:pt>
          <cx:pt idx="125">2</cx:pt>
          <cx:pt idx="126">2</cx:pt>
          <cx:pt idx="127">2</cx:pt>
          <cx:pt idx="128">2</cx:pt>
          <cx:pt idx="129">2</cx:pt>
          <cx:pt idx="130">2</cx:pt>
          <cx:pt idx="131">2</cx:pt>
          <cx:pt idx="132">3</cx:pt>
          <cx:pt idx="133">3</cx:pt>
          <cx:pt idx="134">3</cx:pt>
          <cx:pt idx="135">3</cx:pt>
          <cx:pt idx="136">3</cx:pt>
          <cx:pt idx="137">3</cx:pt>
          <cx:pt idx="138">3</cx:pt>
          <cx:pt idx="139">3</cx:pt>
          <cx:pt idx="140">3</cx:pt>
          <cx:pt idx="141">3</cx:pt>
          <cx:pt idx="142">3</cx:pt>
          <cx:pt idx="143">3</cx:pt>
          <cx:pt idx="144">3</cx:pt>
          <cx:pt idx="145">3</cx:pt>
          <cx:pt idx="146">3</cx:pt>
          <cx:pt idx="147">3</cx:pt>
          <cx:pt idx="148">3</cx:pt>
          <cx:pt idx="149">3</cx:pt>
          <cx:pt idx="150">3</cx:pt>
          <cx:pt idx="151">3</cx:pt>
          <cx:pt idx="152">3</cx:pt>
          <cx:pt idx="153">3</cx:pt>
          <cx:pt idx="154">3</cx:pt>
          <cx:pt idx="155">3</cx:pt>
          <cx:pt idx="156">3</cx:pt>
          <cx:pt idx="157">3</cx:pt>
          <cx:pt idx="158">3</cx:pt>
          <cx:pt idx="159">3</cx:pt>
          <cx:pt idx="160">3</cx:pt>
          <cx:pt idx="161">3</cx:pt>
          <cx:pt idx="162">3</cx:pt>
          <cx:pt idx="163">3</cx:pt>
          <cx:pt idx="164">3</cx:pt>
          <cx:pt idx="165">3</cx:pt>
          <cx:pt idx="166">3</cx:pt>
          <cx:pt idx="167">3</cx:pt>
          <cx:pt idx="168">3</cx:pt>
          <cx:pt idx="169">3</cx:pt>
          <cx:pt idx="170">3</cx:pt>
          <cx:pt idx="171">3</cx:pt>
          <cx:pt idx="172">3</cx:pt>
          <cx:pt idx="173">3</cx:pt>
          <cx:pt idx="174">3</cx:pt>
          <cx:pt idx="175">3</cx:pt>
          <cx:pt idx="176">3</cx:pt>
          <cx:pt idx="177">3</cx:pt>
          <cx:pt idx="178">3</cx:pt>
          <cx:pt idx="179">3</cx:pt>
          <cx:pt idx="180">3</cx:pt>
          <cx:pt idx="181">3</cx:pt>
          <cx:pt idx="182">3</cx:pt>
          <cx:pt idx="183">3</cx:pt>
          <cx:pt idx="184">3</cx:pt>
          <cx:pt idx="185">3</cx:pt>
          <cx:pt idx="186">3</cx:pt>
          <cx:pt idx="187">3</cx:pt>
          <cx:pt idx="188">3</cx:pt>
          <cx:pt idx="189">3</cx:pt>
          <cx:pt idx="190">3</cx:pt>
          <cx:pt idx="191">3</cx:pt>
          <cx:pt idx="192">3</cx:pt>
          <cx:pt idx="193">3</cx:pt>
          <cx:pt idx="194">3</cx:pt>
          <cx:pt idx="195">3</cx:pt>
          <cx:pt idx="196">3</cx:pt>
          <cx:pt idx="197">3</cx:pt>
          <cx:pt idx="198">4</cx:pt>
          <cx:pt idx="199">4</cx:pt>
          <cx:pt idx="200">4</cx:pt>
          <cx:pt idx="201">4</cx:pt>
          <cx:pt idx="202">4</cx:pt>
          <cx:pt idx="203">4</cx:pt>
          <cx:pt idx="204">4</cx:pt>
          <cx:pt idx="205">4</cx:pt>
          <cx:pt idx="206">4</cx:pt>
          <cx:pt idx="207">4</cx:pt>
          <cx:pt idx="208">4</cx:pt>
          <cx:pt idx="209">4</cx:pt>
          <cx:pt idx="210">4</cx:pt>
          <cx:pt idx="211">4</cx:pt>
          <cx:pt idx="212">4</cx:pt>
          <cx:pt idx="213">4</cx:pt>
          <cx:pt idx="214">4</cx:pt>
          <cx:pt idx="215">4</cx:pt>
          <cx:pt idx="216">4</cx:pt>
          <cx:pt idx="217">4</cx:pt>
          <cx:pt idx="218">4</cx:pt>
          <cx:pt idx="219">4</cx:pt>
          <cx:pt idx="220">4</cx:pt>
          <cx:pt idx="221">4</cx:pt>
          <cx:pt idx="222">4</cx:pt>
          <cx:pt idx="223">4</cx:pt>
          <cx:pt idx="224">4</cx:pt>
          <cx:pt idx="225">4</cx:pt>
          <cx:pt idx="226">4</cx:pt>
          <cx:pt idx="227">4</cx:pt>
          <cx:pt idx="228">4</cx:pt>
          <cx:pt idx="229">4</cx:pt>
          <cx:pt idx="230">4</cx:pt>
          <cx:pt idx="231">4</cx:pt>
          <cx:pt idx="232">4</cx:pt>
          <cx:pt idx="233">4</cx:pt>
          <cx:pt idx="234">4</cx:pt>
          <cx:pt idx="235">4</cx:pt>
          <cx:pt idx="236">4</cx:pt>
          <cx:pt idx="237">4</cx:pt>
          <cx:pt idx="238">4</cx:pt>
          <cx:pt idx="239">4</cx:pt>
          <cx:pt idx="240">4</cx:pt>
          <cx:pt idx="241">4</cx:pt>
          <cx:pt idx="242">4</cx:pt>
          <cx:pt idx="243">4</cx:pt>
          <cx:pt idx="244">4</cx:pt>
          <cx:pt idx="245">4</cx:pt>
          <cx:pt idx="246">4</cx:pt>
          <cx:pt idx="247">4</cx:pt>
          <cx:pt idx="248">4</cx:pt>
          <cx:pt idx="249">4</cx:pt>
          <cx:pt idx="250">4</cx:pt>
          <cx:pt idx="251">4</cx:pt>
          <cx:pt idx="252">4</cx:pt>
          <cx:pt idx="253">4</cx:pt>
          <cx:pt idx="254">4</cx:pt>
          <cx:pt idx="255">4</cx:pt>
          <cx:pt idx="256">4</cx:pt>
          <cx:pt idx="257">4</cx:pt>
          <cx:pt idx="258">4</cx:pt>
          <cx:pt idx="259">4</cx:pt>
          <cx:pt idx="260">4</cx:pt>
          <cx:pt idx="261">4</cx:pt>
          <cx:pt idx="262">4</cx:pt>
          <cx:pt idx="263">4</cx:pt>
          <cx:pt idx="264">5</cx:pt>
          <cx:pt idx="265">5</cx:pt>
          <cx:pt idx="266">5</cx:pt>
          <cx:pt idx="267">5</cx:pt>
          <cx:pt idx="268">5</cx:pt>
          <cx:pt idx="269">5</cx:pt>
          <cx:pt idx="270">5</cx:pt>
          <cx:pt idx="271">5</cx:pt>
          <cx:pt idx="272">5</cx:pt>
          <cx:pt idx="273">5</cx:pt>
          <cx:pt idx="274">5</cx:pt>
          <cx:pt idx="275">5</cx:pt>
          <cx:pt idx="276">5</cx:pt>
          <cx:pt idx="277">5</cx:pt>
          <cx:pt idx="278">5</cx:pt>
          <cx:pt idx="279">5</cx:pt>
          <cx:pt idx="280">5</cx:pt>
          <cx:pt idx="281">5</cx:pt>
          <cx:pt idx="282">5</cx:pt>
          <cx:pt idx="283">5</cx:pt>
          <cx:pt idx="284">5</cx:pt>
          <cx:pt idx="285">5</cx:pt>
          <cx:pt idx="286">5</cx:pt>
          <cx:pt idx="287">5</cx:pt>
          <cx:pt idx="288">5</cx:pt>
          <cx:pt idx="289">5</cx:pt>
          <cx:pt idx="290">5</cx:pt>
          <cx:pt idx="291">5</cx:pt>
          <cx:pt idx="292">5</cx:pt>
          <cx:pt idx="293">5</cx:pt>
          <cx:pt idx="294">5</cx:pt>
          <cx:pt idx="295">5</cx:pt>
          <cx:pt idx="296">5</cx:pt>
          <cx:pt idx="297">5</cx:pt>
          <cx:pt idx="298">5</cx:pt>
          <cx:pt idx="299">5</cx:pt>
          <cx:pt idx="300">5</cx:pt>
          <cx:pt idx="301">5</cx:pt>
          <cx:pt idx="302">5</cx:pt>
          <cx:pt idx="303">5</cx:pt>
          <cx:pt idx="304">5</cx:pt>
          <cx:pt idx="305">5</cx:pt>
          <cx:pt idx="306">5</cx:pt>
          <cx:pt idx="307">5</cx:pt>
          <cx:pt idx="308">5</cx:pt>
          <cx:pt idx="309">5</cx:pt>
          <cx:pt idx="310">5</cx:pt>
          <cx:pt idx="311">5</cx:pt>
          <cx:pt idx="312">5</cx:pt>
          <cx:pt idx="313">5</cx:pt>
          <cx:pt idx="314">5</cx:pt>
          <cx:pt idx="315">5</cx:pt>
          <cx:pt idx="316">5</cx:pt>
          <cx:pt idx="317">5</cx:pt>
          <cx:pt idx="318">5</cx:pt>
          <cx:pt idx="319">5</cx:pt>
          <cx:pt idx="320">5</cx:pt>
          <cx:pt idx="321">5</cx:pt>
          <cx:pt idx="322">5</cx:pt>
          <cx:pt idx="323">5</cx:pt>
          <cx:pt idx="324">5</cx:pt>
          <cx:pt idx="325">5</cx:pt>
          <cx:pt idx="326">5</cx:pt>
          <cx:pt idx="327">5</cx:pt>
          <cx:pt idx="328">5</cx:pt>
          <cx:pt idx="329">5</cx:pt>
          <cx:pt idx="330">6</cx:pt>
          <cx:pt idx="331">6</cx:pt>
          <cx:pt idx="332">6</cx:pt>
          <cx:pt idx="333">6</cx:pt>
          <cx:pt idx="334">6</cx:pt>
          <cx:pt idx="335">6</cx:pt>
          <cx:pt idx="336">6</cx:pt>
          <cx:pt idx="337">6</cx:pt>
          <cx:pt idx="338">6</cx:pt>
          <cx:pt idx="339">6</cx:pt>
          <cx:pt idx="340">6</cx:pt>
          <cx:pt idx="341">6</cx:pt>
          <cx:pt idx="342">6</cx:pt>
          <cx:pt idx="343">6</cx:pt>
          <cx:pt idx="344">6</cx:pt>
          <cx:pt idx="345">6</cx:pt>
          <cx:pt idx="346">6</cx:pt>
          <cx:pt idx="347">6</cx:pt>
          <cx:pt idx="348">6</cx:pt>
          <cx:pt idx="349">6</cx:pt>
          <cx:pt idx="350">6</cx:pt>
          <cx:pt idx="351">6</cx:pt>
          <cx:pt idx="352">6</cx:pt>
          <cx:pt idx="353">6</cx:pt>
          <cx:pt idx="354">6</cx:pt>
          <cx:pt idx="355">6</cx:pt>
          <cx:pt idx="356">6</cx:pt>
          <cx:pt idx="357">6</cx:pt>
          <cx:pt idx="358">6</cx:pt>
          <cx:pt idx="359">6</cx:pt>
          <cx:pt idx="360">6</cx:pt>
          <cx:pt idx="361">6</cx:pt>
          <cx:pt idx="362">6</cx:pt>
          <cx:pt idx="363">6</cx:pt>
          <cx:pt idx="364">6</cx:pt>
          <cx:pt idx="365">6</cx:pt>
          <cx:pt idx="366">6</cx:pt>
          <cx:pt idx="367">6</cx:pt>
          <cx:pt idx="368">6</cx:pt>
          <cx:pt idx="369">6</cx:pt>
          <cx:pt idx="370">6</cx:pt>
          <cx:pt idx="371">6</cx:pt>
          <cx:pt idx="372">6</cx:pt>
          <cx:pt idx="373">6</cx:pt>
          <cx:pt idx="374">6</cx:pt>
          <cx:pt idx="375">6</cx:pt>
          <cx:pt idx="376">6</cx:pt>
          <cx:pt idx="377">6</cx:pt>
          <cx:pt idx="378">6</cx:pt>
          <cx:pt idx="379">6</cx:pt>
          <cx:pt idx="380">6</cx:pt>
          <cx:pt idx="381">6</cx:pt>
          <cx:pt idx="382">6</cx:pt>
          <cx:pt idx="383">6</cx:pt>
          <cx:pt idx="384">6</cx:pt>
          <cx:pt idx="385">6</cx:pt>
          <cx:pt idx="386">6</cx:pt>
          <cx:pt idx="387">6</cx:pt>
          <cx:pt idx="388">6</cx:pt>
          <cx:pt idx="389">6</cx:pt>
          <cx:pt idx="390">6</cx:pt>
          <cx:pt idx="391">6</cx:pt>
          <cx:pt idx="392">6</cx:pt>
          <cx:pt idx="393">6</cx:pt>
          <cx:pt idx="394">6</cx:pt>
          <cx:pt idx="395">6</cx:pt>
          <cx:pt idx="396">7</cx:pt>
          <cx:pt idx="397">7</cx:pt>
          <cx:pt idx="398">7</cx:pt>
          <cx:pt idx="399">7</cx:pt>
          <cx:pt idx="400">7</cx:pt>
          <cx:pt idx="401">7</cx:pt>
          <cx:pt idx="402">7</cx:pt>
          <cx:pt idx="403">7</cx:pt>
          <cx:pt idx="404">7</cx:pt>
          <cx:pt idx="405">7</cx:pt>
          <cx:pt idx="406">7</cx:pt>
          <cx:pt idx="407">7</cx:pt>
          <cx:pt idx="408">7</cx:pt>
          <cx:pt idx="409">7</cx:pt>
          <cx:pt idx="410">7</cx:pt>
          <cx:pt idx="411">7</cx:pt>
          <cx:pt idx="412">7</cx:pt>
          <cx:pt idx="413">7</cx:pt>
          <cx:pt idx="414">7</cx:pt>
          <cx:pt idx="415">7</cx:pt>
          <cx:pt idx="416">7</cx:pt>
          <cx:pt idx="417">7</cx:pt>
          <cx:pt idx="418">7</cx:pt>
          <cx:pt idx="419">7</cx:pt>
          <cx:pt idx="420">7</cx:pt>
          <cx:pt idx="421">7</cx:pt>
          <cx:pt idx="422">7</cx:pt>
          <cx:pt idx="423">7</cx:pt>
          <cx:pt idx="424">7</cx:pt>
          <cx:pt idx="425">7</cx:pt>
          <cx:pt idx="426">7</cx:pt>
          <cx:pt idx="427">7</cx:pt>
          <cx:pt idx="428">7</cx:pt>
          <cx:pt idx="429">7</cx:pt>
          <cx:pt idx="430">7</cx:pt>
          <cx:pt idx="431">7</cx:pt>
          <cx:pt idx="432">7</cx:pt>
          <cx:pt idx="433">7</cx:pt>
          <cx:pt idx="434">7</cx:pt>
          <cx:pt idx="435">7</cx:pt>
          <cx:pt idx="436">7</cx:pt>
          <cx:pt idx="437">7</cx:pt>
          <cx:pt idx="438">7</cx:pt>
          <cx:pt idx="439">7</cx:pt>
          <cx:pt idx="440">7</cx:pt>
          <cx:pt idx="441">7</cx:pt>
          <cx:pt idx="442">7</cx:pt>
          <cx:pt idx="443">7</cx:pt>
          <cx:pt idx="444">7</cx:pt>
          <cx:pt idx="445">7</cx:pt>
          <cx:pt idx="446">7</cx:pt>
          <cx:pt idx="447">7</cx:pt>
          <cx:pt idx="448">7</cx:pt>
          <cx:pt idx="449">7</cx:pt>
          <cx:pt idx="450">7</cx:pt>
          <cx:pt idx="451">7</cx:pt>
          <cx:pt idx="452">7</cx:pt>
          <cx:pt idx="453">7</cx:pt>
          <cx:pt idx="454">7</cx:pt>
          <cx:pt idx="455">7</cx:pt>
          <cx:pt idx="456">7</cx:pt>
          <cx:pt idx="457">7</cx:pt>
          <cx:pt idx="458">7</cx:pt>
          <cx:pt idx="459">7</cx:pt>
          <cx:pt idx="460">7</cx:pt>
          <cx:pt idx="461">7</cx:pt>
          <cx:pt idx="462">8</cx:pt>
          <cx:pt idx="463">8</cx:pt>
          <cx:pt idx="464">8</cx:pt>
          <cx:pt idx="465">8</cx:pt>
          <cx:pt idx="466">8</cx:pt>
          <cx:pt idx="467">8</cx:pt>
          <cx:pt idx="468">8</cx:pt>
          <cx:pt idx="469">8</cx:pt>
          <cx:pt idx="470">8</cx:pt>
          <cx:pt idx="471">8</cx:pt>
          <cx:pt idx="472">8</cx:pt>
          <cx:pt idx="473">8</cx:pt>
          <cx:pt idx="474">8</cx:pt>
          <cx:pt idx="475">8</cx:pt>
          <cx:pt idx="476">8</cx:pt>
          <cx:pt idx="477">8</cx:pt>
          <cx:pt idx="478">8</cx:pt>
          <cx:pt idx="479">8</cx:pt>
          <cx:pt idx="480">8</cx:pt>
          <cx:pt idx="481">8</cx:pt>
          <cx:pt idx="482">8</cx:pt>
          <cx:pt idx="483">8</cx:pt>
          <cx:pt idx="484">8</cx:pt>
          <cx:pt idx="485">8</cx:pt>
          <cx:pt idx="486">8</cx:pt>
          <cx:pt idx="487">8</cx:pt>
          <cx:pt idx="488">8</cx:pt>
          <cx:pt idx="489">8</cx:pt>
          <cx:pt idx="490">8</cx:pt>
          <cx:pt idx="491">8</cx:pt>
          <cx:pt idx="492">8</cx:pt>
          <cx:pt idx="493">8</cx:pt>
          <cx:pt idx="494">8</cx:pt>
          <cx:pt idx="495">8</cx:pt>
          <cx:pt idx="496">8</cx:pt>
          <cx:pt idx="497">8</cx:pt>
          <cx:pt idx="498">8</cx:pt>
          <cx:pt idx="499">8</cx:pt>
          <cx:pt idx="500">8</cx:pt>
          <cx:pt idx="501">8</cx:pt>
          <cx:pt idx="502">8</cx:pt>
          <cx:pt idx="503">8</cx:pt>
          <cx:pt idx="504">8</cx:pt>
          <cx:pt idx="505">8</cx:pt>
          <cx:pt idx="506">8</cx:pt>
          <cx:pt idx="507">8</cx:pt>
          <cx:pt idx="508">8</cx:pt>
          <cx:pt idx="509">8</cx:pt>
          <cx:pt idx="510">8</cx:pt>
          <cx:pt idx="511">8</cx:pt>
          <cx:pt idx="512">8</cx:pt>
          <cx:pt idx="513">8</cx:pt>
          <cx:pt idx="514">8</cx:pt>
          <cx:pt idx="515">8</cx:pt>
          <cx:pt idx="516">8</cx:pt>
          <cx:pt idx="517">8</cx:pt>
          <cx:pt idx="518">8</cx:pt>
          <cx:pt idx="519">8</cx:pt>
          <cx:pt idx="520">8</cx:pt>
          <cx:pt idx="521">8</cx:pt>
          <cx:pt idx="522">8</cx:pt>
          <cx:pt idx="523">8</cx:pt>
          <cx:pt idx="524">8</cx:pt>
          <cx:pt idx="525">8</cx:pt>
          <cx:pt idx="526">8</cx:pt>
          <cx:pt idx="527">8</cx:pt>
          <cx:pt idx="528">9</cx:pt>
          <cx:pt idx="529">9</cx:pt>
          <cx:pt idx="530">9</cx:pt>
          <cx:pt idx="531">9</cx:pt>
          <cx:pt idx="532">9</cx:pt>
          <cx:pt idx="533">9</cx:pt>
          <cx:pt idx="534">9</cx:pt>
          <cx:pt idx="535">9</cx:pt>
          <cx:pt idx="536">9</cx:pt>
          <cx:pt idx="537">9</cx:pt>
          <cx:pt idx="538">9</cx:pt>
          <cx:pt idx="539">9</cx:pt>
          <cx:pt idx="540">9</cx:pt>
          <cx:pt idx="541">9</cx:pt>
          <cx:pt idx="542">9</cx:pt>
          <cx:pt idx="543">9</cx:pt>
          <cx:pt idx="544">9</cx:pt>
          <cx:pt idx="545">9</cx:pt>
          <cx:pt idx="546">9</cx:pt>
          <cx:pt idx="547">9</cx:pt>
          <cx:pt idx="548">9</cx:pt>
          <cx:pt idx="549">9</cx:pt>
          <cx:pt idx="550">9</cx:pt>
          <cx:pt idx="551">9</cx:pt>
          <cx:pt idx="552">9</cx:pt>
          <cx:pt idx="553">9</cx:pt>
          <cx:pt idx="554">9</cx:pt>
          <cx:pt idx="555">9</cx:pt>
          <cx:pt idx="556">9</cx:pt>
          <cx:pt idx="557">9</cx:pt>
          <cx:pt idx="558">9</cx:pt>
          <cx:pt idx="559">9</cx:pt>
          <cx:pt idx="560">9</cx:pt>
          <cx:pt idx="561">9</cx:pt>
          <cx:pt idx="562">9</cx:pt>
          <cx:pt idx="563">9</cx:pt>
          <cx:pt idx="564">9</cx:pt>
          <cx:pt idx="565">9</cx:pt>
          <cx:pt idx="566">9</cx:pt>
          <cx:pt idx="567">9</cx:pt>
          <cx:pt idx="568">9</cx:pt>
          <cx:pt idx="569">9</cx:pt>
          <cx:pt idx="570">9</cx:pt>
          <cx:pt idx="571">9</cx:pt>
          <cx:pt idx="572">9</cx:pt>
          <cx:pt idx="573">9</cx:pt>
          <cx:pt idx="574">9</cx:pt>
          <cx:pt idx="575">9</cx:pt>
          <cx:pt idx="576">9</cx:pt>
          <cx:pt idx="577">9</cx:pt>
          <cx:pt idx="578">9</cx:pt>
          <cx:pt idx="579">9</cx:pt>
          <cx:pt idx="580">9</cx:pt>
          <cx:pt idx="581">9</cx:pt>
          <cx:pt idx="582">9</cx:pt>
          <cx:pt idx="583">9</cx:pt>
          <cx:pt idx="584">9</cx:pt>
          <cx:pt idx="585">9</cx:pt>
          <cx:pt idx="586">9</cx:pt>
          <cx:pt idx="587">9</cx:pt>
          <cx:pt idx="588">9</cx:pt>
          <cx:pt idx="589">9</cx:pt>
          <cx:pt idx="590">9</cx:pt>
          <cx:pt idx="591">9</cx:pt>
          <cx:pt idx="592">9</cx:pt>
          <cx:pt idx="593">9</cx:pt>
          <cx:pt idx="594">10</cx:pt>
          <cx:pt idx="595">10</cx:pt>
          <cx:pt idx="596">10</cx:pt>
          <cx:pt idx="597">10</cx:pt>
          <cx:pt idx="598">10</cx:pt>
          <cx:pt idx="599">10</cx:pt>
          <cx:pt idx="600">10</cx:pt>
          <cx:pt idx="601">10</cx:pt>
          <cx:pt idx="602">10</cx:pt>
          <cx:pt idx="603">10</cx:pt>
          <cx:pt idx="604">10</cx:pt>
          <cx:pt idx="605">10</cx:pt>
          <cx:pt idx="606">10</cx:pt>
          <cx:pt idx="607">10</cx:pt>
          <cx:pt idx="608">10</cx:pt>
          <cx:pt idx="609">10</cx:pt>
          <cx:pt idx="610">10</cx:pt>
          <cx:pt idx="611">10</cx:pt>
          <cx:pt idx="612">10</cx:pt>
          <cx:pt idx="613">10</cx:pt>
          <cx:pt idx="614">10</cx:pt>
          <cx:pt idx="615">10</cx:pt>
          <cx:pt idx="616">10</cx:pt>
          <cx:pt idx="617">10</cx:pt>
          <cx:pt idx="618">10</cx:pt>
          <cx:pt idx="619">10</cx:pt>
          <cx:pt idx="620">10</cx:pt>
          <cx:pt idx="621">10</cx:pt>
          <cx:pt idx="622">10</cx:pt>
          <cx:pt idx="623">10</cx:pt>
          <cx:pt idx="624">10</cx:pt>
          <cx:pt idx="625">10</cx:pt>
          <cx:pt idx="626">10</cx:pt>
          <cx:pt idx="627">10</cx:pt>
          <cx:pt idx="628">10</cx:pt>
          <cx:pt idx="629">10</cx:pt>
          <cx:pt idx="630">10</cx:pt>
          <cx:pt idx="631">10</cx:pt>
          <cx:pt idx="632">10</cx:pt>
          <cx:pt idx="633">10</cx:pt>
          <cx:pt idx="634">10</cx:pt>
          <cx:pt idx="635">10</cx:pt>
          <cx:pt idx="636">10</cx:pt>
          <cx:pt idx="637">10</cx:pt>
          <cx:pt idx="638">10</cx:pt>
          <cx:pt idx="639">10</cx:pt>
          <cx:pt idx="640">10</cx:pt>
          <cx:pt idx="641">10</cx:pt>
          <cx:pt idx="642">10</cx:pt>
          <cx:pt idx="643">10</cx:pt>
          <cx:pt idx="644">10</cx:pt>
          <cx:pt idx="645">10</cx:pt>
          <cx:pt idx="646">10</cx:pt>
          <cx:pt idx="647">10</cx:pt>
          <cx:pt idx="648">10</cx:pt>
          <cx:pt idx="649">10</cx:pt>
          <cx:pt idx="650">10</cx:pt>
          <cx:pt idx="651">10</cx:pt>
          <cx:pt idx="652">10</cx:pt>
          <cx:pt idx="653">10</cx:pt>
          <cx:pt idx="654">10</cx:pt>
          <cx:pt idx="655">10</cx:pt>
          <cx:pt idx="656">10</cx:pt>
          <cx:pt idx="657">10</cx:pt>
          <cx:pt idx="658">10</cx:pt>
          <cx:pt idx="659">10</cx:pt>
          <cx:pt idx="660">11</cx:pt>
          <cx:pt idx="661">11</cx:pt>
          <cx:pt idx="662">11</cx:pt>
          <cx:pt idx="663">11</cx:pt>
          <cx:pt idx="664">11</cx:pt>
          <cx:pt idx="665">11</cx:pt>
          <cx:pt idx="666">11</cx:pt>
          <cx:pt idx="667">11</cx:pt>
          <cx:pt idx="668">11</cx:pt>
          <cx:pt idx="669">11</cx:pt>
          <cx:pt idx="670">11</cx:pt>
          <cx:pt idx="671">11</cx:pt>
          <cx:pt idx="672">11</cx:pt>
          <cx:pt idx="673">11</cx:pt>
          <cx:pt idx="674">11</cx:pt>
          <cx:pt idx="675">11</cx:pt>
          <cx:pt idx="676">11</cx:pt>
          <cx:pt idx="677">11</cx:pt>
          <cx:pt idx="678">11</cx:pt>
          <cx:pt idx="679">11</cx:pt>
          <cx:pt idx="680">11</cx:pt>
          <cx:pt idx="681">11</cx:pt>
          <cx:pt idx="682">11</cx:pt>
          <cx:pt idx="683">11</cx:pt>
          <cx:pt idx="684">11</cx:pt>
          <cx:pt idx="685">11</cx:pt>
          <cx:pt idx="686">11</cx:pt>
          <cx:pt idx="687">11</cx:pt>
          <cx:pt idx="688">11</cx:pt>
          <cx:pt idx="689">11</cx:pt>
          <cx:pt idx="690">11</cx:pt>
          <cx:pt idx="691">11</cx:pt>
          <cx:pt idx="692">11</cx:pt>
          <cx:pt idx="693">11</cx:pt>
          <cx:pt idx="694">11</cx:pt>
          <cx:pt idx="695">11</cx:pt>
          <cx:pt idx="696">11</cx:pt>
          <cx:pt idx="697">11</cx:pt>
          <cx:pt idx="698">11</cx:pt>
          <cx:pt idx="699">11</cx:pt>
          <cx:pt idx="700">11</cx:pt>
          <cx:pt idx="701">11</cx:pt>
          <cx:pt idx="702">11</cx:pt>
          <cx:pt idx="703">11</cx:pt>
          <cx:pt idx="704">11</cx:pt>
          <cx:pt idx="705">11</cx:pt>
          <cx:pt idx="706">11</cx:pt>
          <cx:pt idx="707">11</cx:pt>
          <cx:pt idx="708">11</cx:pt>
          <cx:pt idx="709">11</cx:pt>
          <cx:pt idx="710">11</cx:pt>
          <cx:pt idx="711">11</cx:pt>
          <cx:pt idx="712">11</cx:pt>
          <cx:pt idx="713">11</cx:pt>
          <cx:pt idx="714">11</cx:pt>
          <cx:pt idx="715">11</cx:pt>
          <cx:pt idx="716">11</cx:pt>
          <cx:pt idx="717">11</cx:pt>
          <cx:pt idx="718">11</cx:pt>
          <cx:pt idx="719">11</cx:pt>
          <cx:pt idx="720">11</cx:pt>
          <cx:pt idx="721">11</cx:pt>
          <cx:pt idx="722">11</cx:pt>
          <cx:pt idx="723">11</cx:pt>
          <cx:pt idx="724">11</cx:pt>
          <cx:pt idx="725">12</cx:pt>
          <cx:pt idx="726">12</cx:pt>
          <cx:pt idx="727">12</cx:pt>
          <cx:pt idx="728">12</cx:pt>
          <cx:pt idx="729">12</cx:pt>
          <cx:pt idx="730">12</cx:pt>
          <cx:pt idx="731">12</cx:pt>
          <cx:pt idx="732">12</cx:pt>
          <cx:pt idx="733">12</cx:pt>
          <cx:pt idx="734">12</cx:pt>
          <cx:pt idx="735">12</cx:pt>
          <cx:pt idx="736">12</cx:pt>
          <cx:pt idx="737">12</cx:pt>
          <cx:pt idx="738">12</cx:pt>
          <cx:pt idx="739">12</cx:pt>
          <cx:pt idx="740">12</cx:pt>
          <cx:pt idx="741">12</cx:pt>
          <cx:pt idx="742">12</cx:pt>
          <cx:pt idx="743">12</cx:pt>
          <cx:pt idx="744">12</cx:pt>
          <cx:pt idx="745">12</cx:pt>
          <cx:pt idx="746">12</cx:pt>
          <cx:pt idx="747">12</cx:pt>
          <cx:pt idx="748">12</cx:pt>
          <cx:pt idx="749">12</cx:pt>
          <cx:pt idx="750">12</cx:pt>
          <cx:pt idx="751">12</cx:pt>
          <cx:pt idx="752">12</cx:pt>
          <cx:pt idx="753">12</cx:pt>
          <cx:pt idx="754">12</cx:pt>
          <cx:pt idx="755">12</cx:pt>
          <cx:pt idx="756">12</cx:pt>
          <cx:pt idx="757">12</cx:pt>
          <cx:pt idx="758">12</cx:pt>
          <cx:pt idx="759">12</cx:pt>
          <cx:pt idx="760">12</cx:pt>
          <cx:pt idx="761">12</cx:pt>
          <cx:pt idx="762">12</cx:pt>
          <cx:pt idx="763">12</cx:pt>
          <cx:pt idx="764">12</cx:pt>
          <cx:pt idx="765">12</cx:pt>
          <cx:pt idx="766">12</cx:pt>
          <cx:pt idx="767">12</cx:pt>
          <cx:pt idx="768">12</cx:pt>
          <cx:pt idx="769">12</cx:pt>
          <cx:pt idx="770">12</cx:pt>
          <cx:pt idx="771">12</cx:pt>
          <cx:pt idx="772">12</cx:pt>
          <cx:pt idx="773">12</cx:pt>
          <cx:pt idx="774">12</cx:pt>
          <cx:pt idx="775">12</cx:pt>
          <cx:pt idx="776">12</cx:pt>
          <cx:pt idx="777">12</cx:pt>
          <cx:pt idx="778">12</cx:pt>
          <cx:pt idx="779">12</cx:pt>
          <cx:pt idx="780">12</cx:pt>
          <cx:pt idx="781">12</cx:pt>
          <cx:pt idx="782">12</cx:pt>
          <cx:pt idx="783">12</cx:pt>
          <cx:pt idx="784">12</cx:pt>
          <cx:pt idx="785">12</cx:pt>
          <cx:pt idx="786">12</cx:pt>
          <cx:pt idx="787">12</cx:pt>
          <cx:pt idx="788">12</cx:pt>
          <cx:pt idx="789">12</cx:pt>
          <cx:pt idx="790">13</cx:pt>
          <cx:pt idx="791">13</cx:pt>
          <cx:pt idx="792">13</cx:pt>
          <cx:pt idx="793">13</cx:pt>
          <cx:pt idx="794">13</cx:pt>
          <cx:pt idx="795">13</cx:pt>
          <cx:pt idx="796">13</cx:pt>
          <cx:pt idx="797">13</cx:pt>
          <cx:pt idx="798">13</cx:pt>
          <cx:pt idx="799">13</cx:pt>
          <cx:pt idx="800">13</cx:pt>
          <cx:pt idx="801">13</cx:pt>
          <cx:pt idx="802">13</cx:pt>
          <cx:pt idx="803">13</cx:pt>
          <cx:pt idx="804">13</cx:pt>
          <cx:pt idx="805">13</cx:pt>
          <cx:pt idx="806">13</cx:pt>
          <cx:pt idx="807">13</cx:pt>
          <cx:pt idx="808">13</cx:pt>
          <cx:pt idx="809">13</cx:pt>
          <cx:pt idx="810">13</cx:pt>
          <cx:pt idx="811">13</cx:pt>
          <cx:pt idx="812">13</cx:pt>
          <cx:pt idx="813">13</cx:pt>
          <cx:pt idx="814">13</cx:pt>
          <cx:pt idx="815">13</cx:pt>
          <cx:pt idx="816">13</cx:pt>
          <cx:pt idx="817">13</cx:pt>
          <cx:pt idx="818">13</cx:pt>
          <cx:pt idx="819">13</cx:pt>
          <cx:pt idx="820">13</cx:pt>
          <cx:pt idx="821">13</cx:pt>
          <cx:pt idx="822">13</cx:pt>
          <cx:pt idx="823">13</cx:pt>
          <cx:pt idx="824">13</cx:pt>
          <cx:pt idx="825">13</cx:pt>
          <cx:pt idx="826">13</cx:pt>
          <cx:pt idx="827">13</cx:pt>
          <cx:pt idx="828">13</cx:pt>
          <cx:pt idx="829">13</cx:pt>
          <cx:pt idx="830">13</cx:pt>
          <cx:pt idx="831">13</cx:pt>
          <cx:pt idx="832">13</cx:pt>
          <cx:pt idx="833">13</cx:pt>
          <cx:pt idx="834">13</cx:pt>
          <cx:pt idx="835">13</cx:pt>
          <cx:pt idx="836">13</cx:pt>
          <cx:pt idx="837">13</cx:pt>
          <cx:pt idx="838">13</cx:pt>
          <cx:pt idx="839">13</cx:pt>
          <cx:pt idx="840">13</cx:pt>
          <cx:pt idx="841">13</cx:pt>
          <cx:pt idx="842">13</cx:pt>
          <cx:pt idx="843">13</cx:pt>
          <cx:pt idx="844">13</cx:pt>
          <cx:pt idx="845">13</cx:pt>
          <cx:pt idx="846">13</cx:pt>
          <cx:pt idx="847">13</cx:pt>
          <cx:pt idx="848">13</cx:pt>
          <cx:pt idx="849">13</cx:pt>
          <cx:pt idx="850">13</cx:pt>
          <cx:pt idx="851">13</cx:pt>
          <cx:pt idx="852">13</cx:pt>
          <cx:pt idx="853">13</cx:pt>
          <cx:pt idx="854">13</cx:pt>
          <cx:pt idx="855">14</cx:pt>
          <cx:pt idx="856">14</cx:pt>
          <cx:pt idx="857">14</cx:pt>
          <cx:pt idx="858">14</cx:pt>
          <cx:pt idx="859">14</cx:pt>
          <cx:pt idx="860">14</cx:pt>
          <cx:pt idx="861">14</cx:pt>
          <cx:pt idx="862">14</cx:pt>
          <cx:pt idx="863">14</cx:pt>
          <cx:pt idx="864">14</cx:pt>
          <cx:pt idx="865">14</cx:pt>
          <cx:pt idx="866">14</cx:pt>
          <cx:pt idx="867">14</cx:pt>
          <cx:pt idx="868">14</cx:pt>
          <cx:pt idx="869">14</cx:pt>
          <cx:pt idx="870">14</cx:pt>
          <cx:pt idx="871">14</cx:pt>
          <cx:pt idx="872">14</cx:pt>
          <cx:pt idx="873">14</cx:pt>
          <cx:pt idx="874">14</cx:pt>
          <cx:pt idx="875">14</cx:pt>
          <cx:pt idx="876">14</cx:pt>
          <cx:pt idx="877">14</cx:pt>
          <cx:pt idx="878">14</cx:pt>
          <cx:pt idx="879">14</cx:pt>
          <cx:pt idx="880">14</cx:pt>
          <cx:pt idx="881">14</cx:pt>
          <cx:pt idx="882">14</cx:pt>
          <cx:pt idx="883">14</cx:pt>
          <cx:pt idx="884">14</cx:pt>
          <cx:pt idx="885">14</cx:pt>
          <cx:pt idx="886">14</cx:pt>
          <cx:pt idx="887">14</cx:pt>
          <cx:pt idx="888">14</cx:pt>
          <cx:pt idx="889">14</cx:pt>
          <cx:pt idx="890">14</cx:pt>
          <cx:pt idx="891">14</cx:pt>
          <cx:pt idx="892">14</cx:pt>
          <cx:pt idx="893">14</cx:pt>
          <cx:pt idx="894">14</cx:pt>
          <cx:pt idx="895">14</cx:pt>
          <cx:pt idx="896">14</cx:pt>
          <cx:pt idx="897">14</cx:pt>
          <cx:pt idx="898">14</cx:pt>
          <cx:pt idx="899">14</cx:pt>
          <cx:pt idx="900">14</cx:pt>
          <cx:pt idx="901">14</cx:pt>
          <cx:pt idx="902">14</cx:pt>
          <cx:pt idx="903">14</cx:pt>
          <cx:pt idx="904">14</cx:pt>
          <cx:pt idx="905">14</cx:pt>
          <cx:pt idx="906">14</cx:pt>
          <cx:pt idx="907">14</cx:pt>
          <cx:pt idx="908">14</cx:pt>
          <cx:pt idx="909">14</cx:pt>
          <cx:pt idx="910">14</cx:pt>
          <cx:pt idx="911">14</cx:pt>
          <cx:pt idx="912">14</cx:pt>
          <cx:pt idx="913">14</cx:pt>
          <cx:pt idx="914">14</cx:pt>
          <cx:pt idx="915">14</cx:pt>
          <cx:pt idx="916">14</cx:pt>
          <cx:pt idx="917">14</cx:pt>
          <cx:pt idx="918">14</cx:pt>
          <cx:pt idx="919">14</cx:pt>
          <cx:pt idx="920">15</cx:pt>
          <cx:pt idx="921">15</cx:pt>
          <cx:pt idx="922">15</cx:pt>
          <cx:pt idx="923">15</cx:pt>
          <cx:pt idx="924">15</cx:pt>
          <cx:pt idx="925">15</cx:pt>
          <cx:pt idx="926">15</cx:pt>
          <cx:pt idx="927">15</cx:pt>
          <cx:pt idx="928">15</cx:pt>
          <cx:pt idx="929">15</cx:pt>
          <cx:pt idx="930">15</cx:pt>
          <cx:pt idx="931">15</cx:pt>
          <cx:pt idx="932">15</cx:pt>
          <cx:pt idx="933">15</cx:pt>
          <cx:pt idx="934">15</cx:pt>
          <cx:pt idx="935">15</cx:pt>
          <cx:pt idx="936">15</cx:pt>
          <cx:pt idx="937">15</cx:pt>
          <cx:pt idx="938">15</cx:pt>
          <cx:pt idx="939">15</cx:pt>
          <cx:pt idx="940">15</cx:pt>
          <cx:pt idx="941">15</cx:pt>
          <cx:pt idx="942">15</cx:pt>
          <cx:pt idx="943">15</cx:pt>
          <cx:pt idx="944">15</cx:pt>
          <cx:pt idx="945">15</cx:pt>
          <cx:pt idx="946">15</cx:pt>
          <cx:pt idx="947">15</cx:pt>
          <cx:pt idx="948">15</cx:pt>
          <cx:pt idx="949">15</cx:pt>
          <cx:pt idx="950">15</cx:pt>
          <cx:pt idx="951">15</cx:pt>
          <cx:pt idx="952">15</cx:pt>
          <cx:pt idx="953">15</cx:pt>
          <cx:pt idx="954">15</cx:pt>
          <cx:pt idx="955">15</cx:pt>
          <cx:pt idx="956">15</cx:pt>
          <cx:pt idx="957">15</cx:pt>
          <cx:pt idx="958">15</cx:pt>
          <cx:pt idx="959">15</cx:pt>
          <cx:pt idx="960">15</cx:pt>
          <cx:pt idx="961">15</cx:pt>
          <cx:pt idx="962">15</cx:pt>
          <cx:pt idx="963">15</cx:pt>
          <cx:pt idx="964">15</cx:pt>
          <cx:pt idx="965">15</cx:pt>
          <cx:pt idx="966">15</cx:pt>
          <cx:pt idx="967">15</cx:pt>
          <cx:pt idx="968">15</cx:pt>
          <cx:pt idx="969">15</cx:pt>
          <cx:pt idx="970">15</cx:pt>
          <cx:pt idx="971">15</cx:pt>
          <cx:pt idx="972">15</cx:pt>
          <cx:pt idx="973">15</cx:pt>
          <cx:pt idx="974">15</cx:pt>
          <cx:pt idx="975">15</cx:pt>
          <cx:pt idx="976">15</cx:pt>
          <cx:pt idx="977">15</cx:pt>
          <cx:pt idx="978">15</cx:pt>
          <cx:pt idx="979">15</cx:pt>
          <cx:pt idx="980">15</cx:pt>
          <cx:pt idx="981">15</cx:pt>
          <cx:pt idx="982">15</cx:pt>
          <cx:pt idx="983">15</cx:pt>
          <cx:pt idx="984">15</cx:pt>
        </cx:lvl>
      </cx:numDim>
    </cx:data>
    <cx:data id="1">
      <cx:numDim type="val">
        <cx:f>'walmart task 8'!$B$2:$B$986</cx:f>
        <cx:lvl ptCount="985" formatCode="dd-mm-yyyy">
          <cx:pt idx="0">43498</cx:pt>
          <cx:pt idx="1">43526</cx:pt>
          <cx:pt idx="2">43526</cx:pt>
          <cx:pt idx="3">43527</cx:pt>
          <cx:pt idx="4">43500</cx:pt>
          <cx:pt idx="5">43500</cx:pt>
          <cx:pt idx="6">43470</cx:pt>
          <cx:pt idx="7">43501</cx:pt>
          <cx:pt idx="8">43501</cx:pt>
          <cx:pt idx="9">43501</cx:pt>
          <cx:pt idx="10">43501</cx:pt>
          <cx:pt idx="11">43529</cx:pt>
          <cx:pt idx="12">43471</cx:pt>
          <cx:pt idx="13">43502</cx:pt>
          <cx:pt idx="14">43502</cx:pt>
          <cx:pt idx="15">43530</cx:pt>
          <cx:pt idx="16">43503</cx:pt>
          <cx:pt idx="17">43504</cx:pt>
          <cx:pt idx="18">43532</cx:pt>
          <cx:pt idx="19">43505</cx:pt>
          <cx:pt idx="20">43505</cx:pt>
          <cx:pt idx="21">43505</cx:pt>
          <cx:pt idx="22">43475</cx:pt>
          <cx:pt idx="23">43475</cx:pt>
          <cx:pt idx="24">43506</cx:pt>
          <cx:pt idx="25">43507</cx:pt>
          <cx:pt idx="26">43477</cx:pt>
          <cx:pt idx="27">43477</cx:pt>
          <cx:pt idx="28">43508</cx:pt>
          <cx:pt idx="29">43536</cx:pt>
          <cx:pt idx="30">43478</cx:pt>
          <cx:pt idx="31">43478</cx:pt>
          <cx:pt idx="32">43479</cx:pt>
          <cx:pt idx="33">43479</cx:pt>
          <cx:pt idx="34">43479</cx:pt>
          <cx:pt idx="35">43479</cx:pt>
          <cx:pt idx="36">43510</cx:pt>
          <cx:pt idx="37">43480</cx:pt>
          <cx:pt idx="38">43480</cx:pt>
          <cx:pt idx="39">43511</cx:pt>
          <cx:pt idx="40">43511</cx:pt>
          <cx:pt idx="41">43539</cx:pt>
          <cx:pt idx="42">43540</cx:pt>
          <cx:pt idx="43">43482</cx:pt>
          <cx:pt idx="44">43482</cx:pt>
          <cx:pt idx="45">43482</cx:pt>
          <cx:pt idx="46">43482</cx:pt>
          <cx:pt idx="47">43515</cx:pt>
          <cx:pt idx="48">43544</cx:pt>
          <cx:pt idx="49">43544</cx:pt>
          <cx:pt idx="50">43545</cx:pt>
          <cx:pt idx="51">43487</cx:pt>
          <cx:pt idx="52">43518</cx:pt>
          <cx:pt idx="53">43518</cx:pt>
          <cx:pt idx="54">43548</cx:pt>
          <cx:pt idx="55">43490</cx:pt>
          <cx:pt idx="56">43521</cx:pt>
          <cx:pt idx="57">43549</cx:pt>
          <cx:pt idx="58">43491</cx:pt>
          <cx:pt idx="59">43491</cx:pt>
          <cx:pt idx="60">43492</cx:pt>
          <cx:pt idx="61">43523</cx:pt>
          <cx:pt idx="62">43551</cx:pt>
          <cx:pt idx="63">43553</cx:pt>
          <cx:pt idx="64">43554</cx:pt>
          <cx:pt idx="65">43554</cx:pt>
          <cx:pt idx="66">43466</cx:pt>
          <cx:pt idx="67">43466</cx:pt>
          <cx:pt idx="68">43498</cx:pt>
          <cx:pt idx="69">43526</cx:pt>
          <cx:pt idx="70">43526</cx:pt>
          <cx:pt idx="71">43499</cx:pt>
          <cx:pt idx="72">43499</cx:pt>
          <cx:pt idx="73">43527</cx:pt>
          <cx:pt idx="74">43469</cx:pt>
          <cx:pt idx="75">43469</cx:pt>
          <cx:pt idx="76">43470</cx:pt>
          <cx:pt idx="77">43470</cx:pt>
          <cx:pt idx="78">43529</cx:pt>
          <cx:pt idx="79">43529</cx:pt>
          <cx:pt idx="80">43530</cx:pt>
          <cx:pt idx="81">43472</cx:pt>
          <cx:pt idx="82">43503</cx:pt>
          <cx:pt idx="83">43503</cx:pt>
          <cx:pt idx="84">43503</cx:pt>
          <cx:pt idx="85">43505</cx:pt>
          <cx:pt idx="86">43533</cx:pt>
          <cx:pt idx="87">43533</cx:pt>
          <cx:pt idx="88">43506</cx:pt>
          <cx:pt idx="89">43506</cx:pt>
          <cx:pt idx="90">43535</cx:pt>
          <cx:pt idx="91">43536</cx:pt>
          <cx:pt idx="92">43537</cx:pt>
          <cx:pt idx="93">43479</cx:pt>
          <cx:pt idx="94">43479</cx:pt>
          <cx:pt idx="95">43538</cx:pt>
          <cx:pt idx="96">43480</cx:pt>
          <cx:pt idx="97">43511</cx:pt>
          <cx:pt idx="98">43481</cx:pt>
          <cx:pt idx="99">43512</cx:pt>
          <cx:pt idx="100">43512</cx:pt>
          <cx:pt idx="101">43513</cx:pt>
          <cx:pt idx="102">43513</cx:pt>
          <cx:pt idx="103">43513</cx:pt>
          <cx:pt idx="104">43483</cx:pt>
          <cx:pt idx="105">43514</cx:pt>
          <cx:pt idx="106">43484</cx:pt>
          <cx:pt idx="107">43543</cx:pt>
          <cx:pt idx="108">43543</cx:pt>
          <cx:pt idx="109">43543</cx:pt>
          <cx:pt idx="110">43543</cx:pt>
          <cx:pt idx="111">43486</cx:pt>
          <cx:pt idx="112">43488</cx:pt>
          <cx:pt idx="113">43488</cx:pt>
          <cx:pt idx="114">43520</cx:pt>
          <cx:pt idx="115">43520</cx:pt>
          <cx:pt idx="116">43548</cx:pt>
          <cx:pt idx="117">43548</cx:pt>
          <cx:pt idx="118">43548</cx:pt>
          <cx:pt idx="119">43490</cx:pt>
          <cx:pt idx="120">43549</cx:pt>
          <cx:pt idx="121">43549</cx:pt>
          <cx:pt idx="122">43491</cx:pt>
          <cx:pt idx="123">43491</cx:pt>
          <cx:pt idx="124">43522</cx:pt>
          <cx:pt idx="125">43551</cx:pt>
          <cx:pt idx="126">43551</cx:pt>
          <cx:pt idx="127">43494</cx:pt>
          <cx:pt idx="128">43495</cx:pt>
          <cx:pt idx="129">43495</cx:pt>
          <cx:pt idx="130">43495</cx:pt>
          <cx:pt idx="131">43496</cx:pt>
          <cx:pt idx="132">43467</cx:pt>
          <cx:pt idx="133">43467</cx:pt>
          <cx:pt idx="134">43498</cx:pt>
          <cx:pt idx="135">43526</cx:pt>
          <cx:pt idx="136">43468</cx:pt>
          <cx:pt idx="137">43499</cx:pt>
          <cx:pt idx="138">43499</cx:pt>
          <cx:pt idx="139">43500</cx:pt>
          <cx:pt idx="140">43470</cx:pt>
          <cx:pt idx="141">43502</cx:pt>
          <cx:pt idx="142">43503</cx:pt>
          <cx:pt idx="143">43532</cx:pt>
          <cx:pt idx="144">43533</cx:pt>
          <cx:pt idx="145">43475</cx:pt>
          <cx:pt idx="146">43534</cx:pt>
          <cx:pt idx="147">43507</cx:pt>
          <cx:pt idx="148">43535</cx:pt>
          <cx:pt idx="149">43535</cx:pt>
          <cx:pt idx="150">43477</cx:pt>
          <cx:pt idx="151">43477</cx:pt>
          <cx:pt idx="152">43508</cx:pt>
          <cx:pt idx="153">43537</cx:pt>
          <cx:pt idx="154">43537</cx:pt>
          <cx:pt idx="155">43479</cx:pt>
          <cx:pt idx="156">43510</cx:pt>
          <cx:pt idx="157">43538</cx:pt>
          <cx:pt idx="158">43538</cx:pt>
          <cx:pt idx="159">43511</cx:pt>
          <cx:pt idx="160">43511</cx:pt>
          <cx:pt idx="161">43511</cx:pt>
          <cx:pt idx="162">43539</cx:pt>
          <cx:pt idx="163">43481</cx:pt>
          <cx:pt idx="164">43542</cx:pt>
          <cx:pt idx="165">43484</cx:pt>
          <cx:pt idx="166">43484</cx:pt>
          <cx:pt idx="167">43485</cx:pt>
          <cx:pt idx="168">43485</cx:pt>
          <cx:pt idx="169">43516</cx:pt>
          <cx:pt idx="170">43544</cx:pt>
          <cx:pt idx="171">43544</cx:pt>
          <cx:pt idx="172">43486</cx:pt>
          <cx:pt idx="173">43517</cx:pt>
          <cx:pt idx="174">43488</cx:pt>
          <cx:pt idx="175">43547</cx:pt>
          <cx:pt idx="176">43520</cx:pt>
          <cx:pt idx="177">43490</cx:pt>
          <cx:pt idx="178">43521</cx:pt>
          <cx:pt idx="179">43521</cx:pt>
          <cx:pt idx="180">43549</cx:pt>
          <cx:pt idx="181">43491</cx:pt>
          <cx:pt idx="182">43491</cx:pt>
          <cx:pt idx="183">43491</cx:pt>
          <cx:pt idx="184">43522</cx:pt>
          <cx:pt idx="185">43522</cx:pt>
          <cx:pt idx="186">43550</cx:pt>
          <cx:pt idx="187">43550</cx:pt>
          <cx:pt idx="188">43550</cx:pt>
          <cx:pt idx="189">43492</cx:pt>
          <cx:pt idx="190">43492</cx:pt>
          <cx:pt idx="191">43492</cx:pt>
          <cx:pt idx="192">43523</cx:pt>
          <cx:pt idx="193">43551</cx:pt>
          <cx:pt idx="194">43551</cx:pt>
          <cx:pt idx="195">43495</cx:pt>
          <cx:pt idx="196">43554</cx:pt>
          <cx:pt idx="197">43496</cx:pt>
          <cx:pt idx="198">43498</cx:pt>
          <cx:pt idx="199">43498</cx:pt>
          <cx:pt idx="200">43498</cx:pt>
          <cx:pt idx="201">43498</cx:pt>
          <cx:pt idx="202">43526</cx:pt>
          <cx:pt idx="203">43526</cx:pt>
          <cx:pt idx="204">43468</cx:pt>
          <cx:pt idx="205">43499</cx:pt>
          <cx:pt idx="206">43470</cx:pt>
          <cx:pt idx="207">43529</cx:pt>
          <cx:pt idx="208">43531</cx:pt>
          <cx:pt idx="209">43473</cx:pt>
          <cx:pt idx="210">43473</cx:pt>
          <cx:pt idx="211">43504</cx:pt>
          <cx:pt idx="212">43504</cx:pt>
          <cx:pt idx="213">43504</cx:pt>
          <cx:pt idx="214">43506</cx:pt>
          <cx:pt idx="215">43507</cx:pt>
          <cx:pt idx="216">43535</cx:pt>
          <cx:pt idx="217">43535</cx:pt>
          <cx:pt idx="218">43535</cx:pt>
          <cx:pt idx="219">43536</cx:pt>
          <cx:pt idx="220">43536</cx:pt>
          <cx:pt idx="221">43479</cx:pt>
          <cx:pt idx="222">43510</cx:pt>
          <cx:pt idx="223">43538</cx:pt>
          <cx:pt idx="224">43480</cx:pt>
          <cx:pt idx="225">43480</cx:pt>
          <cx:pt idx="226">43540</cx:pt>
          <cx:pt idx="227">43540</cx:pt>
          <cx:pt idx="228">43482</cx:pt>
          <cx:pt idx="229">43541</cx:pt>
          <cx:pt idx="230">43483</cx:pt>
          <cx:pt idx="231">43483</cx:pt>
          <cx:pt idx="232">43542</cx:pt>
          <cx:pt idx="233">43484</cx:pt>
          <cx:pt idx="234">43515</cx:pt>
          <cx:pt idx="235">43543</cx:pt>
          <cx:pt idx="236">43543</cx:pt>
          <cx:pt idx="237">43543</cx:pt>
          <cx:pt idx="238">43516</cx:pt>
          <cx:pt idx="239">43516</cx:pt>
          <cx:pt idx="240">43516</cx:pt>
          <cx:pt idx="241">43544</cx:pt>
          <cx:pt idx="242">43486</cx:pt>
          <cx:pt idx="243">43487</cx:pt>
          <cx:pt idx="244">43518</cx:pt>
          <cx:pt idx="245">43546</cx:pt>
          <cx:pt idx="246">43546</cx:pt>
          <cx:pt idx="247">43488</cx:pt>
          <cx:pt idx="248">43547</cx:pt>
          <cx:pt idx="249">43547</cx:pt>
          <cx:pt idx="250">43489</cx:pt>
          <cx:pt idx="251">43520</cx:pt>
          <cx:pt idx="252">43490</cx:pt>
          <cx:pt idx="253">43521</cx:pt>
          <cx:pt idx="254">43522</cx:pt>
          <cx:pt idx="255">43523</cx:pt>
          <cx:pt idx="256">43493</cx:pt>
          <cx:pt idx="257">43493</cx:pt>
          <cx:pt idx="258">43524</cx:pt>
          <cx:pt idx="259">43552</cx:pt>
          <cx:pt idx="260">43494</cx:pt>
          <cx:pt idx="261">43494</cx:pt>
          <cx:pt idx="262">43553</cx:pt>
          <cx:pt idx="263">43496</cx:pt>
          <cx:pt idx="264">43498</cx:pt>
          <cx:pt idx="265">43498</cx:pt>
          <cx:pt idx="266">43498</cx:pt>
          <cx:pt idx="267">43526</cx:pt>
          <cx:pt idx="268">43526</cx:pt>
          <cx:pt idx="269">43527</cx:pt>
          <cx:pt idx="270">43500</cx:pt>
          <cx:pt idx="271">43501</cx:pt>
          <cx:pt idx="272">43529</cx:pt>
          <cx:pt idx="273">43529</cx:pt>
          <cx:pt idx="274">43471</cx:pt>
          <cx:pt idx="275">43502</cx:pt>
          <cx:pt idx="276">43502</cx:pt>
          <cx:pt idx="277">43530</cx:pt>
          <cx:pt idx="278">43472</cx:pt>
          <cx:pt idx="279">43472</cx:pt>
          <cx:pt idx="280">43531</cx:pt>
          <cx:pt idx="281">43531</cx:pt>
          <cx:pt idx="282">43473</cx:pt>
          <cx:pt idx="283">43473</cx:pt>
          <cx:pt idx="284">43532</cx:pt>
          <cx:pt idx="285">43532</cx:pt>
          <cx:pt idx="286">43474</cx:pt>
          <cx:pt idx="287">43505</cx:pt>
          <cx:pt idx="288">43506</cx:pt>
          <cx:pt idx="289">43534</cx:pt>
          <cx:pt idx="290">43534</cx:pt>
          <cx:pt idx="291">43535</cx:pt>
          <cx:pt idx="292">43477</cx:pt>
          <cx:pt idx="293">43478</cx:pt>
          <cx:pt idx="294">43510</cx:pt>
          <cx:pt idx="295">43538</cx:pt>
          <cx:pt idx="296">43511</cx:pt>
          <cx:pt idx="297">43539</cx:pt>
          <cx:pt idx="298">43539</cx:pt>
          <cx:pt idx="299">43540</cx:pt>
          <cx:pt idx="300">43482</cx:pt>
          <cx:pt idx="301">43484</cx:pt>
          <cx:pt idx="302">43484</cx:pt>
          <cx:pt idx="303">43515</cx:pt>
          <cx:pt idx="304">43515</cx:pt>
          <cx:pt idx="305">43516</cx:pt>
          <cx:pt idx="306">43544</cx:pt>
          <cx:pt idx="307">43544</cx:pt>
          <cx:pt idx="308">43544</cx:pt>
          <cx:pt idx="309">43486</cx:pt>
          <cx:pt idx="310">43517</cx:pt>
          <cx:pt idx="311">43518</cx:pt>
          <cx:pt idx="312">43547</cx:pt>
          <cx:pt idx="313">43548</cx:pt>
          <cx:pt idx="314">43490</cx:pt>
          <cx:pt idx="315">43490</cx:pt>
          <cx:pt idx="316">43490</cx:pt>
          <cx:pt idx="317">43491</cx:pt>
          <cx:pt idx="318">43550</cx:pt>
          <cx:pt idx="319">43550</cx:pt>
          <cx:pt idx="320">43523</cx:pt>
          <cx:pt idx="321">43551</cx:pt>
          <cx:pt idx="322">43493</cx:pt>
          <cx:pt idx="323">43524</cx:pt>
          <cx:pt idx="324">43552</cx:pt>
          <cx:pt idx="325">43553</cx:pt>
          <cx:pt idx="326">43553</cx:pt>
          <cx:pt idx="327">43495</cx:pt>
          <cx:pt idx="328">43554</cx:pt>
          <cx:pt idx="329">43554</cx:pt>
          <cx:pt idx="330">43526</cx:pt>
          <cx:pt idx="331">43499</cx:pt>
          <cx:pt idx="332">43499</cx:pt>
          <cx:pt idx="333">43527</cx:pt>
          <cx:pt idx="334">43469</cx:pt>
          <cx:pt idx="335">43500</cx:pt>
          <cx:pt idx="336">43528</cx:pt>
          <cx:pt idx="337">43470</cx:pt>
          <cx:pt idx="338">43470</cx:pt>
          <cx:pt idx="339">43529</cx:pt>
          <cx:pt idx="340">43529</cx:pt>
          <cx:pt idx="341">43529</cx:pt>
          <cx:pt idx="342">43530</cx:pt>
          <cx:pt idx="343">43530</cx:pt>
          <cx:pt idx="344">43472</cx:pt>
          <cx:pt idx="345">43503</cx:pt>
          <cx:pt idx="346">43503</cx:pt>
          <cx:pt idx="347">43473</cx:pt>
          <cx:pt idx="348">43473</cx:pt>
          <cx:pt idx="349">43504</cx:pt>
          <cx:pt idx="350">43474</cx:pt>
          <cx:pt idx="351">43474</cx:pt>
          <cx:pt idx="352">43505</cx:pt>
          <cx:pt idx="353">43475</cx:pt>
          <cx:pt idx="354">43534</cx:pt>
          <cx:pt idx="355">43535</cx:pt>
          <cx:pt idx="356">43477</cx:pt>
          <cx:pt idx="357">43477</cx:pt>
          <cx:pt idx="358">43508</cx:pt>
          <cx:pt idx="359">43509</cx:pt>
          <cx:pt idx="360">43509</cx:pt>
          <cx:pt idx="361">43509</cx:pt>
          <cx:pt idx="362">43538</cx:pt>
          <cx:pt idx="363">43480</cx:pt>
          <cx:pt idx="364">43511</cx:pt>
          <cx:pt idx="365">43511</cx:pt>
          <cx:pt idx="366">43511</cx:pt>
          <cx:pt idx="367">43539</cx:pt>
          <cx:pt idx="368">43481</cx:pt>
          <cx:pt idx="369">43512</cx:pt>
          <cx:pt idx="370">43513</cx:pt>
          <cx:pt idx="371">43541</cx:pt>
          <cx:pt idx="372">43483</cx:pt>
          <cx:pt idx="373">43514</cx:pt>
          <cx:pt idx="374">43543</cx:pt>
          <cx:pt idx="375">43543</cx:pt>
          <cx:pt idx="376">43543</cx:pt>
          <cx:pt idx="377">43517</cx:pt>
          <cx:pt idx="378">43518</cx:pt>
          <cx:pt idx="379">43488</cx:pt>
          <cx:pt idx="380">43488</cx:pt>
          <cx:pt idx="381">43488</cx:pt>
          <cx:pt idx="382">43519</cx:pt>
          <cx:pt idx="383">43489</cx:pt>
          <cx:pt idx="384">43489</cx:pt>
          <cx:pt idx="385">43548</cx:pt>
          <cx:pt idx="386">43490</cx:pt>
          <cx:pt idx="387">43491</cx:pt>
          <cx:pt idx="388">43550</cx:pt>
          <cx:pt idx="389">43492</cx:pt>
          <cx:pt idx="390">43492</cx:pt>
          <cx:pt idx="391">43524</cx:pt>
          <cx:pt idx="392">43494</cx:pt>
          <cx:pt idx="393">43494</cx:pt>
          <cx:pt idx="394">43554</cx:pt>
          <cx:pt idx="395">43554</cx:pt>
          <cx:pt idx="396">43526</cx:pt>
          <cx:pt idx="397">43526</cx:pt>
          <cx:pt idx="398">43526</cx:pt>
          <cx:pt idx="399">43527</cx:pt>
          <cx:pt idx="400">43527</cx:pt>
          <cx:pt idx="401">43469</cx:pt>
          <cx:pt idx="402">43528</cx:pt>
          <cx:pt idx="403">43528</cx:pt>
          <cx:pt idx="404">43529</cx:pt>
          <cx:pt idx="405">43529</cx:pt>
          <cx:pt idx="406">43529</cx:pt>
          <cx:pt idx="407">43471</cx:pt>
          <cx:pt idx="408">43502</cx:pt>
          <cx:pt idx="409">43530</cx:pt>
          <cx:pt idx="410">43472</cx:pt>
          <cx:pt idx="411">43472</cx:pt>
          <cx:pt idx="412">43473</cx:pt>
          <cx:pt idx="413">43473</cx:pt>
          <cx:pt idx="414">43473</cx:pt>
          <cx:pt idx="415">43533</cx:pt>
          <cx:pt idx="416">43533</cx:pt>
          <cx:pt idx="417">43506</cx:pt>
          <cx:pt idx="418">43534</cx:pt>
          <cx:pt idx="419">43534</cx:pt>
          <cx:pt idx="420">43476</cx:pt>
          <cx:pt idx="421">43476</cx:pt>
          <cx:pt idx="422">43507</cx:pt>
          <cx:pt idx="423">43477</cx:pt>
          <cx:pt idx="424">43536</cx:pt>
          <cx:pt idx="425">43478</cx:pt>
          <cx:pt idx="426">43478</cx:pt>
          <cx:pt idx="427">43509</cx:pt>
          <cx:pt idx="428">43537</cx:pt>
          <cx:pt idx="429">43538</cx:pt>
          <cx:pt idx="430">43480</cx:pt>
          <cx:pt idx="431">43481</cx:pt>
          <cx:pt idx="432">43481</cx:pt>
          <cx:pt idx="433">43513</cx:pt>
          <cx:pt idx="434">43483</cx:pt>
          <cx:pt idx="435">43483</cx:pt>
          <cx:pt idx="436">43543</cx:pt>
          <cx:pt idx="437">43543</cx:pt>
          <cx:pt idx="438">43485</cx:pt>
          <cx:pt idx="439">43516</cx:pt>
          <cx:pt idx="440">43486</cx:pt>
          <cx:pt idx="441">43517</cx:pt>
          <cx:pt idx="442">43545</cx:pt>
          <cx:pt idx="443">43487</cx:pt>
          <cx:pt idx="444">43518</cx:pt>
          <cx:pt idx="445">43546</cx:pt>
          <cx:pt idx="446">43490</cx:pt>
          <cx:pt idx="447">43521</cx:pt>
          <cx:pt idx="448">43521</cx:pt>
          <cx:pt idx="449">43549</cx:pt>
          <cx:pt idx="450">43549</cx:pt>
          <cx:pt idx="451">43491</cx:pt>
          <cx:pt idx="452">43491</cx:pt>
          <cx:pt idx="453">43491</cx:pt>
          <cx:pt idx="454">43522</cx:pt>
          <cx:pt idx="455">43550</cx:pt>
          <cx:pt idx="456">43492</cx:pt>
          <cx:pt idx="457">43523</cx:pt>
          <cx:pt idx="458">43493</cx:pt>
          <cx:pt idx="459">43493</cx:pt>
          <cx:pt idx="460">43552</cx:pt>
          <cx:pt idx="461">43494</cx:pt>
          <cx:pt idx="462">43497</cx:pt>
          <cx:pt idx="463">43497</cx:pt>
          <cx:pt idx="464">43525</cx:pt>
          <cx:pt idx="465">43498</cx:pt>
          <cx:pt idx="466">43526</cx:pt>
          <cx:pt idx="467">43527</cx:pt>
          <cx:pt idx="468">43527</cx:pt>
          <cx:pt idx="469">43470</cx:pt>
          <cx:pt idx="470">43471</cx:pt>
          <cx:pt idx="471">43471</cx:pt>
          <cx:pt idx="472">43503</cx:pt>
          <cx:pt idx="473">43503</cx:pt>
          <cx:pt idx="474">43503</cx:pt>
          <cx:pt idx="475">43503</cx:pt>
          <cx:pt idx="476">43503</cx:pt>
          <cx:pt idx="477">43531</cx:pt>
          <cx:pt idx="478">43532</cx:pt>
          <cx:pt idx="479">43474</cx:pt>
          <cx:pt idx="480">43533</cx:pt>
          <cx:pt idx="481">43533</cx:pt>
          <cx:pt idx="482">43506</cx:pt>
          <cx:pt idx="483">43534</cx:pt>
          <cx:pt idx="484">43535</cx:pt>
          <cx:pt idx="485">43477</cx:pt>
          <cx:pt idx="486">43508</cx:pt>
          <cx:pt idx="487">43536</cx:pt>
          <cx:pt idx="488">43536</cx:pt>
          <cx:pt idx="489">43510</cx:pt>
          <cx:pt idx="490">43510</cx:pt>
          <cx:pt idx="491">43538</cx:pt>
          <cx:pt idx="492">43538</cx:pt>
          <cx:pt idx="493">43538</cx:pt>
          <cx:pt idx="494">43480</cx:pt>
          <cx:pt idx="495">43480</cx:pt>
          <cx:pt idx="496">43512</cx:pt>
          <cx:pt idx="497">43483</cx:pt>
          <cx:pt idx="498">43514</cx:pt>
          <cx:pt idx="499">43542</cx:pt>
          <cx:pt idx="500">43484</cx:pt>
          <cx:pt idx="501">43484</cx:pt>
          <cx:pt idx="502">43484</cx:pt>
          <cx:pt idx="503">43543</cx:pt>
          <cx:pt idx="504">43516</cx:pt>
          <cx:pt idx="505">43544</cx:pt>
          <cx:pt idx="506">43487</cx:pt>
          <cx:pt idx="507">43546</cx:pt>
          <cx:pt idx="508">43546</cx:pt>
          <cx:pt idx="509">43488</cx:pt>
          <cx:pt idx="510">43489</cx:pt>
          <cx:pt idx="511">43489</cx:pt>
          <cx:pt idx="512">43489</cx:pt>
          <cx:pt idx="513">43489</cx:pt>
          <cx:pt idx="514">43548</cx:pt>
          <cx:pt idx="515">43490</cx:pt>
          <cx:pt idx="516">43521</cx:pt>
          <cx:pt idx="517">43521</cx:pt>
          <cx:pt idx="518">43521</cx:pt>
          <cx:pt idx="519">43549</cx:pt>
          <cx:pt idx="520">43491</cx:pt>
          <cx:pt idx="521">43550</cx:pt>
          <cx:pt idx="522">43523</cx:pt>
          <cx:pt idx="523">43523</cx:pt>
          <cx:pt idx="524">43523</cx:pt>
          <cx:pt idx="525">43552</cx:pt>
          <cx:pt idx="526">43552</cx:pt>
          <cx:pt idx="527">43496</cx:pt>
          <cx:pt idx="528">43525</cx:pt>
          <cx:pt idx="529">43525</cx:pt>
          <cx:pt idx="530">43526</cx:pt>
          <cx:pt idx="531">43468</cx:pt>
          <cx:pt idx="532">43468</cx:pt>
          <cx:pt idx="533">43499</cx:pt>
          <cx:pt idx="534">43500</cx:pt>
          <cx:pt idx="535">43528</cx:pt>
          <cx:pt idx="536">43528</cx:pt>
          <cx:pt idx="537">43501</cx:pt>
          <cx:pt idx="538">43501</cx:pt>
          <cx:pt idx="539">43529</cx:pt>
          <cx:pt idx="540">43502</cx:pt>
          <cx:pt idx="541">43502</cx:pt>
          <cx:pt idx="542">43530</cx:pt>
          <cx:pt idx="543">43530</cx:pt>
          <cx:pt idx="544">43472</cx:pt>
          <cx:pt idx="545">43503</cx:pt>
          <cx:pt idx="546">43531</cx:pt>
          <cx:pt idx="547">43504</cx:pt>
          <cx:pt idx="548">43504</cx:pt>
          <cx:pt idx="549">43504</cx:pt>
          <cx:pt idx="550">43532</cx:pt>
          <cx:pt idx="551">43533</cx:pt>
          <cx:pt idx="552">43533</cx:pt>
          <cx:pt idx="553">43475</cx:pt>
          <cx:pt idx="554">43506</cx:pt>
          <cx:pt idx="555">43506</cx:pt>
          <cx:pt idx="556">43476</cx:pt>
          <cx:pt idx="557">43535</cx:pt>
          <cx:pt idx="558">43536</cx:pt>
          <cx:pt idx="559">43509</cx:pt>
          <cx:pt idx="560">43537</cx:pt>
          <cx:pt idx="561">43537</cx:pt>
          <cx:pt idx="562">43538</cx:pt>
          <cx:pt idx="563">43539</cx:pt>
          <cx:pt idx="564">43481</cx:pt>
          <cx:pt idx="565">43512</cx:pt>
          <cx:pt idx="566">43540</cx:pt>
          <cx:pt idx="567">43540</cx:pt>
          <cx:pt idx="568">43482</cx:pt>
          <cx:pt idx="569">43513</cx:pt>
          <cx:pt idx="570">43484</cx:pt>
          <cx:pt idx="571">43544</cx:pt>
          <cx:pt idx="572">43486</cx:pt>
          <cx:pt idx="573">43518</cx:pt>
          <cx:pt idx="574">43518</cx:pt>
          <cx:pt idx="575">43546</cx:pt>
          <cx:pt idx="576">43488</cx:pt>
          <cx:pt idx="577">43488</cx:pt>
          <cx:pt idx="578">43519</cx:pt>
          <cx:pt idx="579">43547</cx:pt>
          <cx:pt idx="580">43520</cx:pt>
          <cx:pt idx="581">43548</cx:pt>
          <cx:pt idx="582">43548</cx:pt>
          <cx:pt idx="583">43490</cx:pt>
          <cx:pt idx="584">43521</cx:pt>
          <cx:pt idx="585">43491</cx:pt>
          <cx:pt idx="586">43492</cx:pt>
          <cx:pt idx="587">43551</cx:pt>
          <cx:pt idx="588">43552</cx:pt>
          <cx:pt idx="589">43552</cx:pt>
          <cx:pt idx="590">43553</cx:pt>
          <cx:pt idx="591">43495</cx:pt>
          <cx:pt idx="592">43496</cx:pt>
          <cx:pt idx="593">43496</cx:pt>
          <cx:pt idx="594">43525</cx:pt>
          <cx:pt idx="595">43467</cx:pt>
          <cx:pt idx="596">43467</cx:pt>
          <cx:pt idx="597">43499</cx:pt>
          <cx:pt idx="598">43500</cx:pt>
          <cx:pt idx="599">43470</cx:pt>
          <cx:pt idx="600">43529</cx:pt>
          <cx:pt idx="601">43502</cx:pt>
          <cx:pt idx="602">43530</cx:pt>
          <cx:pt idx="603">43503</cx:pt>
          <cx:pt idx="604">43503</cx:pt>
          <cx:pt idx="605">43503</cx:pt>
          <cx:pt idx="606">43531</cx:pt>
          <cx:pt idx="607">43473</cx:pt>
          <cx:pt idx="608">43504</cx:pt>
          <cx:pt idx="609">43532</cx:pt>
          <cx:pt idx="610">43533</cx:pt>
          <cx:pt idx="611">43533</cx:pt>
          <cx:pt idx="612">43533</cx:pt>
          <cx:pt idx="613">43475</cx:pt>
          <cx:pt idx="614">43534</cx:pt>
          <cx:pt idx="615">43476</cx:pt>
          <cx:pt idx="616">43476</cx:pt>
          <cx:pt idx="617">43507</cx:pt>
          <cx:pt idx="618">43507</cx:pt>
          <cx:pt idx="619">43535</cx:pt>
          <cx:pt idx="620">43478</cx:pt>
          <cx:pt idx="621">43478</cx:pt>
          <cx:pt idx="622">43537</cx:pt>
          <cx:pt idx="623">43479</cx:pt>
          <cx:pt idx="624">43510</cx:pt>
          <cx:pt idx="625">43510</cx:pt>
          <cx:pt idx="626">43538</cx:pt>
          <cx:pt idx="627">43538</cx:pt>
          <cx:pt idx="628">43480</cx:pt>
          <cx:pt idx="629">43511</cx:pt>
          <cx:pt idx="630">43511</cx:pt>
          <cx:pt idx="631">43539</cx:pt>
          <cx:pt idx="632">43539</cx:pt>
          <cx:pt idx="633">43481</cx:pt>
          <cx:pt idx="634">43481</cx:pt>
          <cx:pt idx="635">43512</cx:pt>
          <cx:pt idx="636">43482</cx:pt>
          <cx:pt idx="637">43541</cx:pt>
          <cx:pt idx="638">43515</cx:pt>
          <cx:pt idx="639">43515</cx:pt>
          <cx:pt idx="640">43515</cx:pt>
          <cx:pt idx="641">43485</cx:pt>
          <cx:pt idx="642">43485</cx:pt>
          <cx:pt idx="643">43519</cx:pt>
          <cx:pt idx="644">43519</cx:pt>
          <cx:pt idx="645">43489</cx:pt>
          <cx:pt idx="646">43489</cx:pt>
          <cx:pt idx="647">43520</cx:pt>
          <cx:pt idx="648">43520</cx:pt>
          <cx:pt idx="649">43490</cx:pt>
          <cx:pt idx="650">43521</cx:pt>
          <cx:pt idx="651">43522</cx:pt>
          <cx:pt idx="652">43550</cx:pt>
          <cx:pt idx="653">43492</cx:pt>
          <cx:pt idx="654">43493</cx:pt>
          <cx:pt idx="655">43552</cx:pt>
          <cx:pt idx="656">43494</cx:pt>
          <cx:pt idx="657">43494</cx:pt>
          <cx:pt idx="658">43495</cx:pt>
          <cx:pt idx="659">43496</cx:pt>
          <cx:pt idx="660">43525</cx:pt>
          <cx:pt idx="661">43525</cx:pt>
          <cx:pt idx="662">43525</cx:pt>
          <cx:pt idx="663">43467</cx:pt>
          <cx:pt idx="664">43467</cx:pt>
          <cx:pt idx="665">43498</cx:pt>
          <cx:pt idx="666">43468</cx:pt>
          <cx:pt idx="667">43468</cx:pt>
          <cx:pt idx="668">43527</cx:pt>
          <cx:pt idx="669">43500</cx:pt>
          <cx:pt idx="670">43500</cx:pt>
          <cx:pt idx="671">43528</cx:pt>
          <cx:pt idx="672">43528</cx:pt>
          <cx:pt idx="673">43470</cx:pt>
          <cx:pt idx="674">43501</cx:pt>
          <cx:pt idx="675">43502</cx:pt>
          <cx:pt idx="676">43472</cx:pt>
          <cx:pt idx="677">43503</cx:pt>
          <cx:pt idx="678">43532</cx:pt>
          <cx:pt idx="679">43532</cx:pt>
          <cx:pt idx="680">43478</cx:pt>
          <cx:pt idx="681">43509</cx:pt>
          <cx:pt idx="682">43538</cx:pt>
          <cx:pt idx="683">43538</cx:pt>
          <cx:pt idx="684">43480</cx:pt>
          <cx:pt idx="685">43511</cx:pt>
          <cx:pt idx="686">43511</cx:pt>
          <cx:pt idx="687">43540</cx:pt>
          <cx:pt idx="688">43482</cx:pt>
          <cx:pt idx="689">43541</cx:pt>
          <cx:pt idx="690">43483</cx:pt>
          <cx:pt idx="691">43514</cx:pt>
          <cx:pt idx="692">43542</cx:pt>
          <cx:pt idx="693">43484</cx:pt>
          <cx:pt idx="694">43484</cx:pt>
          <cx:pt idx="695">43484</cx:pt>
          <cx:pt idx="696">43484</cx:pt>
          <cx:pt idx="697">43515</cx:pt>
          <cx:pt idx="698">43543</cx:pt>
          <cx:pt idx="699">43544</cx:pt>
          <cx:pt idx="700">43487</cx:pt>
          <cx:pt idx="701">43518</cx:pt>
          <cx:pt idx="702">43488</cx:pt>
          <cx:pt idx="703">43488</cx:pt>
          <cx:pt idx="704">43519</cx:pt>
          <cx:pt idx="705">43519</cx:pt>
          <cx:pt idx="706">43519</cx:pt>
          <cx:pt idx="707">43519</cx:pt>
          <cx:pt idx="708">43547</cx:pt>
          <cx:pt idx="709">43547</cx:pt>
          <cx:pt idx="710">43547</cx:pt>
          <cx:pt idx="711">43489</cx:pt>
          <cx:pt idx="712">43490</cx:pt>
          <cx:pt idx="713">43490</cx:pt>
          <cx:pt idx="714">43550</cx:pt>
          <cx:pt idx="715">43492</cx:pt>
          <cx:pt idx="716">43492</cx:pt>
          <cx:pt idx="717">43523</cx:pt>
          <cx:pt idx="718">43551</cx:pt>
          <cx:pt idx="719">43493</cx:pt>
          <cx:pt idx="720">43493</cx:pt>
          <cx:pt idx="721">43552</cx:pt>
          <cx:pt idx="722">43494</cx:pt>
          <cx:pt idx="723">43553</cx:pt>
          <cx:pt idx="724">43496</cx:pt>
          <cx:pt idx="725">43526</cx:pt>
          <cx:pt idx="726">43526</cx:pt>
          <cx:pt idx="727">43499</cx:pt>
          <cx:pt idx="728">43499</cx:pt>
          <cx:pt idx="729">43499</cx:pt>
          <cx:pt idx="730">43527</cx:pt>
          <cx:pt idx="731">43527</cx:pt>
          <cx:pt idx="732">43500</cx:pt>
          <cx:pt idx="733">43528</cx:pt>
          <cx:pt idx="734">43470</cx:pt>
          <cx:pt idx="735">43501</cx:pt>
          <cx:pt idx="736">43471</cx:pt>
          <cx:pt idx="737">43530</cx:pt>
          <cx:pt idx="738">43503</cx:pt>
          <cx:pt idx="739">43503</cx:pt>
          <cx:pt idx="740">43531</cx:pt>
          <cx:pt idx="741">43531</cx:pt>
          <cx:pt idx="742">43473</cx:pt>
          <cx:pt idx="743">43473</cx:pt>
          <cx:pt idx="744">43474</cx:pt>
          <cx:pt idx="745">43474</cx:pt>
          <cx:pt idx="746">43505</cx:pt>
          <cx:pt idx="747">43505</cx:pt>
          <cx:pt idx="748">43505</cx:pt>
          <cx:pt idx="749">43533</cx:pt>
          <cx:pt idx="750">43475</cx:pt>
          <cx:pt idx="751">43506</cx:pt>
          <cx:pt idx="752">43506</cx:pt>
          <cx:pt idx="753">43534</cx:pt>
          <cx:pt idx="754">43534</cx:pt>
          <cx:pt idx="755">43476</cx:pt>
          <cx:pt idx="756">43508</cx:pt>
          <cx:pt idx="757">43508</cx:pt>
          <cx:pt idx="758">43537</cx:pt>
          <cx:pt idx="759">43479</cx:pt>
          <cx:pt idx="760">43538</cx:pt>
          <cx:pt idx="761">43538</cx:pt>
          <cx:pt idx="762">43538</cx:pt>
          <cx:pt idx="763">43511</cx:pt>
          <cx:pt idx="764">43511</cx:pt>
          <cx:pt idx="765">43539</cx:pt>
          <cx:pt idx="766">43540</cx:pt>
          <cx:pt idx="767">43482</cx:pt>
          <cx:pt idx="768">43513</cx:pt>
          <cx:pt idx="769">43514</cx:pt>
          <cx:pt idx="770">43542</cx:pt>
          <cx:pt idx="771">43485</cx:pt>
          <cx:pt idx="772">43544</cx:pt>
          <cx:pt idx="773">43545</cx:pt>
          <cx:pt idx="774">43545</cx:pt>
          <cx:pt idx="775">43487</cx:pt>
          <cx:pt idx="776">43488</cx:pt>
          <cx:pt idx="777">43548</cx:pt>
          <cx:pt idx="778">43490</cx:pt>
          <cx:pt idx="779">43490</cx:pt>
          <cx:pt idx="780">43521</cx:pt>
          <cx:pt idx="781">43491</cx:pt>
          <cx:pt idx="782">43522</cx:pt>
          <cx:pt idx="783">43550</cx:pt>
          <cx:pt idx="784">43550</cx:pt>
          <cx:pt idx="785">43492</cx:pt>
          <cx:pt idx="786">43551</cx:pt>
          <cx:pt idx="787">43493</cx:pt>
          <cx:pt idx="788">43493</cx:pt>
          <cx:pt idx="789">43554</cx:pt>
          <cx:pt idx="790">43526</cx:pt>
          <cx:pt idx="791">43499</cx:pt>
          <cx:pt idx="792">43499</cx:pt>
          <cx:pt idx="793">43527</cx:pt>
          <cx:pt idx="794">43469</cx:pt>
          <cx:pt idx="795">43500</cx:pt>
          <cx:pt idx="796">43528</cx:pt>
          <cx:pt idx="797">43470</cx:pt>
          <cx:pt idx="798">43501</cx:pt>
          <cx:pt idx="799">43529</cx:pt>
          <cx:pt idx="800">43529</cx:pt>
          <cx:pt idx="801">43471</cx:pt>
          <cx:pt idx="802">43530</cx:pt>
          <cx:pt idx="803">43472</cx:pt>
          <cx:pt idx="804">43473</cx:pt>
          <cx:pt idx="805">43504</cx:pt>
          <cx:pt idx="806">43504</cx:pt>
          <cx:pt idx="807">43474</cx:pt>
          <cx:pt idx="808">43505</cx:pt>
          <cx:pt idx="809">43533</cx:pt>
          <cx:pt idx="810">43533</cx:pt>
          <cx:pt idx="811">43476</cx:pt>
          <cx:pt idx="812">43476</cx:pt>
          <cx:pt idx="813">43477</cx:pt>
          <cx:pt idx="814">43508</cx:pt>
          <cx:pt idx="815">43508</cx:pt>
          <cx:pt idx="816">43536</cx:pt>
          <cx:pt idx="817">43509</cx:pt>
          <cx:pt idx="818">43509</cx:pt>
          <cx:pt idx="819">43479</cx:pt>
          <cx:pt idx="820">43479</cx:pt>
          <cx:pt idx="821">43480</cx:pt>
          <cx:pt idx="822">43511</cx:pt>
          <cx:pt idx="823">43481</cx:pt>
          <cx:pt idx="824">43482</cx:pt>
          <cx:pt idx="825">43513</cx:pt>
          <cx:pt idx="826">43541</cx:pt>
          <cx:pt idx="827">43483</cx:pt>
          <cx:pt idx="828">43514</cx:pt>
          <cx:pt idx="829">43542</cx:pt>
          <cx:pt idx="830">43484</cx:pt>
          <cx:pt idx="831">43484</cx:pt>
          <cx:pt idx="832">43485</cx:pt>
          <cx:pt idx="833">43485</cx:pt>
          <cx:pt idx="834">43516</cx:pt>
          <cx:pt idx="835">43516</cx:pt>
          <cx:pt idx="836">43544</cx:pt>
          <cx:pt idx="837">43486</cx:pt>
          <cx:pt idx="838">43487</cx:pt>
          <cx:pt idx="839">43518</cx:pt>
          <cx:pt idx="840">43546</cx:pt>
          <cx:pt idx="841">43488</cx:pt>
          <cx:pt idx="842">43489</cx:pt>
          <cx:pt idx="843">43520</cx:pt>
          <cx:pt idx="844">43549</cx:pt>
          <cx:pt idx="845">43549</cx:pt>
          <cx:pt idx="846">43523</cx:pt>
          <cx:pt idx="847">43523</cx:pt>
          <cx:pt idx="848">43523</cx:pt>
          <cx:pt idx="849">43493</cx:pt>
          <cx:pt idx="850">43524</cx:pt>
          <cx:pt idx="851">43494</cx:pt>
          <cx:pt idx="852">43496</cx:pt>
          <cx:pt idx="853">43496</cx:pt>
          <cx:pt idx="854">43496</cx:pt>
          <cx:pt idx="855">43466</cx:pt>
          <cx:pt idx="856">43497</cx:pt>
          <cx:pt idx="857">43525</cx:pt>
          <cx:pt idx="858">43525</cx:pt>
          <cx:pt idx="859">43468</cx:pt>
          <cx:pt idx="860">43527</cx:pt>
          <cx:pt idx="861">43501</cx:pt>
          <cx:pt idx="862">43529</cx:pt>
          <cx:pt idx="863">43471</cx:pt>
          <cx:pt idx="864">43471</cx:pt>
          <cx:pt idx="865">43502</cx:pt>
          <cx:pt idx="866">43502</cx:pt>
          <cx:pt idx="867">43503</cx:pt>
          <cx:pt idx="868">43531</cx:pt>
          <cx:pt idx="869">43473</cx:pt>
          <cx:pt idx="870">43473</cx:pt>
          <cx:pt idx="871">43473</cx:pt>
          <cx:pt idx="872">43473</cx:pt>
          <cx:pt idx="873">43532</cx:pt>
          <cx:pt idx="874">43505</cx:pt>
          <cx:pt idx="875">43533</cx:pt>
          <cx:pt idx="876">43475</cx:pt>
          <cx:pt idx="877">43534</cx:pt>
          <cx:pt idx="878">43478</cx:pt>
          <cx:pt idx="879">43478</cx:pt>
          <cx:pt idx="880">43537</cx:pt>
          <cx:pt idx="881">43479</cx:pt>
          <cx:pt idx="882">43511</cx:pt>
          <cx:pt idx="883">43539</cx:pt>
          <cx:pt idx="884">43539</cx:pt>
          <cx:pt idx="885">43481</cx:pt>
          <cx:pt idx="886">43540</cx:pt>
          <cx:pt idx="887">43513</cx:pt>
          <cx:pt idx="888">43513</cx:pt>
          <cx:pt idx="889">43513</cx:pt>
          <cx:pt idx="890">43513</cx:pt>
          <cx:pt idx="891">43514</cx:pt>
          <cx:pt idx="892">43542</cx:pt>
          <cx:pt idx="893">43485</cx:pt>
          <cx:pt idx="894">43544</cx:pt>
          <cx:pt idx="895">43544</cx:pt>
          <cx:pt idx="896">43517</cx:pt>
          <cx:pt idx="897">43545</cx:pt>
          <cx:pt idx="898">43545</cx:pt>
          <cx:pt idx="899">43546</cx:pt>
          <cx:pt idx="900">43488</cx:pt>
          <cx:pt idx="901">43547</cx:pt>
          <cx:pt idx="902">43489</cx:pt>
          <cx:pt idx="903">43490</cx:pt>
          <cx:pt idx="904">43521</cx:pt>
          <cx:pt idx="905">43521</cx:pt>
          <cx:pt idx="906">43491</cx:pt>
          <cx:pt idx="907">43522</cx:pt>
          <cx:pt idx="908">43523</cx:pt>
          <cx:pt idx="909">43551</cx:pt>
          <cx:pt idx="910">43493</cx:pt>
          <cx:pt idx="911">43493</cx:pt>
          <cx:pt idx="912">43524</cx:pt>
          <cx:pt idx="913">43552</cx:pt>
          <cx:pt idx="914">43553</cx:pt>
          <cx:pt idx="915">43495</cx:pt>
          <cx:pt idx="916">43495</cx:pt>
          <cx:pt idx="917">43554</cx:pt>
          <cx:pt idx="918">43554</cx:pt>
          <cx:pt idx="919">43496</cx:pt>
          <cx:pt idx="920">43497</cx:pt>
          <cx:pt idx="921">43498</cx:pt>
          <cx:pt idx="922">43468</cx:pt>
          <cx:pt idx="923">43527</cx:pt>
          <cx:pt idx="924">43469</cx:pt>
          <cx:pt idx="925">43528</cx:pt>
          <cx:pt idx="926">43528</cx:pt>
          <cx:pt idx="927">43528</cx:pt>
          <cx:pt idx="928">43501</cx:pt>
          <cx:pt idx="929">43502</cx:pt>
          <cx:pt idx="930">43473</cx:pt>
          <cx:pt idx="931">43504</cx:pt>
          <cx:pt idx="932">43532</cx:pt>
          <cx:pt idx="933">43474</cx:pt>
          <cx:pt idx="934">43505</cx:pt>
          <cx:pt idx="935">43505</cx:pt>
          <cx:pt idx="936">43475</cx:pt>
          <cx:pt idx="937">43534</cx:pt>
          <cx:pt idx="938">43507</cx:pt>
          <cx:pt idx="939">43507</cx:pt>
          <cx:pt idx="940">43477</cx:pt>
          <cx:pt idx="941">43536</cx:pt>
          <cx:pt idx="942">43536</cx:pt>
          <cx:pt idx="943">43536</cx:pt>
          <cx:pt idx="944">43537</cx:pt>
          <cx:pt idx="945">43480</cx:pt>
          <cx:pt idx="946">43511</cx:pt>
          <cx:pt idx="947">43539</cx:pt>
          <cx:pt idx="948">43512</cx:pt>
          <cx:pt idx="949">43512</cx:pt>
          <cx:pt idx="950">43513</cx:pt>
          <cx:pt idx="951">43541</cx:pt>
          <cx:pt idx="952">43515</cx:pt>
          <cx:pt idx="953">43543</cx:pt>
          <cx:pt idx="954">43543</cx:pt>
          <cx:pt idx="955">43485</cx:pt>
          <cx:pt idx="956">43516</cx:pt>
          <cx:pt idx="957">43486</cx:pt>
          <cx:pt idx="958">43517</cx:pt>
          <cx:pt idx="959">43518</cx:pt>
          <cx:pt idx="960">43546</cx:pt>
          <cx:pt idx="961">43546</cx:pt>
          <cx:pt idx="962">43488</cx:pt>
          <cx:pt idx="963">43488</cx:pt>
          <cx:pt idx="964">43547</cx:pt>
          <cx:pt idx="965">43547</cx:pt>
          <cx:pt idx="966">43489</cx:pt>
          <cx:pt idx="967">43520</cx:pt>
          <cx:pt idx="968">43548</cx:pt>
          <cx:pt idx="969">43521</cx:pt>
          <cx:pt idx="970">43521</cx:pt>
          <cx:pt idx="971">43491</cx:pt>
          <cx:pt idx="972">43522</cx:pt>
          <cx:pt idx="973">43550</cx:pt>
          <cx:pt idx="974">43492</cx:pt>
          <cx:pt idx="975">43492</cx:pt>
          <cx:pt idx="976">43523</cx:pt>
          <cx:pt idx="977">43493</cx:pt>
          <cx:pt idx="978">43524</cx:pt>
          <cx:pt idx="979">43494</cx:pt>
          <cx:pt idx="980">43494</cx:pt>
          <cx:pt idx="981">43553</cx:pt>
          <cx:pt idx="982">43554</cx:pt>
          <cx:pt idx="983">43496</cx:pt>
          <cx:pt idx="984">43496</cx:pt>
        </cx:lvl>
      </cx:numDim>
    </cx:data>
    <cx:data id="2">
      <cx:numDim type="val">
        <cx:f>'walmart task 8'!$C$2:$C$986</cx:f>
        <cx:lvl ptCount="985" formatCode="dd-mm-yyyy">
          <cx:pt idx="0">43498</cx:pt>
          <cx:pt idx="1">43498</cx:pt>
          <cx:pt idx="2">43526</cx:pt>
          <cx:pt idx="3">43526</cx:pt>
          <cx:pt idx="4">43527</cx:pt>
          <cx:pt idx="5">43500</cx:pt>
          <cx:pt idx="6">43500</cx:pt>
          <cx:pt idx="7">43470</cx:pt>
          <cx:pt idx="8">43501</cx:pt>
          <cx:pt idx="9">43501</cx:pt>
          <cx:pt idx="10">43501</cx:pt>
          <cx:pt idx="11">43501</cx:pt>
          <cx:pt idx="12">43529</cx:pt>
          <cx:pt idx="13">43471</cx:pt>
          <cx:pt idx="14">43502</cx:pt>
          <cx:pt idx="15">43502</cx:pt>
          <cx:pt idx="16">43530</cx:pt>
          <cx:pt idx="17">43503</cx:pt>
          <cx:pt idx="18">43504</cx:pt>
          <cx:pt idx="19">43532</cx:pt>
          <cx:pt idx="20">43505</cx:pt>
          <cx:pt idx="21">43505</cx:pt>
          <cx:pt idx="22">43505</cx:pt>
          <cx:pt idx="23">43475</cx:pt>
          <cx:pt idx="24">43475</cx:pt>
          <cx:pt idx="25">43506</cx:pt>
          <cx:pt idx="26">43507</cx:pt>
          <cx:pt idx="27">43477</cx:pt>
          <cx:pt idx="28">43477</cx:pt>
          <cx:pt idx="29">43508</cx:pt>
          <cx:pt idx="30">43536</cx:pt>
          <cx:pt idx="31">43478</cx:pt>
          <cx:pt idx="32">43478</cx:pt>
          <cx:pt idx="33">43479</cx:pt>
          <cx:pt idx="34">43479</cx:pt>
          <cx:pt idx="35">43479</cx:pt>
          <cx:pt idx="36">43479</cx:pt>
          <cx:pt idx="37">43510</cx:pt>
          <cx:pt idx="38">43480</cx:pt>
          <cx:pt idx="39">43480</cx:pt>
          <cx:pt idx="40">43511</cx:pt>
          <cx:pt idx="41">43511</cx:pt>
          <cx:pt idx="42">43539</cx:pt>
          <cx:pt idx="43">43540</cx:pt>
          <cx:pt idx="44">43482</cx:pt>
          <cx:pt idx="45">43482</cx:pt>
          <cx:pt idx="46">43482</cx:pt>
          <cx:pt idx="47">43482</cx:pt>
          <cx:pt idx="48">43515</cx:pt>
          <cx:pt idx="49">43544</cx:pt>
          <cx:pt idx="50">43544</cx:pt>
          <cx:pt idx="51">43545</cx:pt>
          <cx:pt idx="52">43487</cx:pt>
          <cx:pt idx="53">43518</cx:pt>
          <cx:pt idx="54">43518</cx:pt>
          <cx:pt idx="55">43548</cx:pt>
          <cx:pt idx="56">43490</cx:pt>
          <cx:pt idx="57">43521</cx:pt>
          <cx:pt idx="58">43549</cx:pt>
          <cx:pt idx="59">43491</cx:pt>
          <cx:pt idx="60">43491</cx:pt>
          <cx:pt idx="61">43492</cx:pt>
          <cx:pt idx="62">43523</cx:pt>
          <cx:pt idx="63">43551</cx:pt>
          <cx:pt idx="64">43553</cx:pt>
          <cx:pt idx="65">43554</cx:pt>
          <cx:pt idx="66">43466</cx:pt>
          <cx:pt idx="67">43466</cx:pt>
          <cx:pt idx="68">43466</cx:pt>
          <cx:pt idx="69">43498</cx:pt>
          <cx:pt idx="70">43526</cx:pt>
          <cx:pt idx="71">43526</cx:pt>
          <cx:pt idx="72">43499</cx:pt>
          <cx:pt idx="73">43499</cx:pt>
          <cx:pt idx="74">43527</cx:pt>
          <cx:pt idx="75">43469</cx:pt>
          <cx:pt idx="76">43469</cx:pt>
          <cx:pt idx="77">43470</cx:pt>
          <cx:pt idx="78">43470</cx:pt>
          <cx:pt idx="79">43529</cx:pt>
          <cx:pt idx="80">43529</cx:pt>
          <cx:pt idx="81">43530</cx:pt>
          <cx:pt idx="82">43472</cx:pt>
          <cx:pt idx="83">43503</cx:pt>
          <cx:pt idx="84">43503</cx:pt>
          <cx:pt idx="85">43503</cx:pt>
          <cx:pt idx="86">43505</cx:pt>
          <cx:pt idx="87">43533</cx:pt>
          <cx:pt idx="88">43533</cx:pt>
          <cx:pt idx="89">43506</cx:pt>
          <cx:pt idx="90">43506</cx:pt>
          <cx:pt idx="91">43535</cx:pt>
          <cx:pt idx="92">43536</cx:pt>
          <cx:pt idx="93">43537</cx:pt>
          <cx:pt idx="94">43479</cx:pt>
          <cx:pt idx="95">43479</cx:pt>
          <cx:pt idx="96">43538</cx:pt>
          <cx:pt idx="97">43480</cx:pt>
          <cx:pt idx="98">43511</cx:pt>
          <cx:pt idx="99">43481</cx:pt>
          <cx:pt idx="100">43512</cx:pt>
          <cx:pt idx="101">43512</cx:pt>
          <cx:pt idx="102">43513</cx:pt>
          <cx:pt idx="103">43513</cx:pt>
          <cx:pt idx="104">43513</cx:pt>
          <cx:pt idx="105">43483</cx:pt>
          <cx:pt idx="106">43514</cx:pt>
          <cx:pt idx="107">43484</cx:pt>
          <cx:pt idx="108">43543</cx:pt>
          <cx:pt idx="109">43543</cx:pt>
          <cx:pt idx="110">43543</cx:pt>
          <cx:pt idx="111">43543</cx:pt>
          <cx:pt idx="112">43486</cx:pt>
          <cx:pt idx="113">43488</cx:pt>
          <cx:pt idx="114">43488</cx:pt>
          <cx:pt idx="115">43520</cx:pt>
          <cx:pt idx="116">43520</cx:pt>
          <cx:pt idx="117">43548</cx:pt>
          <cx:pt idx="118">43548</cx:pt>
          <cx:pt idx="119">43548</cx:pt>
          <cx:pt idx="120">43490</cx:pt>
          <cx:pt idx="121">43549</cx:pt>
          <cx:pt idx="122">43549</cx:pt>
          <cx:pt idx="123">43491</cx:pt>
          <cx:pt idx="124">43491</cx:pt>
          <cx:pt idx="125">43522</cx:pt>
          <cx:pt idx="126">43551</cx:pt>
          <cx:pt idx="127">43551</cx:pt>
          <cx:pt idx="128">43494</cx:pt>
          <cx:pt idx="129">43495</cx:pt>
          <cx:pt idx="130">43495</cx:pt>
          <cx:pt idx="131">43495</cx:pt>
          <cx:pt idx="132">43497</cx:pt>
          <cx:pt idx="133">43467</cx:pt>
          <cx:pt idx="134">43467</cx:pt>
          <cx:pt idx="135">43498</cx:pt>
          <cx:pt idx="136">43526</cx:pt>
          <cx:pt idx="137">43468</cx:pt>
          <cx:pt idx="138">43499</cx:pt>
          <cx:pt idx="139">43499</cx:pt>
          <cx:pt idx="140">43500</cx:pt>
          <cx:pt idx="141">43470</cx:pt>
          <cx:pt idx="142">43502</cx:pt>
          <cx:pt idx="143">43503</cx:pt>
          <cx:pt idx="144">43532</cx:pt>
          <cx:pt idx="145">43533</cx:pt>
          <cx:pt idx="146">43475</cx:pt>
          <cx:pt idx="147">43534</cx:pt>
          <cx:pt idx="148">43507</cx:pt>
          <cx:pt idx="149">43535</cx:pt>
          <cx:pt idx="150">43535</cx:pt>
          <cx:pt idx="151">43477</cx:pt>
          <cx:pt idx="152">43477</cx:pt>
          <cx:pt idx="153">43508</cx:pt>
          <cx:pt idx="154">43537</cx:pt>
          <cx:pt idx="155">43537</cx:pt>
          <cx:pt idx="156">43479</cx:pt>
          <cx:pt idx="157">43510</cx:pt>
          <cx:pt idx="158">43538</cx:pt>
          <cx:pt idx="159">43538</cx:pt>
          <cx:pt idx="160">43511</cx:pt>
          <cx:pt idx="161">43511</cx:pt>
          <cx:pt idx="162">43511</cx:pt>
          <cx:pt idx="163">43539</cx:pt>
          <cx:pt idx="164">43481</cx:pt>
          <cx:pt idx="165">43542</cx:pt>
          <cx:pt idx="166">43484</cx:pt>
          <cx:pt idx="167">43484</cx:pt>
          <cx:pt idx="168">43485</cx:pt>
          <cx:pt idx="169">43485</cx:pt>
          <cx:pt idx="170">43516</cx:pt>
          <cx:pt idx="171">43544</cx:pt>
          <cx:pt idx="172">43544</cx:pt>
          <cx:pt idx="173">43486</cx:pt>
          <cx:pt idx="174">43517</cx:pt>
          <cx:pt idx="175">43488</cx:pt>
          <cx:pt idx="176">43547</cx:pt>
          <cx:pt idx="177">43520</cx:pt>
          <cx:pt idx="178">43490</cx:pt>
          <cx:pt idx="179">43521</cx:pt>
          <cx:pt idx="180">43521</cx:pt>
          <cx:pt idx="181">43549</cx:pt>
          <cx:pt idx="182">43491</cx:pt>
          <cx:pt idx="183">43491</cx:pt>
          <cx:pt idx="184">43491</cx:pt>
          <cx:pt idx="185">43522</cx:pt>
          <cx:pt idx="186">43522</cx:pt>
          <cx:pt idx="187">43550</cx:pt>
          <cx:pt idx="188">43550</cx:pt>
          <cx:pt idx="189">43550</cx:pt>
          <cx:pt idx="190">43492</cx:pt>
          <cx:pt idx="191">43492</cx:pt>
          <cx:pt idx="192">43492</cx:pt>
          <cx:pt idx="193">43523</cx:pt>
          <cx:pt idx="194">43551</cx:pt>
          <cx:pt idx="195">43551</cx:pt>
          <cx:pt idx="196">43495</cx:pt>
          <cx:pt idx="197">43554</cx:pt>
          <cx:pt idx="198">43467</cx:pt>
          <cx:pt idx="199">43498</cx:pt>
          <cx:pt idx="200">43498</cx:pt>
          <cx:pt idx="201">43498</cx:pt>
          <cx:pt idx="202">43498</cx:pt>
          <cx:pt idx="203">43526</cx:pt>
          <cx:pt idx="204">43526</cx:pt>
          <cx:pt idx="205">43468</cx:pt>
          <cx:pt idx="206">43499</cx:pt>
          <cx:pt idx="207">43470</cx:pt>
          <cx:pt idx="208">43529</cx:pt>
          <cx:pt idx="209">43531</cx:pt>
          <cx:pt idx="210">43473</cx:pt>
          <cx:pt idx="211">43473</cx:pt>
          <cx:pt idx="212">43504</cx:pt>
          <cx:pt idx="213">43504</cx:pt>
          <cx:pt idx="214">43504</cx:pt>
          <cx:pt idx="215">43506</cx:pt>
          <cx:pt idx="216">43507</cx:pt>
          <cx:pt idx="217">43535</cx:pt>
          <cx:pt idx="218">43535</cx:pt>
          <cx:pt idx="219">43535</cx:pt>
          <cx:pt idx="220">43536</cx:pt>
          <cx:pt idx="221">43536</cx:pt>
          <cx:pt idx="222">43479</cx:pt>
          <cx:pt idx="223">43510</cx:pt>
          <cx:pt idx="224">43538</cx:pt>
          <cx:pt idx="225">43480</cx:pt>
          <cx:pt idx="226">43480</cx:pt>
          <cx:pt idx="227">43540</cx:pt>
          <cx:pt idx="228">43540</cx:pt>
          <cx:pt idx="229">43482</cx:pt>
          <cx:pt idx="230">43541</cx:pt>
          <cx:pt idx="231">43483</cx:pt>
          <cx:pt idx="232">43483</cx:pt>
          <cx:pt idx="233">43542</cx:pt>
          <cx:pt idx="234">43484</cx:pt>
          <cx:pt idx="235">43515</cx:pt>
          <cx:pt idx="236">43543</cx:pt>
          <cx:pt idx="237">43543</cx:pt>
          <cx:pt idx="238">43543</cx:pt>
          <cx:pt idx="239">43516</cx:pt>
          <cx:pt idx="240">43516</cx:pt>
          <cx:pt idx="241">43516</cx:pt>
          <cx:pt idx="242">43544</cx:pt>
          <cx:pt idx="243">43486</cx:pt>
          <cx:pt idx="244">43487</cx:pt>
          <cx:pt idx="245">43518</cx:pt>
          <cx:pt idx="246">43546</cx:pt>
          <cx:pt idx="247">43546</cx:pt>
          <cx:pt idx="248">43488</cx:pt>
          <cx:pt idx="249">43547</cx:pt>
          <cx:pt idx="250">43547</cx:pt>
          <cx:pt idx="251">43489</cx:pt>
          <cx:pt idx="252">43520</cx:pt>
          <cx:pt idx="253">43490</cx:pt>
          <cx:pt idx="254">43521</cx:pt>
          <cx:pt idx="255">43522</cx:pt>
          <cx:pt idx="256">43523</cx:pt>
          <cx:pt idx="257">43493</cx:pt>
          <cx:pt idx="258">43493</cx:pt>
          <cx:pt idx="259">43524</cx:pt>
          <cx:pt idx="260">43552</cx:pt>
          <cx:pt idx="261">43494</cx:pt>
          <cx:pt idx="262">43494</cx:pt>
          <cx:pt idx="263">43553</cx:pt>
          <cx:pt idx="264">43466</cx:pt>
          <cx:pt idx="265">43498</cx:pt>
          <cx:pt idx="266">43498</cx:pt>
          <cx:pt idx="267">43498</cx:pt>
          <cx:pt idx="268">43526</cx:pt>
          <cx:pt idx="269">43526</cx:pt>
          <cx:pt idx="270">43527</cx:pt>
          <cx:pt idx="271">43500</cx:pt>
          <cx:pt idx="272">43501</cx:pt>
          <cx:pt idx="273">43529</cx:pt>
          <cx:pt idx="274">43529</cx:pt>
          <cx:pt idx="275">43471</cx:pt>
          <cx:pt idx="276">43502</cx:pt>
          <cx:pt idx="277">43502</cx:pt>
          <cx:pt idx="278">43530</cx:pt>
          <cx:pt idx="279">43472</cx:pt>
          <cx:pt idx="280">43472</cx:pt>
          <cx:pt idx="281">43531</cx:pt>
          <cx:pt idx="282">43531</cx:pt>
          <cx:pt idx="283">43473</cx:pt>
          <cx:pt idx="284">43473</cx:pt>
          <cx:pt idx="285">43532</cx:pt>
          <cx:pt idx="286">43532</cx:pt>
          <cx:pt idx="287">43474</cx:pt>
          <cx:pt idx="288">43505</cx:pt>
          <cx:pt idx="289">43506</cx:pt>
          <cx:pt idx="290">43534</cx:pt>
          <cx:pt idx="291">43534</cx:pt>
          <cx:pt idx="292">43535</cx:pt>
          <cx:pt idx="293">43477</cx:pt>
          <cx:pt idx="294">43478</cx:pt>
          <cx:pt idx="295">43510</cx:pt>
          <cx:pt idx="296">43538</cx:pt>
          <cx:pt idx="297">43511</cx:pt>
          <cx:pt idx="298">43539</cx:pt>
          <cx:pt idx="299">43539</cx:pt>
          <cx:pt idx="300">43540</cx:pt>
          <cx:pt idx="301">43482</cx:pt>
          <cx:pt idx="302">43484</cx:pt>
          <cx:pt idx="303">43484</cx:pt>
          <cx:pt idx="304">43515</cx:pt>
          <cx:pt idx="305">43515</cx:pt>
          <cx:pt idx="306">43516</cx:pt>
          <cx:pt idx="307">43544</cx:pt>
          <cx:pt idx="308">43544</cx:pt>
          <cx:pt idx="309">43544</cx:pt>
          <cx:pt idx="310">43486</cx:pt>
          <cx:pt idx="311">43517</cx:pt>
          <cx:pt idx="312">43518</cx:pt>
          <cx:pt idx="313">43547</cx:pt>
          <cx:pt idx="314">43548</cx:pt>
          <cx:pt idx="315">43490</cx:pt>
          <cx:pt idx="316">43490</cx:pt>
          <cx:pt idx="317">43490</cx:pt>
          <cx:pt idx="318">43491</cx:pt>
          <cx:pt idx="319">43550</cx:pt>
          <cx:pt idx="320">43550</cx:pt>
          <cx:pt idx="321">43523</cx:pt>
          <cx:pt idx="322">43551</cx:pt>
          <cx:pt idx="323">43493</cx:pt>
          <cx:pt idx="324">43524</cx:pt>
          <cx:pt idx="325">43552</cx:pt>
          <cx:pt idx="326">43553</cx:pt>
          <cx:pt idx="327">43553</cx:pt>
          <cx:pt idx="328">43495</cx:pt>
          <cx:pt idx="329">43554</cx:pt>
          <cx:pt idx="330">43466</cx:pt>
          <cx:pt idx="331">43526</cx:pt>
          <cx:pt idx="332">43499</cx:pt>
          <cx:pt idx="333">43499</cx:pt>
          <cx:pt idx="334">43527</cx:pt>
          <cx:pt idx="335">43469</cx:pt>
          <cx:pt idx="336">43500</cx:pt>
          <cx:pt idx="337">43528</cx:pt>
          <cx:pt idx="338">43470</cx:pt>
          <cx:pt idx="339">43470</cx:pt>
          <cx:pt idx="340">43529</cx:pt>
          <cx:pt idx="341">43529</cx:pt>
          <cx:pt idx="342">43529</cx:pt>
          <cx:pt idx="343">43530</cx:pt>
          <cx:pt idx="344">43530</cx:pt>
          <cx:pt idx="345">43472</cx:pt>
          <cx:pt idx="346">43503</cx:pt>
          <cx:pt idx="347">43503</cx:pt>
          <cx:pt idx="348">43473</cx:pt>
          <cx:pt idx="349">43473</cx:pt>
          <cx:pt idx="350">43504</cx:pt>
          <cx:pt idx="351">43474</cx:pt>
          <cx:pt idx="352">43474</cx:pt>
          <cx:pt idx="353">43505</cx:pt>
          <cx:pt idx="354">43475</cx:pt>
          <cx:pt idx="355">43534</cx:pt>
          <cx:pt idx="356">43535</cx:pt>
          <cx:pt idx="357">43477</cx:pt>
          <cx:pt idx="358">43477</cx:pt>
          <cx:pt idx="359">43508</cx:pt>
          <cx:pt idx="360">43509</cx:pt>
          <cx:pt idx="361">43509</cx:pt>
          <cx:pt idx="362">43509</cx:pt>
          <cx:pt idx="363">43538</cx:pt>
          <cx:pt idx="364">43480</cx:pt>
          <cx:pt idx="365">43511</cx:pt>
          <cx:pt idx="366">43511</cx:pt>
          <cx:pt idx="367">43511</cx:pt>
          <cx:pt idx="368">43539</cx:pt>
          <cx:pt idx="369">43481</cx:pt>
          <cx:pt idx="370">43512</cx:pt>
          <cx:pt idx="371">43513</cx:pt>
          <cx:pt idx="372">43541</cx:pt>
          <cx:pt idx="373">43483</cx:pt>
          <cx:pt idx="374">43514</cx:pt>
          <cx:pt idx="375">43543</cx:pt>
          <cx:pt idx="376">43543</cx:pt>
          <cx:pt idx="377">43543</cx:pt>
          <cx:pt idx="378">43517</cx:pt>
          <cx:pt idx="379">43518</cx:pt>
          <cx:pt idx="380">43488</cx:pt>
          <cx:pt idx="381">43488</cx:pt>
          <cx:pt idx="382">43488</cx:pt>
          <cx:pt idx="383">43519</cx:pt>
          <cx:pt idx="384">43489</cx:pt>
          <cx:pt idx="385">43489</cx:pt>
          <cx:pt idx="386">43548</cx:pt>
          <cx:pt idx="387">43490</cx:pt>
          <cx:pt idx="388">43491</cx:pt>
          <cx:pt idx="389">43550</cx:pt>
          <cx:pt idx="390">43492</cx:pt>
          <cx:pt idx="391">43492</cx:pt>
          <cx:pt idx="392">43524</cx:pt>
          <cx:pt idx="393">43494</cx:pt>
          <cx:pt idx="394">43494</cx:pt>
          <cx:pt idx="395">43554</cx:pt>
          <cx:pt idx="396">43467</cx:pt>
          <cx:pt idx="397">43526</cx:pt>
          <cx:pt idx="398">43526</cx:pt>
          <cx:pt idx="399">43526</cx:pt>
          <cx:pt idx="400">43527</cx:pt>
          <cx:pt idx="401">43527</cx:pt>
          <cx:pt idx="402">43469</cx:pt>
          <cx:pt idx="403">43528</cx:pt>
          <cx:pt idx="404">43528</cx:pt>
          <cx:pt idx="405">43529</cx:pt>
          <cx:pt idx="406">43529</cx:pt>
          <cx:pt idx="407">43529</cx:pt>
          <cx:pt idx="408">43471</cx:pt>
          <cx:pt idx="409">43502</cx:pt>
          <cx:pt idx="410">43530</cx:pt>
          <cx:pt idx="411">43472</cx:pt>
          <cx:pt idx="412">43472</cx:pt>
          <cx:pt idx="413">43473</cx:pt>
          <cx:pt idx="414">43473</cx:pt>
          <cx:pt idx="415">43473</cx:pt>
          <cx:pt idx="416">43533</cx:pt>
          <cx:pt idx="417">43533</cx:pt>
          <cx:pt idx="418">43506</cx:pt>
          <cx:pt idx="419">43534</cx:pt>
          <cx:pt idx="420">43534</cx:pt>
          <cx:pt idx="421">43476</cx:pt>
          <cx:pt idx="422">43476</cx:pt>
          <cx:pt idx="423">43507</cx:pt>
          <cx:pt idx="424">43477</cx:pt>
          <cx:pt idx="425">43536</cx:pt>
          <cx:pt idx="426">43478</cx:pt>
          <cx:pt idx="427">43478</cx:pt>
          <cx:pt idx="428">43509</cx:pt>
          <cx:pt idx="429">43537</cx:pt>
          <cx:pt idx="430">43538</cx:pt>
          <cx:pt idx="431">43480</cx:pt>
          <cx:pt idx="432">43481</cx:pt>
          <cx:pt idx="433">43481</cx:pt>
          <cx:pt idx="434">43513</cx:pt>
          <cx:pt idx="435">43483</cx:pt>
          <cx:pt idx="436">43483</cx:pt>
          <cx:pt idx="437">43543</cx:pt>
          <cx:pt idx="438">43543</cx:pt>
          <cx:pt idx="439">43485</cx:pt>
          <cx:pt idx="440">43516</cx:pt>
          <cx:pt idx="441">43486</cx:pt>
          <cx:pt idx="442">43517</cx:pt>
          <cx:pt idx="443">43545</cx:pt>
          <cx:pt idx="444">43487</cx:pt>
          <cx:pt idx="445">43518</cx:pt>
          <cx:pt idx="446">43546</cx:pt>
          <cx:pt idx="447">43490</cx:pt>
          <cx:pt idx="448">43521</cx:pt>
          <cx:pt idx="449">43521</cx:pt>
          <cx:pt idx="450">43549</cx:pt>
          <cx:pt idx="451">43549</cx:pt>
          <cx:pt idx="452">43491</cx:pt>
          <cx:pt idx="453">43491</cx:pt>
          <cx:pt idx="454">43491</cx:pt>
          <cx:pt idx="455">43522</cx:pt>
          <cx:pt idx="456">43550</cx:pt>
          <cx:pt idx="457">43492</cx:pt>
          <cx:pt idx="458">43523</cx:pt>
          <cx:pt idx="459">43493</cx:pt>
          <cx:pt idx="460">43493</cx:pt>
          <cx:pt idx="461">43552</cx:pt>
          <cx:pt idx="462">43466</cx:pt>
          <cx:pt idx="463">43497</cx:pt>
          <cx:pt idx="464">43497</cx:pt>
          <cx:pt idx="465">43525</cx:pt>
          <cx:pt idx="466">43498</cx:pt>
          <cx:pt idx="467">43526</cx:pt>
          <cx:pt idx="468">43527</cx:pt>
          <cx:pt idx="469">43527</cx:pt>
          <cx:pt idx="470">43470</cx:pt>
          <cx:pt idx="471">43471</cx:pt>
          <cx:pt idx="472">43471</cx:pt>
          <cx:pt idx="473">43503</cx:pt>
          <cx:pt idx="474">43503</cx:pt>
          <cx:pt idx="475">43503</cx:pt>
          <cx:pt idx="476">43503</cx:pt>
          <cx:pt idx="477">43503</cx:pt>
          <cx:pt idx="478">43531</cx:pt>
          <cx:pt idx="479">43532</cx:pt>
          <cx:pt idx="480">43474</cx:pt>
          <cx:pt idx="481">43533</cx:pt>
          <cx:pt idx="482">43533</cx:pt>
          <cx:pt idx="483">43506</cx:pt>
          <cx:pt idx="484">43534</cx:pt>
          <cx:pt idx="485">43535</cx:pt>
          <cx:pt idx="486">43477</cx:pt>
          <cx:pt idx="487">43508</cx:pt>
          <cx:pt idx="488">43536</cx:pt>
          <cx:pt idx="489">43536</cx:pt>
          <cx:pt idx="490">43510</cx:pt>
          <cx:pt idx="491">43510</cx:pt>
          <cx:pt idx="492">43538</cx:pt>
          <cx:pt idx="493">43538</cx:pt>
          <cx:pt idx="494">43538</cx:pt>
          <cx:pt idx="495">43480</cx:pt>
          <cx:pt idx="496">43480</cx:pt>
          <cx:pt idx="497">43512</cx:pt>
          <cx:pt idx="498">43483</cx:pt>
          <cx:pt idx="499">43514</cx:pt>
          <cx:pt idx="500">43542</cx:pt>
          <cx:pt idx="501">43484</cx:pt>
          <cx:pt idx="502">43484</cx:pt>
          <cx:pt idx="503">43484</cx:pt>
          <cx:pt idx="504">43543</cx:pt>
          <cx:pt idx="505">43516</cx:pt>
          <cx:pt idx="506">43544</cx:pt>
          <cx:pt idx="507">43487</cx:pt>
          <cx:pt idx="508">43546</cx:pt>
          <cx:pt idx="509">43546</cx:pt>
          <cx:pt idx="510">43488</cx:pt>
          <cx:pt idx="511">43489</cx:pt>
          <cx:pt idx="512">43489</cx:pt>
          <cx:pt idx="513">43489</cx:pt>
          <cx:pt idx="514">43489</cx:pt>
          <cx:pt idx="515">43548</cx:pt>
          <cx:pt idx="516">43490</cx:pt>
          <cx:pt idx="517">43521</cx:pt>
          <cx:pt idx="518">43521</cx:pt>
          <cx:pt idx="519">43521</cx:pt>
          <cx:pt idx="520">43549</cx:pt>
          <cx:pt idx="521">43491</cx:pt>
          <cx:pt idx="522">43550</cx:pt>
          <cx:pt idx="523">43523</cx:pt>
          <cx:pt idx="524">43523</cx:pt>
          <cx:pt idx="525">43523</cx:pt>
          <cx:pt idx="526">43552</cx:pt>
          <cx:pt idx="527">43552</cx:pt>
          <cx:pt idx="528">43497</cx:pt>
          <cx:pt idx="529">43525</cx:pt>
          <cx:pt idx="530">43525</cx:pt>
          <cx:pt idx="531">43526</cx:pt>
          <cx:pt idx="532">43468</cx:pt>
          <cx:pt idx="533">43468</cx:pt>
          <cx:pt idx="534">43499</cx:pt>
          <cx:pt idx="535">43500</cx:pt>
          <cx:pt idx="536">43528</cx:pt>
          <cx:pt idx="537">43528</cx:pt>
          <cx:pt idx="538">43501</cx:pt>
          <cx:pt idx="539">43501</cx:pt>
          <cx:pt idx="540">43529</cx:pt>
          <cx:pt idx="541">43502</cx:pt>
          <cx:pt idx="542">43502</cx:pt>
          <cx:pt idx="543">43530</cx:pt>
          <cx:pt idx="544">43530</cx:pt>
          <cx:pt idx="545">43472</cx:pt>
          <cx:pt idx="546">43503</cx:pt>
          <cx:pt idx="547">43531</cx:pt>
          <cx:pt idx="548">43504</cx:pt>
          <cx:pt idx="549">43504</cx:pt>
          <cx:pt idx="550">43504</cx:pt>
          <cx:pt idx="551">43532</cx:pt>
          <cx:pt idx="552">43533</cx:pt>
          <cx:pt idx="553">43533</cx:pt>
          <cx:pt idx="554">43475</cx:pt>
          <cx:pt idx="555">43506</cx:pt>
          <cx:pt idx="556">43506</cx:pt>
          <cx:pt idx="557">43476</cx:pt>
          <cx:pt idx="558">43535</cx:pt>
          <cx:pt idx="559">43536</cx:pt>
          <cx:pt idx="560">43509</cx:pt>
          <cx:pt idx="561">43537</cx:pt>
          <cx:pt idx="562">43537</cx:pt>
          <cx:pt idx="563">43538</cx:pt>
          <cx:pt idx="564">43539</cx:pt>
          <cx:pt idx="565">43481</cx:pt>
          <cx:pt idx="566">43512</cx:pt>
          <cx:pt idx="567">43540</cx:pt>
          <cx:pt idx="568">43540</cx:pt>
          <cx:pt idx="569">43482</cx:pt>
          <cx:pt idx="570">43513</cx:pt>
          <cx:pt idx="571">43484</cx:pt>
          <cx:pt idx="572">43544</cx:pt>
          <cx:pt idx="573">43486</cx:pt>
          <cx:pt idx="574">43518</cx:pt>
          <cx:pt idx="575">43518</cx:pt>
          <cx:pt idx="576">43546</cx:pt>
          <cx:pt idx="577">43488</cx:pt>
          <cx:pt idx="578">43488</cx:pt>
          <cx:pt idx="579">43519</cx:pt>
          <cx:pt idx="580">43547</cx:pt>
          <cx:pt idx="581">43520</cx:pt>
          <cx:pt idx="582">43548</cx:pt>
          <cx:pt idx="583">43548</cx:pt>
          <cx:pt idx="584">43490</cx:pt>
          <cx:pt idx="585">43521</cx:pt>
          <cx:pt idx="586">43491</cx:pt>
          <cx:pt idx="587">43492</cx:pt>
          <cx:pt idx="588">43551</cx:pt>
          <cx:pt idx="589">43552</cx:pt>
          <cx:pt idx="590">43552</cx:pt>
          <cx:pt idx="591">43553</cx:pt>
          <cx:pt idx="592">43495</cx:pt>
          <cx:pt idx="593">43496</cx:pt>
          <cx:pt idx="594">43466</cx:pt>
          <cx:pt idx="595">43525</cx:pt>
          <cx:pt idx="596">43467</cx:pt>
          <cx:pt idx="597">43467</cx:pt>
          <cx:pt idx="598">43499</cx:pt>
          <cx:pt idx="599">43500</cx:pt>
          <cx:pt idx="600">43470</cx:pt>
          <cx:pt idx="601">43529</cx:pt>
          <cx:pt idx="602">43502</cx:pt>
          <cx:pt idx="603">43530</cx:pt>
          <cx:pt idx="604">43503</cx:pt>
          <cx:pt idx="605">43503</cx:pt>
          <cx:pt idx="606">43503</cx:pt>
          <cx:pt idx="607">43531</cx:pt>
          <cx:pt idx="608">43473</cx:pt>
          <cx:pt idx="609">43504</cx:pt>
          <cx:pt idx="610">43532</cx:pt>
          <cx:pt idx="611">43533</cx:pt>
          <cx:pt idx="612">43533</cx:pt>
          <cx:pt idx="613">43533</cx:pt>
          <cx:pt idx="614">43475</cx:pt>
          <cx:pt idx="615">43534</cx:pt>
          <cx:pt idx="616">43476</cx:pt>
          <cx:pt idx="617">43476</cx:pt>
          <cx:pt idx="618">43507</cx:pt>
          <cx:pt idx="619">43507</cx:pt>
          <cx:pt idx="620">43535</cx:pt>
          <cx:pt idx="621">43478</cx:pt>
          <cx:pt idx="622">43478</cx:pt>
          <cx:pt idx="623">43537</cx:pt>
          <cx:pt idx="624">43479</cx:pt>
          <cx:pt idx="625">43510</cx:pt>
          <cx:pt idx="626">43510</cx:pt>
          <cx:pt idx="627">43538</cx:pt>
          <cx:pt idx="628">43538</cx:pt>
          <cx:pt idx="629">43480</cx:pt>
          <cx:pt idx="630">43511</cx:pt>
          <cx:pt idx="631">43511</cx:pt>
          <cx:pt idx="632">43539</cx:pt>
          <cx:pt idx="633">43539</cx:pt>
          <cx:pt idx="634">43481</cx:pt>
          <cx:pt idx="635">43481</cx:pt>
          <cx:pt idx="636">43512</cx:pt>
          <cx:pt idx="637">43482</cx:pt>
          <cx:pt idx="638">43541</cx:pt>
          <cx:pt idx="639">43515</cx:pt>
          <cx:pt idx="640">43515</cx:pt>
          <cx:pt idx="641">43515</cx:pt>
          <cx:pt idx="642">43485</cx:pt>
          <cx:pt idx="643">43485</cx:pt>
          <cx:pt idx="644">43519</cx:pt>
          <cx:pt idx="645">43519</cx:pt>
          <cx:pt idx="646">43489</cx:pt>
          <cx:pt idx="647">43489</cx:pt>
          <cx:pt idx="648">43520</cx:pt>
          <cx:pt idx="649">43520</cx:pt>
          <cx:pt idx="650">43490</cx:pt>
          <cx:pt idx="651">43521</cx:pt>
          <cx:pt idx="652">43522</cx:pt>
          <cx:pt idx="653">43550</cx:pt>
          <cx:pt idx="654">43492</cx:pt>
          <cx:pt idx="655">43493</cx:pt>
          <cx:pt idx="656">43552</cx:pt>
          <cx:pt idx="657">43494</cx:pt>
          <cx:pt idx="658">43494</cx:pt>
          <cx:pt idx="659">43495</cx:pt>
          <cx:pt idx="660">43466</cx:pt>
          <cx:pt idx="661">43525</cx:pt>
          <cx:pt idx="662">43525</cx:pt>
          <cx:pt idx="663">43525</cx:pt>
          <cx:pt idx="664">43467</cx:pt>
          <cx:pt idx="665">43467</cx:pt>
          <cx:pt idx="666">43498</cx:pt>
          <cx:pt idx="667">43468</cx:pt>
          <cx:pt idx="668">43468</cx:pt>
          <cx:pt idx="669">43527</cx:pt>
          <cx:pt idx="670">43500</cx:pt>
          <cx:pt idx="671">43500</cx:pt>
          <cx:pt idx="672">43528</cx:pt>
          <cx:pt idx="673">43528</cx:pt>
          <cx:pt idx="674">43470</cx:pt>
          <cx:pt idx="675">43501</cx:pt>
          <cx:pt idx="676">43502</cx:pt>
          <cx:pt idx="677">43472</cx:pt>
          <cx:pt idx="678">43503</cx:pt>
          <cx:pt idx="679">43532</cx:pt>
          <cx:pt idx="680">43532</cx:pt>
          <cx:pt idx="681">43478</cx:pt>
          <cx:pt idx="682">43509</cx:pt>
          <cx:pt idx="683">43538</cx:pt>
          <cx:pt idx="684">43538</cx:pt>
          <cx:pt idx="685">43480</cx:pt>
          <cx:pt idx="686">43511</cx:pt>
          <cx:pt idx="687">43511</cx:pt>
          <cx:pt idx="688">43540</cx:pt>
          <cx:pt idx="689">43482</cx:pt>
          <cx:pt idx="690">43541</cx:pt>
          <cx:pt idx="691">43483</cx:pt>
          <cx:pt idx="692">43514</cx:pt>
          <cx:pt idx="693">43542</cx:pt>
          <cx:pt idx="694">43484</cx:pt>
          <cx:pt idx="695">43484</cx:pt>
          <cx:pt idx="696">43484</cx:pt>
          <cx:pt idx="697">43484</cx:pt>
          <cx:pt idx="698">43515</cx:pt>
          <cx:pt idx="699">43543</cx:pt>
          <cx:pt idx="700">43544</cx:pt>
          <cx:pt idx="701">43487</cx:pt>
          <cx:pt idx="702">43518</cx:pt>
          <cx:pt idx="703">43488</cx:pt>
          <cx:pt idx="704">43488</cx:pt>
          <cx:pt idx="705">43519</cx:pt>
          <cx:pt idx="706">43519</cx:pt>
          <cx:pt idx="707">43519</cx:pt>
          <cx:pt idx="708">43519</cx:pt>
          <cx:pt idx="709">43547</cx:pt>
          <cx:pt idx="710">43547</cx:pt>
          <cx:pt idx="711">43547</cx:pt>
          <cx:pt idx="712">43489</cx:pt>
          <cx:pt idx="713">43490</cx:pt>
          <cx:pt idx="714">43490</cx:pt>
          <cx:pt idx="715">43550</cx:pt>
          <cx:pt idx="716">43492</cx:pt>
          <cx:pt idx="717">43492</cx:pt>
          <cx:pt idx="718">43523</cx:pt>
          <cx:pt idx="719">43551</cx:pt>
          <cx:pt idx="720">43493</cx:pt>
          <cx:pt idx="721">43493</cx:pt>
          <cx:pt idx="722">43552</cx:pt>
          <cx:pt idx="723">43494</cx:pt>
          <cx:pt idx="724">43553</cx:pt>
          <cx:pt idx="725">43525</cx:pt>
          <cx:pt idx="726">43526</cx:pt>
          <cx:pt idx="727">43526</cx:pt>
          <cx:pt idx="728">43499</cx:pt>
          <cx:pt idx="729">43499</cx:pt>
          <cx:pt idx="730">43499</cx:pt>
          <cx:pt idx="731">43527</cx:pt>
          <cx:pt idx="732">43527</cx:pt>
          <cx:pt idx="733">43500</cx:pt>
          <cx:pt idx="734">43528</cx:pt>
          <cx:pt idx="735">43470</cx:pt>
          <cx:pt idx="736">43501</cx:pt>
          <cx:pt idx="737">43471</cx:pt>
          <cx:pt idx="738">43530</cx:pt>
          <cx:pt idx="739">43503</cx:pt>
          <cx:pt idx="740">43503</cx:pt>
          <cx:pt idx="741">43531</cx:pt>
          <cx:pt idx="742">43531</cx:pt>
          <cx:pt idx="743">43473</cx:pt>
          <cx:pt idx="744">43473</cx:pt>
          <cx:pt idx="745">43474</cx:pt>
          <cx:pt idx="746">43474</cx:pt>
          <cx:pt idx="747">43505</cx:pt>
          <cx:pt idx="748">43505</cx:pt>
          <cx:pt idx="749">43505</cx:pt>
          <cx:pt idx="750">43533</cx:pt>
          <cx:pt idx="751">43475</cx:pt>
          <cx:pt idx="752">43506</cx:pt>
          <cx:pt idx="753">43506</cx:pt>
          <cx:pt idx="754">43534</cx:pt>
          <cx:pt idx="755">43534</cx:pt>
          <cx:pt idx="756">43476</cx:pt>
          <cx:pt idx="757">43508</cx:pt>
          <cx:pt idx="758">43508</cx:pt>
          <cx:pt idx="759">43537</cx:pt>
          <cx:pt idx="760">43479</cx:pt>
          <cx:pt idx="761">43538</cx:pt>
          <cx:pt idx="762">43538</cx:pt>
          <cx:pt idx="763">43538</cx:pt>
          <cx:pt idx="764">43511</cx:pt>
          <cx:pt idx="765">43511</cx:pt>
          <cx:pt idx="766">43539</cx:pt>
          <cx:pt idx="767">43540</cx:pt>
          <cx:pt idx="768">43482</cx:pt>
          <cx:pt idx="769">43513</cx:pt>
          <cx:pt idx="770">43514</cx:pt>
          <cx:pt idx="771">43542</cx:pt>
          <cx:pt idx="772">43485</cx:pt>
          <cx:pt idx="773">43544</cx:pt>
          <cx:pt idx="774">43545</cx:pt>
          <cx:pt idx="775">43545</cx:pt>
          <cx:pt idx="776">43487</cx:pt>
          <cx:pt idx="777">43488</cx:pt>
          <cx:pt idx="778">43548</cx:pt>
          <cx:pt idx="779">43490</cx:pt>
          <cx:pt idx="780">43490</cx:pt>
          <cx:pt idx="781">43521</cx:pt>
          <cx:pt idx="782">43491</cx:pt>
          <cx:pt idx="783">43522</cx:pt>
          <cx:pt idx="784">43550</cx:pt>
          <cx:pt idx="785">43550</cx:pt>
          <cx:pt idx="786">43492</cx:pt>
          <cx:pt idx="787">43551</cx:pt>
          <cx:pt idx="788">43493</cx:pt>
          <cx:pt idx="789">43493</cx:pt>
          <cx:pt idx="790">43466</cx:pt>
          <cx:pt idx="791">43526</cx:pt>
          <cx:pt idx="792">43499</cx:pt>
          <cx:pt idx="793">43499</cx:pt>
          <cx:pt idx="794">43527</cx:pt>
          <cx:pt idx="795">43469</cx:pt>
          <cx:pt idx="796">43500</cx:pt>
          <cx:pt idx="797">43528</cx:pt>
          <cx:pt idx="798">43470</cx:pt>
          <cx:pt idx="799">43501</cx:pt>
          <cx:pt idx="800">43529</cx:pt>
          <cx:pt idx="801">43529</cx:pt>
          <cx:pt idx="802">43471</cx:pt>
          <cx:pt idx="803">43530</cx:pt>
          <cx:pt idx="804">43472</cx:pt>
          <cx:pt idx="805">43473</cx:pt>
          <cx:pt idx="806">43504</cx:pt>
          <cx:pt idx="807">43504</cx:pt>
          <cx:pt idx="808">43474</cx:pt>
          <cx:pt idx="809">43505</cx:pt>
          <cx:pt idx="810">43533</cx:pt>
          <cx:pt idx="811">43533</cx:pt>
          <cx:pt idx="812">43476</cx:pt>
          <cx:pt idx="813">43476</cx:pt>
          <cx:pt idx="814">43477</cx:pt>
          <cx:pt idx="815">43508</cx:pt>
          <cx:pt idx="816">43508</cx:pt>
          <cx:pt idx="817">43536</cx:pt>
          <cx:pt idx="818">43509</cx:pt>
          <cx:pt idx="819">43509</cx:pt>
          <cx:pt idx="820">43479</cx:pt>
          <cx:pt idx="821">43479</cx:pt>
          <cx:pt idx="822">43480</cx:pt>
          <cx:pt idx="823">43511</cx:pt>
          <cx:pt idx="824">43481</cx:pt>
          <cx:pt idx="825">43482</cx:pt>
          <cx:pt idx="826">43513</cx:pt>
          <cx:pt idx="827">43541</cx:pt>
          <cx:pt idx="828">43483</cx:pt>
          <cx:pt idx="829">43514</cx:pt>
          <cx:pt idx="830">43542</cx:pt>
          <cx:pt idx="831">43484</cx:pt>
          <cx:pt idx="832">43484</cx:pt>
          <cx:pt idx="833">43485</cx:pt>
          <cx:pt idx="834">43485</cx:pt>
          <cx:pt idx="835">43516</cx:pt>
          <cx:pt idx="836">43516</cx:pt>
          <cx:pt idx="837">43544</cx:pt>
          <cx:pt idx="838">43486</cx:pt>
          <cx:pt idx="839">43487</cx:pt>
          <cx:pt idx="840">43518</cx:pt>
          <cx:pt idx="841">43546</cx:pt>
          <cx:pt idx="842">43488</cx:pt>
          <cx:pt idx="843">43489</cx:pt>
          <cx:pt idx="844">43520</cx:pt>
          <cx:pt idx="845">43549</cx:pt>
          <cx:pt idx="846">43549</cx:pt>
          <cx:pt idx="847">43523</cx:pt>
          <cx:pt idx="848">43523</cx:pt>
          <cx:pt idx="849">43523</cx:pt>
          <cx:pt idx="850">43493</cx:pt>
          <cx:pt idx="851">43524</cx:pt>
          <cx:pt idx="852">43494</cx:pt>
          <cx:pt idx="853">43496</cx:pt>
          <cx:pt idx="854">43496</cx:pt>
          <cx:pt idx="855">43466</cx:pt>
          <cx:pt idx="856">43466</cx:pt>
          <cx:pt idx="857">43497</cx:pt>
          <cx:pt idx="858">43525</cx:pt>
          <cx:pt idx="859">43525</cx:pt>
          <cx:pt idx="860">43468</cx:pt>
          <cx:pt idx="861">43527</cx:pt>
          <cx:pt idx="862">43501</cx:pt>
          <cx:pt idx="863">43529</cx:pt>
          <cx:pt idx="864">43471</cx:pt>
          <cx:pt idx="865">43471</cx:pt>
          <cx:pt idx="866">43502</cx:pt>
          <cx:pt idx="867">43502</cx:pt>
          <cx:pt idx="868">43503</cx:pt>
          <cx:pt idx="869">43531</cx:pt>
          <cx:pt idx="870">43473</cx:pt>
          <cx:pt idx="871">43473</cx:pt>
          <cx:pt idx="872">43473</cx:pt>
          <cx:pt idx="873">43473</cx:pt>
          <cx:pt idx="874">43532</cx:pt>
          <cx:pt idx="875">43505</cx:pt>
          <cx:pt idx="876">43533</cx:pt>
          <cx:pt idx="877">43475</cx:pt>
          <cx:pt idx="878">43534</cx:pt>
          <cx:pt idx="879">43478</cx:pt>
          <cx:pt idx="880">43478</cx:pt>
          <cx:pt idx="881">43537</cx:pt>
          <cx:pt idx="882">43479</cx:pt>
          <cx:pt idx="883">43511</cx:pt>
          <cx:pt idx="884">43539</cx:pt>
          <cx:pt idx="885">43539</cx:pt>
          <cx:pt idx="886">43481</cx:pt>
          <cx:pt idx="887">43540</cx:pt>
          <cx:pt idx="888">43513</cx:pt>
          <cx:pt idx="889">43513</cx:pt>
          <cx:pt idx="890">43513</cx:pt>
          <cx:pt idx="891">43513</cx:pt>
          <cx:pt idx="892">43514</cx:pt>
          <cx:pt idx="893">43542</cx:pt>
          <cx:pt idx="894">43485</cx:pt>
          <cx:pt idx="895">43544</cx:pt>
          <cx:pt idx="896">43544</cx:pt>
          <cx:pt idx="897">43517</cx:pt>
          <cx:pt idx="898">43545</cx:pt>
          <cx:pt idx="899">43545</cx:pt>
          <cx:pt idx="900">43546</cx:pt>
          <cx:pt idx="901">43488</cx:pt>
          <cx:pt idx="902">43547</cx:pt>
          <cx:pt idx="903">43489</cx:pt>
          <cx:pt idx="904">43490</cx:pt>
          <cx:pt idx="905">43521</cx:pt>
          <cx:pt idx="906">43521</cx:pt>
          <cx:pt idx="907">43491</cx:pt>
          <cx:pt idx="908">43522</cx:pt>
          <cx:pt idx="909">43523</cx:pt>
          <cx:pt idx="910">43551</cx:pt>
          <cx:pt idx="911">43493</cx:pt>
          <cx:pt idx="912">43493</cx:pt>
          <cx:pt idx="913">43524</cx:pt>
          <cx:pt idx="914">43552</cx:pt>
          <cx:pt idx="915">43553</cx:pt>
          <cx:pt idx="916">43495</cx:pt>
          <cx:pt idx="917">43495</cx:pt>
          <cx:pt idx="918">43554</cx:pt>
          <cx:pt idx="919">43554</cx:pt>
          <cx:pt idx="920">43466</cx:pt>
          <cx:pt idx="921">43497</cx:pt>
          <cx:pt idx="922">43498</cx:pt>
          <cx:pt idx="923">43468</cx:pt>
          <cx:pt idx="924">43527</cx:pt>
          <cx:pt idx="925">43469</cx:pt>
          <cx:pt idx="926">43528</cx:pt>
          <cx:pt idx="927">43528</cx:pt>
          <cx:pt idx="928">43528</cx:pt>
          <cx:pt idx="929">43501</cx:pt>
          <cx:pt idx="930">43502</cx:pt>
          <cx:pt idx="931">43473</cx:pt>
          <cx:pt idx="932">43504</cx:pt>
          <cx:pt idx="933">43532</cx:pt>
          <cx:pt idx="934">43474</cx:pt>
          <cx:pt idx="935">43505</cx:pt>
          <cx:pt idx="936">43505</cx:pt>
          <cx:pt idx="937">43475</cx:pt>
          <cx:pt idx="938">43534</cx:pt>
          <cx:pt idx="939">43507</cx:pt>
          <cx:pt idx="940">43507</cx:pt>
          <cx:pt idx="941">43477</cx:pt>
          <cx:pt idx="942">43536</cx:pt>
          <cx:pt idx="943">43536</cx:pt>
          <cx:pt idx="944">43536</cx:pt>
          <cx:pt idx="945">43537</cx:pt>
          <cx:pt idx="946">43480</cx:pt>
          <cx:pt idx="947">43511</cx:pt>
          <cx:pt idx="948">43539</cx:pt>
          <cx:pt idx="949">43512</cx:pt>
          <cx:pt idx="950">43512</cx:pt>
          <cx:pt idx="951">43513</cx:pt>
          <cx:pt idx="952">43541</cx:pt>
          <cx:pt idx="953">43515</cx:pt>
          <cx:pt idx="954">43543</cx:pt>
          <cx:pt idx="955">43543</cx:pt>
          <cx:pt idx="956">43485</cx:pt>
          <cx:pt idx="957">43516</cx:pt>
          <cx:pt idx="958">43486</cx:pt>
          <cx:pt idx="959">43517</cx:pt>
          <cx:pt idx="960">43518</cx:pt>
          <cx:pt idx="961">43546</cx:pt>
          <cx:pt idx="962">43546</cx:pt>
          <cx:pt idx="963">43488</cx:pt>
          <cx:pt idx="964">43488</cx:pt>
          <cx:pt idx="965">43547</cx:pt>
          <cx:pt idx="966">43547</cx:pt>
          <cx:pt idx="967">43489</cx:pt>
          <cx:pt idx="968">43520</cx:pt>
          <cx:pt idx="969">43548</cx:pt>
          <cx:pt idx="970">43521</cx:pt>
          <cx:pt idx="971">43521</cx:pt>
          <cx:pt idx="972">43491</cx:pt>
          <cx:pt idx="973">43522</cx:pt>
          <cx:pt idx="974">43550</cx:pt>
          <cx:pt idx="975">43492</cx:pt>
          <cx:pt idx="976">43492</cx:pt>
          <cx:pt idx="977">43523</cx:pt>
          <cx:pt idx="978">43493</cx:pt>
          <cx:pt idx="979">43524</cx:pt>
          <cx:pt idx="980">43494</cx:pt>
          <cx:pt idx="981">43494</cx:pt>
          <cx:pt idx="982">43553</cx:pt>
          <cx:pt idx="983">43554</cx:pt>
          <cx:pt idx="984">43496</cx:pt>
        </cx:lvl>
      </cx:numDim>
    </cx:data>
  </cx:chartData>
  <cx:chart>
    <cx:title pos="t" align="ctr" overlay="0">
      <cx:tx>
        <cx:rich>
          <a:bodyPr spcFirstLastPara="1" vertOverflow="ellipsis" horzOverflow="overflow" wrap="square" lIns="0" tIns="0" rIns="0" bIns="0" anchor="ctr" anchorCtr="1"/>
          <a:lstStyle/>
          <a:p>
            <a:pPr algn="ctr" rtl="0">
              <a:defRPr/>
            </a:pPr>
            <a:r>
              <a:rPr lang="en-US" sz="1600" b="1" i="0" u="none" strike="noStrike" spc="100" baseline="0" dirty="0">
                <a:solidFill>
                  <a:prstClr val="white">
                    <a:lumMod val="95000"/>
                  </a:prstClr>
                </a:solidFill>
                <a:effectLst/>
                <a:latin typeface="Cambria Math" panose="02040503050406030204" pitchFamily="18" charset="0"/>
                <a:ea typeface="Cambria Math" panose="02040503050406030204" pitchFamily="18" charset="0"/>
                <a:cs typeface="Calibri" panose="020F0502020204030204" pitchFamily="34" charset="0"/>
              </a:rPr>
              <a:t>Identifying Repeat Customers </a:t>
            </a:r>
            <a:endParaRPr lang="en-US" sz="1600" b="1" i="0" u="none" strike="noStrike" spc="100" baseline="0" dirty="0">
              <a:solidFill>
                <a:prstClr val="white">
                  <a:lumMod val="95000"/>
                </a:prstClr>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endParaRPr>
          </a:p>
        </cx:rich>
      </cx:tx>
    </cx:title>
    <cx:plotArea>
      <cx:plotAreaRegion>
        <cx:series layoutId="clusteredColumn" uniqueId="{FBF49590-DD83-4810-B044-365A5DD89DEB}" formatIdx="0">
          <cx:tx>
            <cx:txData>
              <cx:f>'walmart task 8'!$A$1</cx:f>
              <cx:v>Customer ID</cx:v>
            </cx:txData>
          </cx:tx>
          <cx:dataLabels>
            <cx:visibility seriesName="0" categoryName="0" value="1"/>
          </cx:dataLabels>
          <cx:dataId val="0"/>
          <cx:layoutPr>
            <cx:binning intervalClosed="r"/>
          </cx:layoutPr>
        </cx:series>
        <cx:series layoutId="clusteredColumn" hidden="1" uniqueId="{E4407B2C-8B03-4099-B969-CFC63469394C}" formatIdx="1">
          <cx:tx>
            <cx:txData>
              <cx:f>'walmart task 8'!$B$1</cx:f>
              <cx:v>currentpurchase</cx:v>
            </cx:txData>
          </cx:tx>
          <cx:dataLabels>
            <cx:visibility seriesName="0" categoryName="0" value="1"/>
          </cx:dataLabels>
          <cx:dataId val="1"/>
          <cx:layoutPr>
            <cx:binning intervalClosed="r"/>
          </cx:layoutPr>
        </cx:series>
        <cx:series layoutId="clusteredColumn" hidden="1" uniqueId="{D67AB69E-DA49-48D2-A948-BA8FA3EAB565}" formatIdx="2">
          <cx:tx>
            <cx:txData>
              <cx:f>'walmart task 8'!$C$1</cx:f>
              <cx:v>PrevDate</cx:v>
            </cx:txData>
          </cx:tx>
          <cx:dataLabels>
            <cx:visibility seriesName="0" categoryName="0" value="1"/>
          </cx:dataLabels>
          <cx:dataId val="2"/>
          <cx:layoutPr>
            <cx:binning intervalClosed="r"/>
          </cx:layoutPr>
        </cx:series>
      </cx:plotAreaRegion>
      <cx:axis id="0">
        <cx:catScaling gapWidth="0"/>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6">
  <a:schemeClr val="accent3"/>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6">
  <a:schemeClr val="accent3"/>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 id="16">
  <a:schemeClr val="accent3"/>
</cs:colorStyle>
</file>

<file path=ppt/charts/colors11.xml><?xml version="1.0" encoding="utf-8"?>
<cs:colorStyle xmlns:cs="http://schemas.microsoft.com/office/drawing/2012/chartStyle" xmlns:a="http://schemas.openxmlformats.org/drawingml/2006/main" meth="withinLinear" id="15">
  <a:schemeClr val="accent2"/>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370">
  <cs:axisTitle>
    <cs:lnRef idx="0"/>
    <cs:fillRef idx="0"/>
    <cs:effectRef idx="0"/>
    <cs:fontRef idx="minor">
      <a:schemeClr val="lt1">
        <a:lumMod val="95000"/>
      </a:schemeClr>
    </cs:fontRef>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cs:chartArea>
  <cs:dataLabel>
    <cs:lnRef idx="0"/>
    <cs:fillRef idx="0"/>
    <cs:effectRef idx="0"/>
    <cs:fontRef idx="minor">
      <a:schemeClr val="lt1">
        <a:lumMod val="9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tx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600"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charts/style11.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8799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1014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92691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4076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2654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039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5229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0972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828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620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41230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93201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3757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771784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105621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3536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41496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61BEF0D-F0BB-DE4B-95CE-6DB70DBA9567}" type="datetimeFigureOut">
              <a:rPr lang="en-US" smtClean="0"/>
              <a:pPr/>
              <a:t>7/16/2025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0650165"/>
      </p:ext>
    </p:extLst>
  </p:cSld>
  <p:clrMap bg1="dk1" tx1="lt1" bg2="dk2"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4/relationships/chartEx" Target="../charts/chartEx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drive.google.com/file/d/1yUiaPXmF1_WLI_72drzlL1PawniW7JyN/view?usp=sharing"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1000"/>
            <a:lum/>
          </a:blip>
          <a:srcRect/>
          <a:stretch>
            <a:fillRect l="-4000" r="-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A4E6D-D533-0369-59D8-03F25A9861BA}"/>
              </a:ext>
            </a:extLst>
          </p:cNvPr>
          <p:cNvSpPr>
            <a:spLocks noGrp="1"/>
          </p:cNvSpPr>
          <p:nvPr>
            <p:ph type="ctrTitle"/>
          </p:nvPr>
        </p:nvSpPr>
        <p:spPr>
          <a:xfrm>
            <a:off x="137160" y="800882"/>
            <a:ext cx="5577840" cy="701731"/>
          </a:xfrm>
          <a:effectLst>
            <a:glow rad="139700">
              <a:schemeClr val="tx2">
                <a:lumMod val="10000"/>
                <a:alpha val="40000"/>
              </a:schemeClr>
            </a:glow>
          </a:effectLst>
        </p:spPr>
        <p:txBody>
          <a:bodyPr wrap="square">
            <a:spAutoFit/>
          </a:bodyPr>
          <a:lstStyle/>
          <a:p>
            <a:r>
              <a:rPr lang="en-IN" sz="4400" b="1" dirty="0">
                <a:effectLst>
                  <a:glow rad="63500">
                    <a:schemeClr val="accent1">
                      <a:satMod val="175000"/>
                      <a:alpha val="40000"/>
                    </a:schemeClr>
                  </a:glow>
                </a:effectLst>
                <a:latin typeface="Cambria" panose="02040503050406030204" pitchFamily="18" charset="0"/>
                <a:ea typeface="Cambria" panose="02040503050406030204" pitchFamily="18" charset="0"/>
              </a:rPr>
              <a:t>Project :-   Walmart</a:t>
            </a:r>
            <a:r>
              <a:rPr lang="en-IN" sz="4400" dirty="0">
                <a:effectLst>
                  <a:glow rad="63500">
                    <a:schemeClr val="accent1">
                      <a:satMod val="175000"/>
                      <a:alpha val="40000"/>
                    </a:schemeClr>
                  </a:glow>
                </a:effectLst>
                <a:latin typeface="Cambria" panose="02040503050406030204" pitchFamily="18" charset="0"/>
                <a:ea typeface="Cambria" panose="02040503050406030204" pitchFamily="18" charset="0"/>
              </a:rPr>
              <a:t> </a:t>
            </a:r>
            <a:r>
              <a:rPr lang="en-IN" sz="4400" b="1" dirty="0">
                <a:effectLst>
                  <a:glow rad="63500">
                    <a:schemeClr val="accent1">
                      <a:satMod val="175000"/>
                      <a:alpha val="40000"/>
                    </a:schemeClr>
                  </a:glow>
                  <a:outerShdw blurRad="63500" dist="50800" dir="5400000" algn="ctr" rotWithShape="0">
                    <a:srgbClr val="000000">
                      <a:alpha val="43137"/>
                    </a:srgbClr>
                  </a:outerShdw>
                </a:effectLst>
                <a:latin typeface="Cambria" panose="02040503050406030204" pitchFamily="18" charset="0"/>
                <a:ea typeface="Cambria" panose="02040503050406030204" pitchFamily="18" charset="0"/>
              </a:rPr>
              <a:t>Sales</a:t>
            </a:r>
            <a:r>
              <a:rPr lang="en-IN" sz="4400" dirty="0">
                <a:effectLst>
                  <a:glow rad="63500">
                    <a:schemeClr val="accent1">
                      <a:satMod val="175000"/>
                      <a:alpha val="40000"/>
                    </a:schemeClr>
                  </a:glow>
                </a:effectLst>
              </a:rPr>
              <a:t> </a:t>
            </a:r>
          </a:p>
        </p:txBody>
      </p:sp>
      <p:sp>
        <p:nvSpPr>
          <p:cNvPr id="3" name="Subtitle 2">
            <a:extLst>
              <a:ext uri="{FF2B5EF4-FFF2-40B4-BE49-F238E27FC236}">
                <a16:creationId xmlns:a16="http://schemas.microsoft.com/office/drawing/2014/main" id="{444AB4A5-60DE-6FA7-5385-A25D96E29221}"/>
              </a:ext>
            </a:extLst>
          </p:cNvPr>
          <p:cNvSpPr>
            <a:spLocks noGrp="1"/>
          </p:cNvSpPr>
          <p:nvPr>
            <p:ph type="subTitle" idx="1"/>
          </p:nvPr>
        </p:nvSpPr>
        <p:spPr>
          <a:xfrm>
            <a:off x="243840" y="1737361"/>
            <a:ext cx="5577840" cy="579120"/>
          </a:xfrm>
          <a:effectLst>
            <a:glow rad="228600">
              <a:schemeClr val="accent3">
                <a:satMod val="175000"/>
                <a:alpha val="40000"/>
              </a:schemeClr>
            </a:glow>
          </a:effectLst>
        </p:spPr>
        <p:txBody>
          <a:bodyPr>
            <a:normAutofit/>
          </a:bodyPr>
          <a:lstStyle/>
          <a:p>
            <a:r>
              <a:rPr lang="en-IN" sz="2800" b="1" dirty="0" err="1">
                <a:solidFill>
                  <a:schemeClr val="accent1">
                    <a:lumMod val="20000"/>
                    <a:lumOff val="80000"/>
                  </a:schemeClr>
                </a:solidFill>
                <a:latin typeface="Cambria Math" panose="02040503050406030204" pitchFamily="18" charset="0"/>
                <a:ea typeface="Cambria Math" panose="02040503050406030204" pitchFamily="18" charset="0"/>
              </a:rPr>
              <a:t>Sql</a:t>
            </a:r>
            <a:r>
              <a:rPr lang="en-IN" sz="2800" b="1" dirty="0">
                <a:solidFill>
                  <a:schemeClr val="accent1">
                    <a:lumMod val="20000"/>
                    <a:lumOff val="80000"/>
                  </a:schemeClr>
                </a:solidFill>
                <a:latin typeface="Cambria Math" panose="02040503050406030204" pitchFamily="18" charset="0"/>
                <a:ea typeface="Cambria Math" panose="02040503050406030204" pitchFamily="18" charset="0"/>
              </a:rPr>
              <a:t> Data Analysis for Walmart sales</a:t>
            </a:r>
          </a:p>
        </p:txBody>
      </p:sp>
    </p:spTree>
    <p:extLst>
      <p:ext uri="{BB962C8B-B14F-4D97-AF65-F5344CB8AC3E}">
        <p14:creationId xmlns:p14="http://schemas.microsoft.com/office/powerpoint/2010/main" val="3252722246"/>
      </p:ext>
    </p:extLst>
  </p:cSld>
  <p:clrMapOvr>
    <a:masterClrMapping/>
  </p:clrMapOvr>
  <p:transition spd="slow" advTm="2064">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1DF9431-1DC9-9FF9-703A-692B6EBF4384}"/>
              </a:ext>
            </a:extLst>
          </p:cNvPr>
          <p:cNvSpPr txBox="1"/>
          <p:nvPr/>
        </p:nvSpPr>
        <p:spPr>
          <a:xfrm>
            <a:off x="213360" y="577394"/>
            <a:ext cx="11049000" cy="1754326"/>
          </a:xfrm>
          <a:prstGeom prst="rect">
            <a:avLst/>
          </a:prstGeom>
          <a:noFill/>
        </p:spPr>
        <p:txBody>
          <a:bodyPr wrap="square" rtlCol="0">
            <a:spAutoFit/>
          </a:bodyPr>
          <a:lstStyle/>
          <a:p>
            <a:r>
              <a:rPr lang="en-US" sz="3600" b="1" u="sng" dirty="0">
                <a:solidFill>
                  <a:schemeClr val="tx2">
                    <a:lumMod val="60000"/>
                    <a:lumOff val="40000"/>
                  </a:schemeClr>
                </a:solidFill>
                <a:latin typeface="Cambria Math" panose="02040503050406030204" pitchFamily="18" charset="0"/>
                <a:ea typeface="Cambria Math" panose="02040503050406030204" pitchFamily="18" charset="0"/>
              </a:rPr>
              <a:t>Project Title</a:t>
            </a:r>
            <a:r>
              <a:rPr lang="en-US" sz="3600" b="1" dirty="0">
                <a:solidFill>
                  <a:schemeClr val="tx2">
                    <a:lumMod val="60000"/>
                    <a:lumOff val="40000"/>
                  </a:schemeClr>
                </a:solidFill>
                <a:latin typeface="Cambria Math" panose="02040503050406030204" pitchFamily="18" charset="0"/>
                <a:ea typeface="Cambria Math" panose="02040503050406030204" pitchFamily="18" charset="0"/>
              </a:rPr>
              <a:t>:-</a:t>
            </a:r>
            <a:endParaRPr lang="en-US" sz="3600" dirty="0">
              <a:latin typeface="Cambria Math" panose="02040503050406030204" pitchFamily="18" charset="0"/>
              <a:ea typeface="Cambria Math" panose="02040503050406030204" pitchFamily="18" charset="0"/>
            </a:endParaRPr>
          </a:p>
          <a:p>
            <a:r>
              <a:rPr lang="en-US" sz="3600" b="1" dirty="0">
                <a:solidFill>
                  <a:schemeClr val="tx2">
                    <a:lumMod val="60000"/>
                    <a:lumOff val="40000"/>
                  </a:schemeClr>
                </a:solidFill>
                <a:latin typeface="Cambria" panose="02040503050406030204" pitchFamily="18" charset="0"/>
                <a:ea typeface="Cambria" panose="02040503050406030204" pitchFamily="18" charset="0"/>
              </a:rPr>
              <a:t>Sales Performance Analysis of Walmart Stores Using Advanced MySQL Techniques </a:t>
            </a:r>
            <a:endParaRPr lang="en-IN" b="1" dirty="0">
              <a:solidFill>
                <a:schemeClr val="tx2">
                  <a:lumMod val="60000"/>
                  <a:lumOff val="40000"/>
                </a:schemeClr>
              </a:solidFill>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D76020AC-A7E7-CD8C-8348-A682AD3A6BEC}"/>
              </a:ext>
            </a:extLst>
          </p:cNvPr>
          <p:cNvSpPr txBox="1"/>
          <p:nvPr/>
        </p:nvSpPr>
        <p:spPr>
          <a:xfrm>
            <a:off x="213360" y="2758440"/>
            <a:ext cx="11247120" cy="3724096"/>
          </a:xfrm>
          <a:prstGeom prst="rect">
            <a:avLst/>
          </a:prstGeom>
          <a:noFill/>
        </p:spPr>
        <p:txBody>
          <a:bodyPr wrap="square" rtlCol="0">
            <a:spAutoFit/>
          </a:bodyPr>
          <a:lstStyle/>
          <a:p>
            <a:r>
              <a:rPr lang="en-US" sz="3200" u="sng" dirty="0">
                <a:solidFill>
                  <a:schemeClr val="tx2">
                    <a:lumMod val="60000"/>
                    <a:lumOff val="40000"/>
                  </a:schemeClr>
                </a:solidFill>
                <a:latin typeface="Cambria Math" panose="02040503050406030204" pitchFamily="18" charset="0"/>
                <a:ea typeface="Cambria Math" panose="02040503050406030204" pitchFamily="18" charset="0"/>
              </a:rPr>
              <a:t>Introduction:</a:t>
            </a:r>
            <a:r>
              <a:rPr lang="en-US" sz="2800" dirty="0">
                <a:solidFill>
                  <a:schemeClr val="tx2">
                    <a:lumMod val="60000"/>
                    <a:lumOff val="40000"/>
                  </a:schemeClr>
                </a:solidFill>
                <a:latin typeface="Cambria Math" panose="02040503050406030204" pitchFamily="18" charset="0"/>
                <a:ea typeface="Cambria Math" panose="02040503050406030204" pitchFamily="18" charset="0"/>
              </a:rPr>
              <a:t>-</a:t>
            </a:r>
          </a:p>
          <a:p>
            <a:endParaRPr lang="en-US" sz="2800" dirty="0">
              <a:solidFill>
                <a:schemeClr val="tx2">
                  <a:lumMod val="60000"/>
                  <a:lumOff val="40000"/>
                </a:schemeClr>
              </a:solidFill>
              <a:latin typeface="Cambria Math" panose="02040503050406030204" pitchFamily="18" charset="0"/>
              <a:ea typeface="Cambria Math" panose="02040503050406030204" pitchFamily="18" charset="0"/>
            </a:endParaRPr>
          </a:p>
          <a:p>
            <a:r>
              <a:rPr lang="en-US" sz="3600" dirty="0">
                <a:solidFill>
                  <a:schemeClr val="tx1">
                    <a:lumMod val="85000"/>
                  </a:schemeClr>
                </a:solidFill>
                <a:latin typeface="Cambria Math" panose="02040503050406030204" pitchFamily="18" charset="0"/>
                <a:ea typeface="Cambria Math" panose="02040503050406030204" pitchFamily="18" charset="0"/>
              </a:rPr>
              <a:t>W</a:t>
            </a:r>
            <a:r>
              <a:rPr lang="en-US" sz="2800" dirty="0">
                <a:solidFill>
                  <a:schemeClr val="tx1">
                    <a:lumMod val="85000"/>
                  </a:schemeClr>
                </a:solidFill>
                <a:latin typeface="Cambria Math" panose="02040503050406030204" pitchFamily="18" charset="0"/>
                <a:ea typeface="Cambria Math" panose="02040503050406030204" pitchFamily="18" charset="0"/>
              </a:rPr>
              <a:t>almart, a major retail chain, operates across several cities, offering a wide range of products. The dataset provided contains detailed transaction data, including customer demographics, product lines, sales figures, and payment methods. This project will use advanced SQL techniques to uncover actionable insights into sales performance, customer behavior, and operational efficiencies.</a:t>
            </a:r>
            <a:endParaRPr lang="en-IN" sz="2800" dirty="0">
              <a:solidFill>
                <a:schemeClr val="tx1">
                  <a:lumMod val="85000"/>
                </a:schemeClr>
              </a:solidFill>
              <a:latin typeface="Cambria Math" panose="02040503050406030204" pitchFamily="18" charset="0"/>
              <a:ea typeface="Cambria Math" panose="02040503050406030204" pitchFamily="18" charset="0"/>
            </a:endParaRPr>
          </a:p>
        </p:txBody>
      </p:sp>
    </p:spTree>
    <p:custDataLst>
      <p:tags r:id="rId1"/>
    </p:custDataLst>
    <p:extLst>
      <p:ext uri="{BB962C8B-B14F-4D97-AF65-F5344CB8AC3E}">
        <p14:creationId xmlns:p14="http://schemas.microsoft.com/office/powerpoint/2010/main" val="4136733078"/>
      </p:ext>
    </p:extLst>
  </p:cSld>
  <p:clrMapOvr>
    <a:masterClrMapping/>
  </p:clrMapOvr>
  <p:transition spd="slow" advTm="582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0814C6D-8990-0670-391F-05B10586AE57}"/>
              </a:ext>
            </a:extLst>
          </p:cNvPr>
          <p:cNvSpPr>
            <a:spLocks noGrp="1"/>
          </p:cNvSpPr>
          <p:nvPr>
            <p:ph type="title"/>
          </p:nvPr>
        </p:nvSpPr>
        <p:spPr>
          <a:xfrm>
            <a:off x="220980" y="154206"/>
            <a:ext cx="7429500" cy="1325563"/>
          </a:xfrm>
        </p:spPr>
        <p:txBody>
          <a:bodyPr>
            <a:normAutofit/>
          </a:bodyPr>
          <a:lstStyle/>
          <a:p>
            <a:r>
              <a:rPr lang="en-IN" sz="6000" dirty="0">
                <a:latin typeface="Cambria Math" panose="02040503050406030204" pitchFamily="18" charset="0"/>
                <a:ea typeface="Cambria Math" panose="02040503050406030204" pitchFamily="18" charset="0"/>
              </a:rPr>
              <a:t>Business Problem:</a:t>
            </a:r>
          </a:p>
        </p:txBody>
      </p:sp>
      <p:sp>
        <p:nvSpPr>
          <p:cNvPr id="13" name="TextBox 12">
            <a:extLst>
              <a:ext uri="{FF2B5EF4-FFF2-40B4-BE49-F238E27FC236}">
                <a16:creationId xmlns:a16="http://schemas.microsoft.com/office/drawing/2014/main" id="{50719D98-F6E1-3584-A146-289D2587D151}"/>
              </a:ext>
            </a:extLst>
          </p:cNvPr>
          <p:cNvSpPr txBox="1"/>
          <p:nvPr/>
        </p:nvSpPr>
        <p:spPr>
          <a:xfrm>
            <a:off x="175260" y="1270298"/>
            <a:ext cx="9060180" cy="2862322"/>
          </a:xfrm>
          <a:prstGeom prst="rect">
            <a:avLst/>
          </a:prstGeom>
          <a:noFill/>
        </p:spPr>
        <p:txBody>
          <a:bodyPr wrap="square" rtlCol="0">
            <a:spAutoFit/>
          </a:bodyPr>
          <a:lstStyle/>
          <a:p>
            <a:r>
              <a:rPr lang="en-US" sz="4000" dirty="0">
                <a:latin typeface="Cambria Math" panose="02040503050406030204" pitchFamily="18" charset="0"/>
                <a:ea typeface="Cambria Math" panose="02040503050406030204" pitchFamily="18" charset="0"/>
              </a:rPr>
              <a:t>W</a:t>
            </a:r>
            <a:r>
              <a:rPr lang="en-US" sz="2800" dirty="0">
                <a:latin typeface="Cambria Math" panose="02040503050406030204" pitchFamily="18" charset="0"/>
                <a:ea typeface="Cambria Math" panose="02040503050406030204" pitchFamily="18" charset="0"/>
              </a:rPr>
              <a:t>almart wants to optimize its sales strategies by analyzing historical transaction data across branches, customer types, payment methods, and product lines. To achieve this, advanced MySQL queries will be employed to answer challenging business questions related to sales performance, customer segmentation, and product trends. </a:t>
            </a:r>
            <a:endParaRPr lang="en-IN" sz="2800" dirty="0">
              <a:latin typeface="Cambria Math" panose="02040503050406030204" pitchFamily="18" charset="0"/>
              <a:ea typeface="Cambria Math" panose="02040503050406030204" pitchFamily="18" charset="0"/>
            </a:endParaRPr>
          </a:p>
        </p:txBody>
      </p:sp>
      <p:grpSp>
        <p:nvGrpSpPr>
          <p:cNvPr id="34" name="Group 33">
            <a:extLst>
              <a:ext uri="{FF2B5EF4-FFF2-40B4-BE49-F238E27FC236}">
                <a16:creationId xmlns:a16="http://schemas.microsoft.com/office/drawing/2014/main" id="{A0457B9A-92C6-C90F-344E-C9F4BAB4A27F}"/>
              </a:ext>
            </a:extLst>
          </p:cNvPr>
          <p:cNvGrpSpPr/>
          <p:nvPr/>
        </p:nvGrpSpPr>
        <p:grpSpPr>
          <a:xfrm>
            <a:off x="220980" y="352802"/>
            <a:ext cx="11856720" cy="6361053"/>
            <a:chOff x="220980" y="352802"/>
            <a:chExt cx="11856720" cy="6361053"/>
          </a:xfr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p:grpSpPr>
        <p:sp>
          <p:nvSpPr>
            <p:cNvPr id="20" name="Rectangle: Rounded Corners 19">
              <a:extLst>
                <a:ext uri="{FF2B5EF4-FFF2-40B4-BE49-F238E27FC236}">
                  <a16:creationId xmlns:a16="http://schemas.microsoft.com/office/drawing/2014/main" id="{660C320A-EEB2-CA0F-3561-A8FFAAFD0274}"/>
                </a:ext>
              </a:extLst>
            </p:cNvPr>
            <p:cNvSpPr/>
            <p:nvPr/>
          </p:nvSpPr>
          <p:spPr>
            <a:xfrm>
              <a:off x="10767060" y="352802"/>
              <a:ext cx="1310640" cy="6325870"/>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4AE1F27D-4B60-DC3B-5496-F8F66E2A3FA6}"/>
                </a:ext>
              </a:extLst>
            </p:cNvPr>
            <p:cNvSpPr/>
            <p:nvPr/>
          </p:nvSpPr>
          <p:spPr>
            <a:xfrm>
              <a:off x="9342120" y="2579914"/>
              <a:ext cx="1219200" cy="4133940"/>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C489132F-B6F4-353B-E10A-BE8498652205}"/>
                </a:ext>
              </a:extLst>
            </p:cNvPr>
            <p:cNvSpPr/>
            <p:nvPr/>
          </p:nvSpPr>
          <p:spPr>
            <a:xfrm>
              <a:off x="4274820" y="5257800"/>
              <a:ext cx="861060" cy="1456054"/>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C1867586-DEB6-D781-2281-46C7C2EBF50B}"/>
                </a:ext>
              </a:extLst>
            </p:cNvPr>
            <p:cNvSpPr/>
            <p:nvPr/>
          </p:nvSpPr>
          <p:spPr>
            <a:xfrm>
              <a:off x="2849880" y="5532120"/>
              <a:ext cx="861060" cy="1181734"/>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B3A0A321-D428-02DD-A668-4F8EC22C3991}"/>
                </a:ext>
              </a:extLst>
            </p:cNvPr>
            <p:cNvSpPr/>
            <p:nvPr/>
          </p:nvSpPr>
          <p:spPr>
            <a:xfrm>
              <a:off x="1424940" y="5760720"/>
              <a:ext cx="819150" cy="953134"/>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Rectangle: Rounded Corners 24">
              <a:extLst>
                <a:ext uri="{FF2B5EF4-FFF2-40B4-BE49-F238E27FC236}">
                  <a16:creationId xmlns:a16="http://schemas.microsoft.com/office/drawing/2014/main" id="{231E767D-53C2-9A9B-1D2C-0F4676DCF3C9}"/>
                </a:ext>
              </a:extLst>
            </p:cNvPr>
            <p:cNvSpPr/>
            <p:nvPr/>
          </p:nvSpPr>
          <p:spPr>
            <a:xfrm>
              <a:off x="220980" y="6010396"/>
              <a:ext cx="819150" cy="668276"/>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3E4EA731-6A70-93FA-CBFC-7ED7A928FF7A}"/>
                </a:ext>
              </a:extLst>
            </p:cNvPr>
            <p:cNvSpPr/>
            <p:nvPr/>
          </p:nvSpPr>
          <p:spPr>
            <a:xfrm>
              <a:off x="5699760" y="5013960"/>
              <a:ext cx="861060" cy="1699894"/>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B9D0F8E4-A71A-8D0B-93FE-55744300EB81}"/>
                </a:ext>
              </a:extLst>
            </p:cNvPr>
            <p:cNvSpPr/>
            <p:nvPr/>
          </p:nvSpPr>
          <p:spPr>
            <a:xfrm>
              <a:off x="6894195" y="4713514"/>
              <a:ext cx="861060" cy="2000340"/>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A4DAEE76-3238-9040-F7C0-F1F3B23DDE9C}"/>
                </a:ext>
              </a:extLst>
            </p:cNvPr>
            <p:cNvSpPr/>
            <p:nvPr/>
          </p:nvSpPr>
          <p:spPr>
            <a:xfrm>
              <a:off x="8088630" y="4332515"/>
              <a:ext cx="861060" cy="2381340"/>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ustDataLst>
      <p:tags r:id="rId1"/>
    </p:custDataLst>
    <p:extLst>
      <p:ext uri="{BB962C8B-B14F-4D97-AF65-F5344CB8AC3E}">
        <p14:creationId xmlns:p14="http://schemas.microsoft.com/office/powerpoint/2010/main" val="2080850565"/>
      </p:ext>
    </p:extLst>
  </p:cSld>
  <p:clrMapOvr>
    <a:masterClrMapping/>
  </p:clrMapOvr>
  <p:transition spd="slow" advTm="4901">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21116-7577-0F92-F69F-8733A3CBC0D0}"/>
              </a:ext>
            </a:extLst>
          </p:cNvPr>
          <p:cNvSpPr>
            <a:spLocks noGrp="1"/>
          </p:cNvSpPr>
          <p:nvPr>
            <p:ph type="title" idx="4294967295"/>
          </p:nvPr>
        </p:nvSpPr>
        <p:spPr>
          <a:xfrm>
            <a:off x="0" y="-47134"/>
            <a:ext cx="12192000" cy="1325563"/>
          </a:xfrm>
        </p:spPr>
        <p:txBody>
          <a:bodyPr>
            <a:normAutofit/>
          </a:bodyPr>
          <a:lstStyle/>
          <a:p>
            <a:r>
              <a:rPr lang="en-IN" sz="2200" dirty="0">
                <a:latin typeface="Cambria Math" panose="02040503050406030204" pitchFamily="18" charset="0"/>
                <a:ea typeface="Cambria Math" panose="02040503050406030204" pitchFamily="18" charset="0"/>
              </a:rPr>
              <a:t>Task 1:- </a:t>
            </a:r>
            <a:r>
              <a:rPr lang="en-US" sz="2700" dirty="0">
                <a:latin typeface="Cambria Math" panose="02040503050406030204" pitchFamily="18" charset="0"/>
                <a:ea typeface="Cambria Math" panose="02040503050406030204" pitchFamily="18" charset="0"/>
              </a:rPr>
              <a:t>Identifying the Top Branch by Sales Growth Rate</a:t>
            </a:r>
            <a:br>
              <a:rPr lang="en-US" sz="3200" dirty="0">
                <a:latin typeface="Cambria Math" panose="02040503050406030204" pitchFamily="18" charset="0"/>
                <a:ea typeface="Cambria Math" panose="02040503050406030204" pitchFamily="18" charset="0"/>
              </a:rPr>
            </a:br>
            <a:r>
              <a:rPr lang="en-US" sz="2200" dirty="0">
                <a:latin typeface="Cambria Math" panose="02040503050406030204" pitchFamily="18" charset="0"/>
                <a:ea typeface="Cambria Math" panose="02040503050406030204" pitchFamily="18" charset="0"/>
              </a:rPr>
              <a:t>Walmart</a:t>
            </a:r>
            <a:r>
              <a:rPr lang="en-US" sz="2000" dirty="0">
                <a:latin typeface="Cambria Math" panose="02040503050406030204" pitchFamily="18" charset="0"/>
                <a:ea typeface="Cambria Math" panose="02040503050406030204" pitchFamily="18" charset="0"/>
              </a:rPr>
              <a:t> wants to identify which branch has exhibited the highest sales growth over time. Analyze the total sales for each branch and compare the growth rate across months to find the top performer</a:t>
            </a:r>
            <a:endParaRPr lang="en-IN" sz="3200" dirty="0">
              <a:latin typeface="Cambria Math" panose="02040503050406030204" pitchFamily="18" charset="0"/>
              <a:ea typeface="Cambria Math" panose="02040503050406030204" pitchFamily="18" charset="0"/>
            </a:endParaRPr>
          </a:p>
        </p:txBody>
      </p:sp>
      <p:sp>
        <p:nvSpPr>
          <p:cNvPr id="11" name="TextBox 10">
            <a:extLst>
              <a:ext uri="{FF2B5EF4-FFF2-40B4-BE49-F238E27FC236}">
                <a16:creationId xmlns:a16="http://schemas.microsoft.com/office/drawing/2014/main" id="{C83C754A-E8F0-6C61-F5A5-252AE14A2E62}"/>
              </a:ext>
            </a:extLst>
          </p:cNvPr>
          <p:cNvSpPr txBox="1"/>
          <p:nvPr/>
        </p:nvSpPr>
        <p:spPr>
          <a:xfrm>
            <a:off x="126993" y="1193588"/>
            <a:ext cx="8083753" cy="5693866"/>
          </a:xfrm>
          <a:prstGeom prst="rect">
            <a:avLst/>
          </a:prstGeom>
          <a:noFill/>
        </p:spPr>
        <p:txBody>
          <a:bodyPr wrap="square" rtlCol="0">
            <a:spAutoFit/>
          </a:bodyPr>
          <a:lstStyle/>
          <a:p>
            <a:r>
              <a:rPr lang="en-US" sz="1400" dirty="0">
                <a:latin typeface="Cambria Math" panose="02040503050406030204" pitchFamily="18" charset="0"/>
                <a:ea typeface="Cambria Math" panose="02040503050406030204" pitchFamily="18" charset="0"/>
              </a:rPr>
              <a:t>SQL Script:-</a:t>
            </a:r>
          </a:p>
          <a:p>
            <a:r>
              <a:rPr lang="en-US" sz="1400" dirty="0">
                <a:latin typeface="Cambria Math" panose="02040503050406030204" pitchFamily="18" charset="0"/>
                <a:ea typeface="Cambria Math" panose="02040503050406030204" pitchFamily="18" charset="0"/>
              </a:rPr>
              <a:t>WITH </a:t>
            </a:r>
            <a:r>
              <a:rPr lang="en-US" sz="1400" dirty="0" err="1">
                <a:latin typeface="Cambria Math" panose="02040503050406030204" pitchFamily="18" charset="0"/>
                <a:ea typeface="Cambria Math" panose="02040503050406030204" pitchFamily="18" charset="0"/>
              </a:rPr>
              <a:t>MonthlySales</a:t>
            </a:r>
            <a:r>
              <a:rPr lang="en-US" sz="1400" dirty="0">
                <a:latin typeface="Cambria Math" panose="02040503050406030204" pitchFamily="18" charset="0"/>
                <a:ea typeface="Cambria Math" panose="02040503050406030204" pitchFamily="18" charset="0"/>
              </a:rPr>
              <a:t> AS (</a:t>
            </a:r>
          </a:p>
          <a:p>
            <a:r>
              <a:rPr lang="en-US" sz="1400" dirty="0">
                <a:latin typeface="Cambria Math" panose="02040503050406030204" pitchFamily="18" charset="0"/>
                <a:ea typeface="Cambria Math" panose="02040503050406030204" pitchFamily="18" charset="0"/>
              </a:rPr>
              <a:t>    SELECT  Branch, Date AS </a:t>
            </a:r>
            <a:r>
              <a:rPr lang="en-US" sz="1400" dirty="0" err="1">
                <a:latin typeface="Cambria Math" panose="02040503050406030204" pitchFamily="18" charset="0"/>
                <a:ea typeface="Cambria Math" panose="02040503050406030204" pitchFamily="18" charset="0"/>
              </a:rPr>
              <a:t>sale_month</a:t>
            </a:r>
            <a:r>
              <a:rPr lang="en-US" sz="1400" dirty="0">
                <a:latin typeface="Cambria Math" panose="02040503050406030204" pitchFamily="18" charset="0"/>
                <a:ea typeface="Cambria Math" panose="02040503050406030204" pitchFamily="18" charset="0"/>
              </a:rPr>
              <a:t>, SUM(Total) AS </a:t>
            </a:r>
            <a:r>
              <a:rPr lang="en-US" sz="1400" dirty="0" err="1">
                <a:latin typeface="Cambria Math" panose="02040503050406030204" pitchFamily="18" charset="0"/>
                <a:ea typeface="Cambria Math" panose="02040503050406030204" pitchFamily="18" charset="0"/>
              </a:rPr>
              <a:t>MonthlyTotalSales</a:t>
            </a:r>
            <a:r>
              <a:rPr lang="en-US" sz="1400" dirty="0">
                <a:latin typeface="Cambria Math" panose="02040503050406030204" pitchFamily="18" charset="0"/>
                <a:ea typeface="Cambria Math" panose="02040503050406030204" pitchFamily="18" charset="0"/>
              </a:rPr>
              <a:t>   </a:t>
            </a:r>
          </a:p>
          <a:p>
            <a:r>
              <a:rPr lang="en-US" sz="1400" dirty="0">
                <a:latin typeface="Cambria Math" panose="02040503050406030204" pitchFamily="18" charset="0"/>
                <a:ea typeface="Cambria Math" panose="02040503050406030204" pitchFamily="18" charset="0"/>
              </a:rPr>
              <a:t> FROM </a:t>
            </a:r>
            <a:r>
              <a:rPr lang="en-US" sz="1400" dirty="0" err="1">
                <a:latin typeface="Cambria Math" panose="02040503050406030204" pitchFamily="18" charset="0"/>
                <a:ea typeface="Cambria Math" panose="02040503050406030204" pitchFamily="18" charset="0"/>
              </a:rPr>
              <a:t>walmartsales</a:t>
            </a:r>
            <a:r>
              <a:rPr lang="en-US" sz="1400" dirty="0">
                <a:latin typeface="Cambria Math" panose="02040503050406030204" pitchFamily="18" charset="0"/>
                <a:ea typeface="Cambria Math" panose="02040503050406030204" pitchFamily="18" charset="0"/>
              </a:rPr>
              <a:t>  </a:t>
            </a:r>
          </a:p>
          <a:p>
            <a:r>
              <a:rPr lang="en-US" sz="1400" dirty="0">
                <a:latin typeface="Cambria Math" panose="02040503050406030204" pitchFamily="18" charset="0"/>
                <a:ea typeface="Cambria Math" panose="02040503050406030204" pitchFamily="18" charset="0"/>
              </a:rPr>
              <a:t>  GROUP BY         </a:t>
            </a:r>
          </a:p>
          <a:p>
            <a:r>
              <a:rPr lang="en-US" sz="1400" dirty="0">
                <a:latin typeface="Cambria Math" panose="02040503050406030204" pitchFamily="18" charset="0"/>
                <a:ea typeface="Cambria Math" panose="02040503050406030204" pitchFamily="18" charset="0"/>
              </a:rPr>
              <a:t>		Branch, </a:t>
            </a:r>
            <a:r>
              <a:rPr lang="en-US" sz="1400" dirty="0" err="1">
                <a:latin typeface="Cambria Math" panose="02040503050406030204" pitchFamily="18" charset="0"/>
                <a:ea typeface="Cambria Math" panose="02040503050406030204" pitchFamily="18" charset="0"/>
              </a:rPr>
              <a:t>sale_month</a:t>
            </a:r>
            <a:endParaRPr lang="en-US" sz="1400" dirty="0">
              <a:latin typeface="Cambria Math" panose="02040503050406030204" pitchFamily="18" charset="0"/>
              <a:ea typeface="Cambria Math" panose="02040503050406030204" pitchFamily="18" charset="0"/>
            </a:endParaRPr>
          </a:p>
          <a:p>
            <a:r>
              <a:rPr lang="en-US" sz="1400" dirty="0">
                <a:latin typeface="Cambria Math" panose="02040503050406030204" pitchFamily="18" charset="0"/>
                <a:ea typeface="Cambria Math" panose="02040503050406030204" pitchFamily="18" charset="0"/>
              </a:rPr>
              <a:t> ) , </a:t>
            </a:r>
          </a:p>
          <a:p>
            <a:r>
              <a:rPr lang="en-US" sz="1400" dirty="0" err="1">
                <a:latin typeface="Cambria Math" panose="02040503050406030204" pitchFamily="18" charset="0"/>
                <a:ea typeface="Cambria Math" panose="02040503050406030204" pitchFamily="18" charset="0"/>
              </a:rPr>
              <a:t>SalesWithLag</a:t>
            </a:r>
            <a:r>
              <a:rPr lang="en-US" sz="1400" dirty="0">
                <a:latin typeface="Cambria Math" panose="02040503050406030204" pitchFamily="18" charset="0"/>
                <a:ea typeface="Cambria Math" panose="02040503050406030204" pitchFamily="18" charset="0"/>
              </a:rPr>
              <a:t> AS (   </a:t>
            </a:r>
          </a:p>
          <a:p>
            <a:r>
              <a:rPr lang="en-US" sz="1400" dirty="0">
                <a:latin typeface="Cambria Math" panose="02040503050406030204" pitchFamily="18" charset="0"/>
                <a:ea typeface="Cambria Math" panose="02040503050406030204" pitchFamily="18" charset="0"/>
              </a:rPr>
              <a:t> SELECT Branch, </a:t>
            </a:r>
            <a:r>
              <a:rPr lang="en-US" sz="1400" dirty="0" err="1">
                <a:latin typeface="Cambria Math" panose="02040503050406030204" pitchFamily="18" charset="0"/>
                <a:ea typeface="Cambria Math" panose="02040503050406030204" pitchFamily="18" charset="0"/>
              </a:rPr>
              <a:t>sale_month</a:t>
            </a:r>
            <a:r>
              <a:rPr lang="en-US" sz="1400" dirty="0">
                <a:latin typeface="Cambria Math" panose="02040503050406030204" pitchFamily="18" charset="0"/>
                <a:ea typeface="Cambria Math" panose="02040503050406030204" pitchFamily="18" charset="0"/>
              </a:rPr>
              <a:t>, </a:t>
            </a:r>
            <a:r>
              <a:rPr lang="en-US" sz="1400" dirty="0" err="1">
                <a:latin typeface="Cambria Math" panose="02040503050406030204" pitchFamily="18" charset="0"/>
                <a:ea typeface="Cambria Math" panose="02040503050406030204" pitchFamily="18" charset="0"/>
              </a:rPr>
              <a:t>MonthlyTotalSales</a:t>
            </a:r>
            <a:r>
              <a:rPr lang="en-US" sz="1400" dirty="0">
                <a:latin typeface="Cambria Math" panose="02040503050406030204" pitchFamily="18" charset="0"/>
                <a:ea typeface="Cambria Math" panose="02040503050406030204" pitchFamily="18" charset="0"/>
              </a:rPr>
              <a:t>,      </a:t>
            </a:r>
          </a:p>
          <a:p>
            <a:r>
              <a:rPr lang="en-US" sz="1400" dirty="0">
                <a:latin typeface="Cambria Math" panose="02040503050406030204" pitchFamily="18" charset="0"/>
                <a:ea typeface="Cambria Math" panose="02040503050406030204" pitchFamily="18" charset="0"/>
              </a:rPr>
              <a:t>  LAG(</a:t>
            </a:r>
            <a:r>
              <a:rPr lang="en-US" sz="1400" dirty="0" err="1">
                <a:latin typeface="Cambria Math" panose="02040503050406030204" pitchFamily="18" charset="0"/>
                <a:ea typeface="Cambria Math" panose="02040503050406030204" pitchFamily="18" charset="0"/>
              </a:rPr>
              <a:t>MonthlyTotalSales</a:t>
            </a:r>
            <a:r>
              <a:rPr lang="en-US" sz="1400" dirty="0">
                <a:latin typeface="Cambria Math" panose="02040503050406030204" pitchFamily="18" charset="0"/>
                <a:ea typeface="Cambria Math" panose="02040503050406030204" pitchFamily="18" charset="0"/>
              </a:rPr>
              <a:t>) OVER (PARTITION BY Branch ORDER BY </a:t>
            </a:r>
            <a:r>
              <a:rPr lang="en-US" sz="1400" dirty="0" err="1">
                <a:latin typeface="Cambria Math" panose="02040503050406030204" pitchFamily="18" charset="0"/>
                <a:ea typeface="Cambria Math" panose="02040503050406030204" pitchFamily="18" charset="0"/>
              </a:rPr>
              <a:t>sale_month</a:t>
            </a:r>
            <a:r>
              <a:rPr lang="en-US" sz="1400" dirty="0">
                <a:latin typeface="Cambria Math" panose="02040503050406030204" pitchFamily="18" charset="0"/>
                <a:ea typeface="Cambria Math" panose="02040503050406030204" pitchFamily="18" charset="0"/>
              </a:rPr>
              <a:t>) AS </a:t>
            </a:r>
            <a:r>
              <a:rPr lang="en-US" sz="1400" dirty="0" err="1">
                <a:latin typeface="Cambria Math" panose="02040503050406030204" pitchFamily="18" charset="0"/>
                <a:ea typeface="Cambria Math" panose="02040503050406030204" pitchFamily="18" charset="0"/>
              </a:rPr>
              <a:t>PrevMonthSales</a:t>
            </a:r>
            <a:r>
              <a:rPr lang="en-US" sz="1400" dirty="0">
                <a:latin typeface="Cambria Math" panose="02040503050406030204" pitchFamily="18" charset="0"/>
                <a:ea typeface="Cambria Math" panose="02040503050406030204" pitchFamily="18" charset="0"/>
              </a:rPr>
              <a:t>  </a:t>
            </a:r>
          </a:p>
          <a:p>
            <a:r>
              <a:rPr lang="en-US" sz="1400" dirty="0">
                <a:latin typeface="Cambria Math" panose="02040503050406030204" pitchFamily="18" charset="0"/>
                <a:ea typeface="Cambria Math" panose="02040503050406030204" pitchFamily="18" charset="0"/>
              </a:rPr>
              <a:t>  FROM </a:t>
            </a:r>
            <a:r>
              <a:rPr lang="en-US" sz="1400" dirty="0" err="1">
                <a:latin typeface="Cambria Math" panose="02040503050406030204" pitchFamily="18" charset="0"/>
                <a:ea typeface="Cambria Math" panose="02040503050406030204" pitchFamily="18" charset="0"/>
              </a:rPr>
              <a:t>MonthlySales</a:t>
            </a:r>
            <a:endParaRPr lang="en-US" sz="1400" dirty="0">
              <a:latin typeface="Cambria Math" panose="02040503050406030204" pitchFamily="18" charset="0"/>
              <a:ea typeface="Cambria Math" panose="02040503050406030204" pitchFamily="18" charset="0"/>
            </a:endParaRPr>
          </a:p>
          <a:p>
            <a:r>
              <a:rPr lang="en-US" sz="1400" dirty="0">
                <a:latin typeface="Cambria Math" panose="02040503050406030204" pitchFamily="18" charset="0"/>
                <a:ea typeface="Cambria Math" panose="02040503050406030204" pitchFamily="18" charset="0"/>
              </a:rPr>
              <a:t>), </a:t>
            </a:r>
          </a:p>
          <a:p>
            <a:r>
              <a:rPr lang="en-US" sz="1400" dirty="0" err="1">
                <a:latin typeface="Cambria Math" panose="02040503050406030204" pitchFamily="18" charset="0"/>
                <a:ea typeface="Cambria Math" panose="02040503050406030204" pitchFamily="18" charset="0"/>
              </a:rPr>
              <a:t>GrowthRates</a:t>
            </a:r>
            <a:r>
              <a:rPr lang="en-US" sz="1400" dirty="0">
                <a:latin typeface="Cambria Math" panose="02040503050406030204" pitchFamily="18" charset="0"/>
                <a:ea typeface="Cambria Math" panose="02040503050406030204" pitchFamily="18" charset="0"/>
              </a:rPr>
              <a:t> AS (  </a:t>
            </a:r>
          </a:p>
          <a:p>
            <a:r>
              <a:rPr lang="en-US" sz="1400" dirty="0">
                <a:latin typeface="Cambria Math" panose="02040503050406030204" pitchFamily="18" charset="0"/>
                <a:ea typeface="Cambria Math" panose="02040503050406030204" pitchFamily="18" charset="0"/>
              </a:rPr>
              <a:t>  SELECT Branch, </a:t>
            </a:r>
            <a:r>
              <a:rPr lang="en-US" sz="1400" dirty="0" err="1">
                <a:latin typeface="Cambria Math" panose="02040503050406030204" pitchFamily="18" charset="0"/>
                <a:ea typeface="Cambria Math" panose="02040503050406030204" pitchFamily="18" charset="0"/>
              </a:rPr>
              <a:t>sale_month</a:t>
            </a:r>
            <a:r>
              <a:rPr lang="en-US" sz="1400" dirty="0">
                <a:latin typeface="Cambria Math" panose="02040503050406030204" pitchFamily="18" charset="0"/>
                <a:ea typeface="Cambria Math" panose="02040503050406030204" pitchFamily="18" charset="0"/>
              </a:rPr>
              <a:t>, </a:t>
            </a:r>
            <a:r>
              <a:rPr lang="en-US" sz="1400" dirty="0" err="1">
                <a:latin typeface="Cambria Math" panose="02040503050406030204" pitchFamily="18" charset="0"/>
                <a:ea typeface="Cambria Math" panose="02040503050406030204" pitchFamily="18" charset="0"/>
              </a:rPr>
              <a:t>MonthlyTotalSales</a:t>
            </a:r>
            <a:r>
              <a:rPr lang="en-US" sz="1400" dirty="0">
                <a:latin typeface="Cambria Math" panose="02040503050406030204" pitchFamily="18" charset="0"/>
                <a:ea typeface="Cambria Math" panose="02040503050406030204" pitchFamily="18" charset="0"/>
              </a:rPr>
              <a:t>, </a:t>
            </a:r>
            <a:r>
              <a:rPr lang="en-US" sz="1400" dirty="0" err="1">
                <a:latin typeface="Cambria Math" panose="02040503050406030204" pitchFamily="18" charset="0"/>
                <a:ea typeface="Cambria Math" panose="02040503050406030204" pitchFamily="18" charset="0"/>
              </a:rPr>
              <a:t>PrevMonthSales</a:t>
            </a:r>
            <a:r>
              <a:rPr lang="en-US" sz="1400" dirty="0">
                <a:latin typeface="Cambria Math" panose="02040503050406030204" pitchFamily="18" charset="0"/>
                <a:ea typeface="Cambria Math" panose="02040503050406030204" pitchFamily="18" charset="0"/>
              </a:rPr>
              <a:t>,        </a:t>
            </a:r>
          </a:p>
          <a:p>
            <a:r>
              <a:rPr lang="en-US" sz="1400" dirty="0">
                <a:latin typeface="Cambria Math" panose="02040503050406030204" pitchFamily="18" charset="0"/>
                <a:ea typeface="Cambria Math" panose="02040503050406030204" pitchFamily="18" charset="0"/>
              </a:rPr>
              <a:t>CASE             </a:t>
            </a:r>
          </a:p>
          <a:p>
            <a:r>
              <a:rPr lang="en-US" sz="1400" dirty="0">
                <a:latin typeface="Cambria Math" panose="02040503050406030204" pitchFamily="18" charset="0"/>
                <a:ea typeface="Cambria Math" panose="02040503050406030204" pitchFamily="18" charset="0"/>
              </a:rPr>
              <a:t>WHEN </a:t>
            </a:r>
            <a:r>
              <a:rPr lang="en-US" sz="1400" dirty="0" err="1">
                <a:latin typeface="Cambria Math" panose="02040503050406030204" pitchFamily="18" charset="0"/>
                <a:ea typeface="Cambria Math" panose="02040503050406030204" pitchFamily="18" charset="0"/>
              </a:rPr>
              <a:t>PrevMonthSales</a:t>
            </a:r>
            <a:r>
              <a:rPr lang="en-US" sz="1400" dirty="0">
                <a:latin typeface="Cambria Math" panose="02040503050406030204" pitchFamily="18" charset="0"/>
                <a:ea typeface="Cambria Math" panose="02040503050406030204" pitchFamily="18" charset="0"/>
              </a:rPr>
              <a:t> = 0  OR  </a:t>
            </a:r>
            <a:r>
              <a:rPr lang="en-US" sz="1400" dirty="0" err="1">
                <a:latin typeface="Cambria Math" panose="02040503050406030204" pitchFamily="18" charset="0"/>
                <a:ea typeface="Cambria Math" panose="02040503050406030204" pitchFamily="18" charset="0"/>
              </a:rPr>
              <a:t>PrevMonthSales</a:t>
            </a:r>
            <a:r>
              <a:rPr lang="en-US" sz="1400" dirty="0">
                <a:latin typeface="Cambria Math" panose="02040503050406030204" pitchFamily="18" charset="0"/>
                <a:ea typeface="Cambria Math" panose="02040503050406030204" pitchFamily="18" charset="0"/>
              </a:rPr>
              <a:t> IS NULL THEN 0          </a:t>
            </a:r>
          </a:p>
          <a:p>
            <a:r>
              <a:rPr lang="en-US" sz="1400" dirty="0">
                <a:latin typeface="Cambria Math" panose="02040503050406030204" pitchFamily="18" charset="0"/>
                <a:ea typeface="Cambria Math" panose="02040503050406030204" pitchFamily="18" charset="0"/>
              </a:rPr>
              <a:t>  ELSE ROUND(((</a:t>
            </a:r>
            <a:r>
              <a:rPr lang="en-US" sz="1400" dirty="0" err="1">
                <a:latin typeface="Cambria Math" panose="02040503050406030204" pitchFamily="18" charset="0"/>
                <a:ea typeface="Cambria Math" panose="02040503050406030204" pitchFamily="18" charset="0"/>
              </a:rPr>
              <a:t>MonthlyTotalSales</a:t>
            </a:r>
            <a:r>
              <a:rPr lang="en-US" sz="1400" dirty="0">
                <a:latin typeface="Cambria Math" panose="02040503050406030204" pitchFamily="18" charset="0"/>
                <a:ea typeface="Cambria Math" panose="02040503050406030204" pitchFamily="18" charset="0"/>
              </a:rPr>
              <a:t> - </a:t>
            </a:r>
            <a:r>
              <a:rPr lang="en-US" sz="1400" dirty="0" err="1">
                <a:latin typeface="Cambria Math" panose="02040503050406030204" pitchFamily="18" charset="0"/>
                <a:ea typeface="Cambria Math" panose="02040503050406030204" pitchFamily="18" charset="0"/>
              </a:rPr>
              <a:t>PrevMonthSales</a:t>
            </a:r>
            <a:r>
              <a:rPr lang="en-US" sz="1400" dirty="0">
                <a:latin typeface="Cambria Math" panose="02040503050406030204" pitchFamily="18" charset="0"/>
                <a:ea typeface="Cambria Math" panose="02040503050406030204" pitchFamily="18" charset="0"/>
              </a:rPr>
              <a:t>) / </a:t>
            </a:r>
            <a:r>
              <a:rPr lang="en-US" sz="1400" dirty="0" err="1">
                <a:latin typeface="Cambria Math" panose="02040503050406030204" pitchFamily="18" charset="0"/>
                <a:ea typeface="Cambria Math" panose="02040503050406030204" pitchFamily="18" charset="0"/>
              </a:rPr>
              <a:t>PrevMonthSales</a:t>
            </a:r>
            <a:r>
              <a:rPr lang="en-US" sz="1400" dirty="0">
                <a:latin typeface="Cambria Math" panose="02040503050406030204" pitchFamily="18" charset="0"/>
                <a:ea typeface="Cambria Math" panose="02040503050406030204" pitchFamily="18" charset="0"/>
              </a:rPr>
              <a:t>) * 100, 2)     </a:t>
            </a:r>
          </a:p>
          <a:p>
            <a:r>
              <a:rPr lang="en-US" sz="1400" dirty="0">
                <a:latin typeface="Cambria Math" panose="02040503050406030204" pitchFamily="18" charset="0"/>
                <a:ea typeface="Cambria Math" panose="02040503050406030204" pitchFamily="18" charset="0"/>
              </a:rPr>
              <a:t>   END AS </a:t>
            </a:r>
            <a:r>
              <a:rPr lang="en-US" sz="1400" dirty="0" err="1">
                <a:latin typeface="Cambria Math" panose="02040503050406030204" pitchFamily="18" charset="0"/>
                <a:ea typeface="Cambria Math" panose="02040503050406030204" pitchFamily="18" charset="0"/>
              </a:rPr>
              <a:t>GrowthRate</a:t>
            </a:r>
            <a:r>
              <a:rPr lang="en-US" sz="1400" dirty="0">
                <a:latin typeface="Cambria Math" panose="02040503050406030204" pitchFamily="18" charset="0"/>
                <a:ea typeface="Cambria Math" panose="02040503050406030204" pitchFamily="18" charset="0"/>
              </a:rPr>
              <a:t>   </a:t>
            </a:r>
          </a:p>
          <a:p>
            <a:r>
              <a:rPr lang="en-US" sz="1400" dirty="0">
                <a:latin typeface="Cambria Math" panose="02040503050406030204" pitchFamily="18" charset="0"/>
                <a:ea typeface="Cambria Math" panose="02040503050406030204" pitchFamily="18" charset="0"/>
              </a:rPr>
              <a:t> FROM  </a:t>
            </a:r>
            <a:r>
              <a:rPr lang="en-US" sz="1400" dirty="0" err="1">
                <a:latin typeface="Cambria Math" panose="02040503050406030204" pitchFamily="18" charset="0"/>
                <a:ea typeface="Cambria Math" panose="02040503050406030204" pitchFamily="18" charset="0"/>
              </a:rPr>
              <a:t>SalesWithLag</a:t>
            </a:r>
            <a:endParaRPr lang="en-US" sz="1400" dirty="0">
              <a:latin typeface="Cambria Math" panose="02040503050406030204" pitchFamily="18" charset="0"/>
              <a:ea typeface="Cambria Math" panose="02040503050406030204" pitchFamily="18" charset="0"/>
            </a:endParaRPr>
          </a:p>
          <a:p>
            <a:r>
              <a:rPr lang="en-US" sz="1400" dirty="0">
                <a:latin typeface="Cambria Math" panose="02040503050406030204" pitchFamily="18" charset="0"/>
                <a:ea typeface="Cambria Math" panose="02040503050406030204" pitchFamily="18" charset="0"/>
              </a:rPr>
              <a:t>)</a:t>
            </a:r>
          </a:p>
          <a:p>
            <a:r>
              <a:rPr lang="en-US" sz="1400" dirty="0">
                <a:latin typeface="Cambria Math" panose="02040503050406030204" pitchFamily="18" charset="0"/>
                <a:ea typeface="Cambria Math" panose="02040503050406030204" pitchFamily="18" charset="0"/>
              </a:rPr>
              <a:t>SELECT    </a:t>
            </a:r>
          </a:p>
          <a:p>
            <a:r>
              <a:rPr lang="en-US" sz="1400" dirty="0">
                <a:latin typeface="Cambria Math" panose="02040503050406030204" pitchFamily="18" charset="0"/>
                <a:ea typeface="Cambria Math" panose="02040503050406030204" pitchFamily="18" charset="0"/>
              </a:rPr>
              <a:t> Branch, ROUND(AVG(</a:t>
            </a:r>
            <a:r>
              <a:rPr lang="en-US" sz="1400" dirty="0" err="1">
                <a:latin typeface="Cambria Math" panose="02040503050406030204" pitchFamily="18" charset="0"/>
                <a:ea typeface="Cambria Math" panose="02040503050406030204" pitchFamily="18" charset="0"/>
              </a:rPr>
              <a:t>GrowthRate</a:t>
            </a:r>
            <a:r>
              <a:rPr lang="en-US" sz="1400" dirty="0">
                <a:latin typeface="Cambria Math" panose="02040503050406030204" pitchFamily="18" charset="0"/>
                <a:ea typeface="Cambria Math" panose="02040503050406030204" pitchFamily="18" charset="0"/>
              </a:rPr>
              <a:t>), 2) AS </a:t>
            </a:r>
            <a:r>
              <a:rPr lang="en-US" sz="1400" dirty="0" err="1">
                <a:latin typeface="Cambria Math" panose="02040503050406030204" pitchFamily="18" charset="0"/>
                <a:ea typeface="Cambria Math" panose="02040503050406030204" pitchFamily="18" charset="0"/>
              </a:rPr>
              <a:t>TopPerformer</a:t>
            </a:r>
            <a:endParaRPr lang="en-US" sz="1400" dirty="0">
              <a:latin typeface="Cambria Math" panose="02040503050406030204" pitchFamily="18" charset="0"/>
              <a:ea typeface="Cambria Math" panose="02040503050406030204" pitchFamily="18" charset="0"/>
            </a:endParaRPr>
          </a:p>
          <a:p>
            <a:r>
              <a:rPr lang="en-US" sz="1400" dirty="0">
                <a:latin typeface="Cambria Math" panose="02040503050406030204" pitchFamily="18" charset="0"/>
                <a:ea typeface="Cambria Math" panose="02040503050406030204" pitchFamily="18" charset="0"/>
              </a:rPr>
              <a:t>FROM </a:t>
            </a:r>
            <a:r>
              <a:rPr lang="en-US" sz="1400" dirty="0" err="1">
                <a:latin typeface="Cambria Math" panose="02040503050406030204" pitchFamily="18" charset="0"/>
                <a:ea typeface="Cambria Math" panose="02040503050406030204" pitchFamily="18" charset="0"/>
              </a:rPr>
              <a:t>GrowthRates</a:t>
            </a:r>
            <a:endParaRPr lang="en-US" sz="1400" dirty="0">
              <a:latin typeface="Cambria Math" panose="02040503050406030204" pitchFamily="18" charset="0"/>
              <a:ea typeface="Cambria Math" panose="02040503050406030204" pitchFamily="18" charset="0"/>
            </a:endParaRPr>
          </a:p>
          <a:p>
            <a:r>
              <a:rPr lang="en-US" sz="1400" dirty="0">
                <a:latin typeface="Cambria Math" panose="02040503050406030204" pitchFamily="18" charset="0"/>
                <a:ea typeface="Cambria Math" panose="02040503050406030204" pitchFamily="18" charset="0"/>
              </a:rPr>
              <a:t>GROUP BY Branch</a:t>
            </a:r>
          </a:p>
          <a:p>
            <a:r>
              <a:rPr lang="en-US" sz="1400" dirty="0">
                <a:latin typeface="Cambria Math" panose="02040503050406030204" pitchFamily="18" charset="0"/>
                <a:ea typeface="Cambria Math" panose="02040503050406030204" pitchFamily="18" charset="0"/>
              </a:rPr>
              <a:t>ORDER BY </a:t>
            </a:r>
            <a:r>
              <a:rPr lang="en-US" sz="1400" dirty="0" err="1">
                <a:latin typeface="Cambria Math" panose="02040503050406030204" pitchFamily="18" charset="0"/>
                <a:ea typeface="Cambria Math" panose="02040503050406030204" pitchFamily="18" charset="0"/>
              </a:rPr>
              <a:t>TopPerformer</a:t>
            </a:r>
            <a:endParaRPr lang="en-US" sz="1400" dirty="0">
              <a:latin typeface="Cambria Math" panose="02040503050406030204" pitchFamily="18" charset="0"/>
              <a:ea typeface="Cambria Math" panose="02040503050406030204" pitchFamily="18" charset="0"/>
            </a:endParaRPr>
          </a:p>
          <a:p>
            <a:r>
              <a:rPr lang="en-US" sz="1400" dirty="0">
                <a:latin typeface="Cambria Math" panose="02040503050406030204" pitchFamily="18" charset="0"/>
                <a:ea typeface="Cambria Math" panose="02040503050406030204" pitchFamily="18" charset="0"/>
              </a:rPr>
              <a:t> DESC LIMIT  3;</a:t>
            </a:r>
            <a:endParaRPr lang="en-IN" sz="1400" dirty="0">
              <a:latin typeface="Cambria Math" panose="02040503050406030204" pitchFamily="18" charset="0"/>
              <a:ea typeface="Cambria Math" panose="02040503050406030204" pitchFamily="18" charset="0"/>
            </a:endParaRPr>
          </a:p>
        </p:txBody>
      </p:sp>
      <p:sp useBgFill="1">
        <p:nvSpPr>
          <p:cNvPr id="4" name="TextBox 3">
            <a:extLst>
              <a:ext uri="{FF2B5EF4-FFF2-40B4-BE49-F238E27FC236}">
                <a16:creationId xmlns:a16="http://schemas.microsoft.com/office/drawing/2014/main" id="{26341BA9-CB47-1F28-ADE5-9D3798E449BC}"/>
              </a:ext>
            </a:extLst>
          </p:cNvPr>
          <p:cNvSpPr txBox="1"/>
          <p:nvPr/>
        </p:nvSpPr>
        <p:spPr>
          <a:xfrm>
            <a:off x="5990465" y="1199398"/>
            <a:ext cx="6201535" cy="1600438"/>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Approach:-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Group data by Branch and Month.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Calculate total sales per month.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Use LAG( ) or % growth formula to calculate month-over-month growth.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Compare growth rates and find the top-performing branch</a:t>
            </a:r>
            <a:r>
              <a:rPr kumimoji="0" lang="en-US" altLang="en-US"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p>
        </p:txBody>
      </p:sp>
    </p:spTree>
    <p:custDataLst>
      <p:tags r:id="rId1"/>
    </p:custDataLst>
    <p:extLst>
      <p:ext uri="{BB962C8B-B14F-4D97-AF65-F5344CB8AC3E}">
        <p14:creationId xmlns:p14="http://schemas.microsoft.com/office/powerpoint/2010/main" val="319054601"/>
      </p:ext>
    </p:extLst>
  </p:cSld>
  <p:clrMapOvr>
    <a:masterClrMapping/>
  </p:clrMapOvr>
  <p:transition spd="slow" advTm="4433">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E3F3033-B87B-09B0-4A0F-95399231FA2A}"/>
              </a:ext>
            </a:extLst>
          </p:cNvPr>
          <p:cNvSpPr>
            <a:spLocks noGrp="1"/>
          </p:cNvSpPr>
          <p:nvPr>
            <p:ph type="body" sz="half" idx="4294967295"/>
          </p:nvPr>
        </p:nvSpPr>
        <p:spPr>
          <a:xfrm>
            <a:off x="0" y="2057400"/>
            <a:ext cx="3651250" cy="3811588"/>
          </a:xfrm>
        </p:spPr>
        <p:txBody>
          <a:bodyPr/>
          <a:lstStyle/>
          <a:p>
            <a:pPr marL="0" indent="0">
              <a:buNone/>
            </a:pPr>
            <a:endParaRPr lang="pt-BR" dirty="0"/>
          </a:p>
          <a:p>
            <a:endParaRPr lang="en-IN" dirty="0"/>
          </a:p>
        </p:txBody>
      </p:sp>
      <p:graphicFrame>
        <p:nvGraphicFramePr>
          <p:cNvPr id="8" name="Chart 7">
            <a:extLst>
              <a:ext uri="{FF2B5EF4-FFF2-40B4-BE49-F238E27FC236}">
                <a16:creationId xmlns:a16="http://schemas.microsoft.com/office/drawing/2014/main" id="{9B70374E-B011-A99B-0730-C1188B18CEB3}"/>
              </a:ext>
            </a:extLst>
          </p:cNvPr>
          <p:cNvGraphicFramePr>
            <a:graphicFrameLocks/>
          </p:cNvGraphicFramePr>
          <p:nvPr>
            <p:extLst>
              <p:ext uri="{D42A27DB-BD31-4B8C-83A1-F6EECF244321}">
                <p14:modId xmlns:p14="http://schemas.microsoft.com/office/powerpoint/2010/main" val="3410354049"/>
              </p:ext>
            </p:extLst>
          </p:nvPr>
        </p:nvGraphicFramePr>
        <p:xfrm>
          <a:off x="4389120" y="731520"/>
          <a:ext cx="6797040" cy="51374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a:extLst>
              <a:ext uri="{FF2B5EF4-FFF2-40B4-BE49-F238E27FC236}">
                <a16:creationId xmlns:a16="http://schemas.microsoft.com/office/drawing/2014/main" id="{660FFAB0-63AC-3A4F-206D-F6754AF7C9C1}"/>
              </a:ext>
            </a:extLst>
          </p:cNvPr>
          <p:cNvGraphicFramePr>
            <a:graphicFrameLocks noGrp="1"/>
          </p:cNvGraphicFramePr>
          <p:nvPr>
            <p:extLst>
              <p:ext uri="{D42A27DB-BD31-4B8C-83A1-F6EECF244321}">
                <p14:modId xmlns:p14="http://schemas.microsoft.com/office/powerpoint/2010/main" val="3623570463"/>
              </p:ext>
            </p:extLst>
          </p:nvPr>
        </p:nvGraphicFramePr>
        <p:xfrm>
          <a:off x="149225" y="1447800"/>
          <a:ext cx="3870960" cy="3200400"/>
        </p:xfrm>
        <a:graphic>
          <a:graphicData uri="http://schemas.openxmlformats.org/drawingml/2006/table">
            <a:tbl>
              <a:tblPr/>
              <a:tblGrid>
                <a:gridCol w="1935480">
                  <a:extLst>
                    <a:ext uri="{9D8B030D-6E8A-4147-A177-3AD203B41FA5}">
                      <a16:colId xmlns:a16="http://schemas.microsoft.com/office/drawing/2014/main" val="3646905234"/>
                    </a:ext>
                  </a:extLst>
                </a:gridCol>
                <a:gridCol w="1935480">
                  <a:extLst>
                    <a:ext uri="{9D8B030D-6E8A-4147-A177-3AD203B41FA5}">
                      <a16:colId xmlns:a16="http://schemas.microsoft.com/office/drawing/2014/main" val="1900614031"/>
                    </a:ext>
                  </a:extLst>
                </a:gridCol>
              </a:tblGrid>
              <a:tr h="1230924">
                <a:tc>
                  <a:txBody>
                    <a:bodyPr/>
                    <a:lstStyle/>
                    <a:p>
                      <a:pPr algn="ctr" fontAlgn="b">
                        <a:buNone/>
                      </a:pPr>
                      <a:r>
                        <a:rPr lang="en-IN" sz="2400" b="0" i="0" u="none" strike="noStrike" dirty="0">
                          <a:solidFill>
                            <a:schemeClr val="tx1">
                              <a:lumMod val="95000"/>
                            </a:schemeClr>
                          </a:solidFill>
                          <a:effectLst/>
                          <a:latin typeface="Cambria Math" panose="02040503050406030204" pitchFamily="18" charset="0"/>
                          <a:ea typeface="Cambria Math" panose="02040503050406030204" pitchFamily="18" charset="0"/>
                        </a:rPr>
                        <a:t>Branch</a:t>
                      </a:r>
                    </a:p>
                  </a:txBody>
                  <a:tcPr marL="7620" marR="7620" marT="7620" marB="0" anchor="b">
                    <a:lnL>
                      <a:noFill/>
                    </a:lnL>
                    <a:lnR>
                      <a:noFill/>
                    </a:lnR>
                    <a:lnT>
                      <a:noFill/>
                    </a:lnT>
                    <a:lnB>
                      <a:noFill/>
                    </a:lnB>
                    <a:noFill/>
                  </a:tcPr>
                </a:tc>
                <a:tc>
                  <a:txBody>
                    <a:bodyPr/>
                    <a:lstStyle/>
                    <a:p>
                      <a:pPr algn="ctr" fontAlgn="b">
                        <a:buNone/>
                      </a:pPr>
                      <a:r>
                        <a:rPr lang="en-IN" sz="2400" b="0" i="0" u="none" strike="noStrike" dirty="0">
                          <a:solidFill>
                            <a:schemeClr val="tx1">
                              <a:lumMod val="95000"/>
                            </a:schemeClr>
                          </a:solidFill>
                          <a:effectLst/>
                          <a:latin typeface="Cambria Math" panose="02040503050406030204" pitchFamily="18" charset="0"/>
                          <a:ea typeface="Cambria Math" panose="02040503050406030204" pitchFamily="18" charset="0"/>
                        </a:rPr>
                        <a:t>Top Performer</a:t>
                      </a:r>
                    </a:p>
                  </a:txBody>
                  <a:tcPr marL="7620" marR="7620" marT="7620" marB="0" anchor="b">
                    <a:lnL>
                      <a:noFill/>
                    </a:lnL>
                    <a:lnR>
                      <a:noFill/>
                    </a:lnR>
                    <a:lnT>
                      <a:noFill/>
                    </a:lnT>
                    <a:lnB>
                      <a:noFill/>
                    </a:lnB>
                    <a:noFill/>
                  </a:tcPr>
                </a:tc>
                <a:extLst>
                  <a:ext uri="{0D108BD9-81ED-4DB2-BD59-A6C34878D82A}">
                    <a16:rowId xmlns:a16="http://schemas.microsoft.com/office/drawing/2014/main" val="1030228121"/>
                  </a:ext>
                </a:extLst>
              </a:tr>
              <a:tr h="656492">
                <a:tc>
                  <a:txBody>
                    <a:bodyPr/>
                    <a:lstStyle/>
                    <a:p>
                      <a:pPr algn="ctr" fontAlgn="b">
                        <a:buNone/>
                      </a:pPr>
                      <a:r>
                        <a:rPr lang="en-IN" sz="2400" b="0" i="0" u="none" strike="noStrike" dirty="0">
                          <a:solidFill>
                            <a:schemeClr val="tx1">
                              <a:lumMod val="95000"/>
                            </a:schemeClr>
                          </a:solidFill>
                          <a:effectLst/>
                          <a:latin typeface="Cambria Math" panose="02040503050406030204" pitchFamily="18" charset="0"/>
                          <a:ea typeface="Cambria Math" panose="02040503050406030204" pitchFamily="18" charset="0"/>
                        </a:rPr>
                        <a:t>B</a:t>
                      </a:r>
                    </a:p>
                  </a:txBody>
                  <a:tcPr marL="7620" marR="7620" marT="7620" marB="0" anchor="b">
                    <a:lnL>
                      <a:noFill/>
                    </a:lnL>
                    <a:lnR>
                      <a:noFill/>
                    </a:lnR>
                    <a:lnT>
                      <a:noFill/>
                    </a:lnT>
                    <a:lnB>
                      <a:noFill/>
                    </a:lnB>
                    <a:noFill/>
                  </a:tcPr>
                </a:tc>
                <a:tc>
                  <a:txBody>
                    <a:bodyPr/>
                    <a:lstStyle/>
                    <a:p>
                      <a:pPr algn="ctr" fontAlgn="b">
                        <a:buNone/>
                      </a:pPr>
                      <a:r>
                        <a:rPr lang="en-IN" sz="2400" b="0" i="0" u="none" strike="noStrike" dirty="0">
                          <a:solidFill>
                            <a:schemeClr val="tx1">
                              <a:lumMod val="95000"/>
                            </a:schemeClr>
                          </a:solidFill>
                          <a:effectLst/>
                          <a:latin typeface="Cambria Math" panose="02040503050406030204" pitchFamily="18" charset="0"/>
                          <a:ea typeface="Cambria Math" panose="02040503050406030204" pitchFamily="18" charset="0"/>
                        </a:rPr>
                        <a:t>88.94</a:t>
                      </a:r>
                    </a:p>
                  </a:txBody>
                  <a:tcPr marL="7620" marR="7620" marT="7620" marB="0" anchor="b">
                    <a:lnL>
                      <a:noFill/>
                    </a:lnL>
                    <a:lnR>
                      <a:noFill/>
                    </a:lnR>
                    <a:lnT>
                      <a:noFill/>
                    </a:lnT>
                    <a:lnB>
                      <a:noFill/>
                    </a:lnB>
                    <a:noFill/>
                  </a:tcPr>
                </a:tc>
                <a:extLst>
                  <a:ext uri="{0D108BD9-81ED-4DB2-BD59-A6C34878D82A}">
                    <a16:rowId xmlns:a16="http://schemas.microsoft.com/office/drawing/2014/main" val="2056180388"/>
                  </a:ext>
                </a:extLst>
              </a:tr>
              <a:tr h="656492">
                <a:tc>
                  <a:txBody>
                    <a:bodyPr/>
                    <a:lstStyle/>
                    <a:p>
                      <a:pPr algn="ctr" fontAlgn="b">
                        <a:buNone/>
                      </a:pPr>
                      <a:r>
                        <a:rPr lang="en-IN" sz="2400" b="0" i="0" u="none" strike="noStrike">
                          <a:solidFill>
                            <a:schemeClr val="tx1">
                              <a:lumMod val="95000"/>
                            </a:schemeClr>
                          </a:solidFill>
                          <a:effectLst/>
                          <a:latin typeface="Cambria Math" panose="02040503050406030204" pitchFamily="18" charset="0"/>
                          <a:ea typeface="Cambria Math" panose="02040503050406030204" pitchFamily="18" charset="0"/>
                        </a:rPr>
                        <a:t>C</a:t>
                      </a:r>
                    </a:p>
                  </a:txBody>
                  <a:tcPr marL="7620" marR="7620" marT="7620" marB="0" anchor="b">
                    <a:lnL>
                      <a:noFill/>
                    </a:lnL>
                    <a:lnR>
                      <a:noFill/>
                    </a:lnR>
                    <a:lnT>
                      <a:noFill/>
                    </a:lnT>
                    <a:lnB>
                      <a:noFill/>
                    </a:lnB>
                    <a:noFill/>
                  </a:tcPr>
                </a:tc>
                <a:tc>
                  <a:txBody>
                    <a:bodyPr/>
                    <a:lstStyle/>
                    <a:p>
                      <a:pPr algn="ctr" fontAlgn="b">
                        <a:buNone/>
                      </a:pPr>
                      <a:r>
                        <a:rPr lang="en-IN" sz="2400" b="0" i="0" u="none" strike="noStrike" dirty="0">
                          <a:solidFill>
                            <a:schemeClr val="tx1">
                              <a:lumMod val="95000"/>
                            </a:schemeClr>
                          </a:solidFill>
                          <a:effectLst/>
                          <a:latin typeface="Cambria Math" panose="02040503050406030204" pitchFamily="18" charset="0"/>
                          <a:ea typeface="Cambria Math" panose="02040503050406030204" pitchFamily="18" charset="0"/>
                        </a:rPr>
                        <a:t>85.21</a:t>
                      </a:r>
                    </a:p>
                  </a:txBody>
                  <a:tcPr marL="7620" marR="7620" marT="7620" marB="0" anchor="b">
                    <a:lnL>
                      <a:noFill/>
                    </a:lnL>
                    <a:lnR>
                      <a:noFill/>
                    </a:lnR>
                    <a:lnT>
                      <a:noFill/>
                    </a:lnT>
                    <a:lnB>
                      <a:noFill/>
                    </a:lnB>
                    <a:noFill/>
                  </a:tcPr>
                </a:tc>
                <a:extLst>
                  <a:ext uri="{0D108BD9-81ED-4DB2-BD59-A6C34878D82A}">
                    <a16:rowId xmlns:a16="http://schemas.microsoft.com/office/drawing/2014/main" val="588203028"/>
                  </a:ext>
                </a:extLst>
              </a:tr>
              <a:tr h="656492">
                <a:tc>
                  <a:txBody>
                    <a:bodyPr/>
                    <a:lstStyle/>
                    <a:p>
                      <a:pPr algn="ctr" fontAlgn="b">
                        <a:buNone/>
                      </a:pPr>
                      <a:r>
                        <a:rPr lang="en-IN" sz="2400" b="0" i="0" u="none" strike="noStrike">
                          <a:solidFill>
                            <a:schemeClr val="tx1">
                              <a:lumMod val="95000"/>
                            </a:schemeClr>
                          </a:solidFill>
                          <a:effectLst/>
                          <a:latin typeface="Cambria Math" panose="02040503050406030204" pitchFamily="18" charset="0"/>
                          <a:ea typeface="Cambria Math" panose="02040503050406030204" pitchFamily="18" charset="0"/>
                        </a:rPr>
                        <a:t>A</a:t>
                      </a:r>
                    </a:p>
                  </a:txBody>
                  <a:tcPr marL="7620" marR="7620" marT="7620" marB="0" anchor="b">
                    <a:lnL>
                      <a:noFill/>
                    </a:lnL>
                    <a:lnR>
                      <a:noFill/>
                    </a:lnR>
                    <a:lnT>
                      <a:noFill/>
                    </a:lnT>
                    <a:lnB>
                      <a:noFill/>
                    </a:lnB>
                    <a:noFill/>
                  </a:tcPr>
                </a:tc>
                <a:tc>
                  <a:txBody>
                    <a:bodyPr/>
                    <a:lstStyle/>
                    <a:p>
                      <a:pPr algn="ctr" fontAlgn="b">
                        <a:buNone/>
                      </a:pPr>
                      <a:r>
                        <a:rPr lang="en-IN" sz="2400" b="0" i="0" u="none" strike="noStrike" dirty="0">
                          <a:solidFill>
                            <a:schemeClr val="tx1">
                              <a:lumMod val="95000"/>
                            </a:schemeClr>
                          </a:solidFill>
                          <a:effectLst/>
                          <a:latin typeface="Cambria Math" panose="02040503050406030204" pitchFamily="18" charset="0"/>
                          <a:ea typeface="Cambria Math" panose="02040503050406030204" pitchFamily="18" charset="0"/>
                        </a:rPr>
                        <a:t>54.43</a:t>
                      </a:r>
                    </a:p>
                  </a:txBody>
                  <a:tcPr marL="7620" marR="7620" marT="7620" marB="0" anchor="b">
                    <a:lnL>
                      <a:noFill/>
                    </a:lnL>
                    <a:lnR>
                      <a:noFill/>
                    </a:lnR>
                    <a:lnT>
                      <a:noFill/>
                    </a:lnT>
                    <a:lnB>
                      <a:noFill/>
                    </a:lnB>
                    <a:noFill/>
                  </a:tcPr>
                </a:tc>
                <a:extLst>
                  <a:ext uri="{0D108BD9-81ED-4DB2-BD59-A6C34878D82A}">
                    <a16:rowId xmlns:a16="http://schemas.microsoft.com/office/drawing/2014/main" val="1677392040"/>
                  </a:ext>
                </a:extLst>
              </a:tr>
            </a:tbl>
          </a:graphicData>
        </a:graphic>
      </p:graphicFrame>
      <p:sp>
        <p:nvSpPr>
          <p:cNvPr id="10" name="TextBox 9">
            <a:extLst>
              <a:ext uri="{FF2B5EF4-FFF2-40B4-BE49-F238E27FC236}">
                <a16:creationId xmlns:a16="http://schemas.microsoft.com/office/drawing/2014/main" id="{95B6D816-5D46-42DC-88E7-D397DEE84625}"/>
              </a:ext>
            </a:extLst>
          </p:cNvPr>
          <p:cNvSpPr txBox="1"/>
          <p:nvPr/>
        </p:nvSpPr>
        <p:spPr>
          <a:xfrm>
            <a:off x="365760" y="381000"/>
            <a:ext cx="2499360" cy="523220"/>
          </a:xfrm>
          <a:prstGeom prst="rect">
            <a:avLst/>
          </a:prstGeom>
          <a:noFill/>
        </p:spPr>
        <p:txBody>
          <a:bodyPr wrap="square" rtlCol="0">
            <a:spAutoFit/>
          </a:bodyPr>
          <a:lstStyle/>
          <a:p>
            <a:r>
              <a:rPr lang="en-IN" sz="2800" dirty="0">
                <a:latin typeface="Cambria Math" panose="02040503050406030204" pitchFamily="18" charset="0"/>
                <a:ea typeface="Cambria Math" panose="02040503050406030204" pitchFamily="18" charset="0"/>
              </a:rPr>
              <a:t>Output:-</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530177652"/>
      </p:ext>
    </p:extLst>
  </p:cSld>
  <p:clrMapOvr>
    <a:masterClrMapping/>
  </p:clrMapOvr>
  <p:transition spd="slow" advTm="939">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2B1D7-30E7-41B5-1F88-6DD83F2313DE}"/>
              </a:ext>
            </a:extLst>
          </p:cNvPr>
          <p:cNvSpPr>
            <a:spLocks noGrp="1"/>
          </p:cNvSpPr>
          <p:nvPr>
            <p:ph type="title"/>
          </p:nvPr>
        </p:nvSpPr>
        <p:spPr>
          <a:xfrm>
            <a:off x="152400" y="127001"/>
            <a:ext cx="11887200" cy="1422399"/>
          </a:xfrm>
        </p:spPr>
        <p:txBody>
          <a:bodyPr>
            <a:normAutofit fontScale="90000"/>
          </a:bodyPr>
          <a:lstStyle/>
          <a:p>
            <a:r>
              <a:rPr lang="en-US" sz="3100" b="1" dirty="0">
                <a:latin typeface="Cambria Math" panose="02040503050406030204" pitchFamily="18" charset="0"/>
                <a:ea typeface="Cambria Math" panose="02040503050406030204" pitchFamily="18" charset="0"/>
              </a:rPr>
              <a:t>Task 2: Finding the Most Profitable Product Line for Each Branch. </a:t>
            </a:r>
            <a:br>
              <a:rPr lang="en-US" sz="3100" b="1" dirty="0">
                <a:latin typeface="Cambria Math" panose="02040503050406030204" pitchFamily="18" charset="0"/>
                <a:ea typeface="Cambria Math" panose="02040503050406030204" pitchFamily="18" charset="0"/>
              </a:rPr>
            </a:br>
            <a:r>
              <a:rPr lang="en-US" sz="2200" dirty="0">
                <a:latin typeface="Cambria Math" panose="02040503050406030204" pitchFamily="18" charset="0"/>
                <a:ea typeface="Cambria Math" panose="02040503050406030204" pitchFamily="18" charset="0"/>
              </a:rPr>
              <a:t>Walmart needs to determine which product line contributes the highest profit to each branch. The profit margin should be calculated based on the difference between the gross income and the cost of goods sold</a:t>
            </a:r>
            <a:r>
              <a:rPr lang="en-US" sz="2700" dirty="0">
                <a:latin typeface="Cambria Math" panose="02040503050406030204" pitchFamily="18" charset="0"/>
                <a:ea typeface="Cambria Math" panose="02040503050406030204" pitchFamily="18" charset="0"/>
              </a:rPr>
              <a:t>. </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6524D732-C128-37A1-C549-86402A1D20C6}"/>
              </a:ext>
            </a:extLst>
          </p:cNvPr>
          <p:cNvSpPr>
            <a:spLocks noGrp="1"/>
          </p:cNvSpPr>
          <p:nvPr>
            <p:ph idx="1"/>
          </p:nvPr>
        </p:nvSpPr>
        <p:spPr>
          <a:xfrm>
            <a:off x="152402" y="1469571"/>
            <a:ext cx="7054644" cy="5261428"/>
          </a:xfrm>
        </p:spPr>
        <p:txBody>
          <a:bodyPr>
            <a:normAutofit fontScale="92500" lnSpcReduction="10000"/>
          </a:bodyPr>
          <a:lstStyle/>
          <a:p>
            <a:pPr marL="0" indent="0">
              <a:buNone/>
            </a:pPr>
            <a:r>
              <a:rPr lang="en-IN" sz="1600" b="1" dirty="0">
                <a:latin typeface="Cambria Math" panose="02040503050406030204" pitchFamily="18" charset="0"/>
                <a:ea typeface="Cambria Math" panose="02040503050406030204" pitchFamily="18" charset="0"/>
              </a:rPr>
              <a:t>SQL Script</a:t>
            </a:r>
            <a:r>
              <a:rPr lang="en-IN" sz="1600" dirty="0">
                <a:latin typeface="Cambria Math" panose="02040503050406030204" pitchFamily="18" charset="0"/>
                <a:ea typeface="Cambria Math" panose="02040503050406030204" pitchFamily="18" charset="0"/>
              </a:rPr>
              <a:t>:-</a:t>
            </a:r>
          </a:p>
          <a:p>
            <a:pPr marL="0" indent="0">
              <a:buNone/>
            </a:pPr>
            <a:r>
              <a:rPr lang="en-IN" sz="1500" b="1" dirty="0">
                <a:latin typeface="Cambria Math" panose="02040503050406030204" pitchFamily="18" charset="0"/>
                <a:ea typeface="Cambria Math" panose="02040503050406030204" pitchFamily="18" charset="0"/>
              </a:rPr>
              <a:t>use </a:t>
            </a:r>
            <a:r>
              <a:rPr lang="en-IN" sz="1500" b="1" dirty="0" err="1">
                <a:latin typeface="Cambria Math" panose="02040503050406030204" pitchFamily="18" charset="0"/>
                <a:ea typeface="Cambria Math" panose="02040503050406030204" pitchFamily="18" charset="0"/>
              </a:rPr>
              <a:t>walmartsales</a:t>
            </a:r>
            <a:r>
              <a:rPr lang="en-IN" sz="1500" b="1" dirty="0">
                <a:latin typeface="Cambria Math" panose="02040503050406030204" pitchFamily="18" charset="0"/>
                <a:ea typeface="Cambria Math" panose="02040503050406030204" pitchFamily="18" charset="0"/>
              </a:rPr>
              <a:t>;</a:t>
            </a:r>
          </a:p>
          <a:p>
            <a:pPr marL="0" indent="0">
              <a:buNone/>
            </a:pPr>
            <a:r>
              <a:rPr lang="en-IN" sz="1500" b="1" dirty="0">
                <a:latin typeface="Cambria Math" panose="02040503050406030204" pitchFamily="18" charset="0"/>
                <a:ea typeface="Cambria Math" panose="02040503050406030204" pitchFamily="18" charset="0"/>
              </a:rPr>
              <a:t>WITH </a:t>
            </a:r>
            <a:r>
              <a:rPr lang="en-IN" sz="1500" b="1" dirty="0" err="1">
                <a:latin typeface="Cambria Math" panose="02040503050406030204" pitchFamily="18" charset="0"/>
                <a:ea typeface="Cambria Math" panose="02040503050406030204" pitchFamily="18" charset="0"/>
              </a:rPr>
              <a:t>ProfitCalculation</a:t>
            </a:r>
            <a:r>
              <a:rPr lang="en-IN" sz="1500" b="1" dirty="0">
                <a:latin typeface="Cambria Math" panose="02040503050406030204" pitchFamily="18" charset="0"/>
                <a:ea typeface="Cambria Math" panose="02040503050406030204" pitchFamily="18" charset="0"/>
              </a:rPr>
              <a:t> AS (</a:t>
            </a:r>
          </a:p>
          <a:p>
            <a:pPr marL="0" indent="0">
              <a:buNone/>
            </a:pPr>
            <a:r>
              <a:rPr lang="en-IN" sz="1500" b="1" dirty="0">
                <a:latin typeface="Cambria Math" panose="02040503050406030204" pitchFamily="18" charset="0"/>
                <a:ea typeface="Cambria Math" panose="02040503050406030204" pitchFamily="18" charset="0"/>
              </a:rPr>
              <a:t>    SELECT  </a:t>
            </a:r>
          </a:p>
          <a:p>
            <a:pPr marL="0" indent="0">
              <a:buNone/>
            </a:pPr>
            <a:r>
              <a:rPr lang="en-IN" sz="1500" b="1" dirty="0">
                <a:latin typeface="Cambria Math" panose="02040503050406030204" pitchFamily="18" charset="0"/>
                <a:ea typeface="Cambria Math" panose="02040503050406030204" pitchFamily="18" charset="0"/>
              </a:rPr>
              <a:t>      Branch,        `Product line` AS </a:t>
            </a:r>
            <a:r>
              <a:rPr lang="en-IN" sz="1500" b="1" dirty="0" err="1">
                <a:latin typeface="Cambria Math" panose="02040503050406030204" pitchFamily="18" charset="0"/>
                <a:ea typeface="Cambria Math" panose="02040503050406030204" pitchFamily="18" charset="0"/>
              </a:rPr>
              <a:t>ProductLine</a:t>
            </a:r>
            <a:r>
              <a:rPr lang="en-IN" sz="1500" b="1" dirty="0">
                <a:latin typeface="Cambria Math" panose="02040503050406030204" pitchFamily="18" charset="0"/>
                <a:ea typeface="Cambria Math" panose="02040503050406030204" pitchFamily="18" charset="0"/>
              </a:rPr>
              <a:t>,        ('</a:t>
            </a:r>
            <a:r>
              <a:rPr lang="en-IN" sz="1500" b="1" dirty="0" err="1">
                <a:latin typeface="Cambria Math" panose="02040503050406030204" pitchFamily="18" charset="0"/>
                <a:ea typeface="Cambria Math" panose="02040503050406030204" pitchFamily="18" charset="0"/>
              </a:rPr>
              <a:t>grossincome</a:t>
            </a:r>
            <a:r>
              <a:rPr lang="en-IN" sz="1500" b="1" dirty="0">
                <a:latin typeface="Cambria Math" panose="02040503050406030204" pitchFamily="18" charset="0"/>
                <a:ea typeface="Cambria Math" panose="02040503050406030204" pitchFamily="18" charset="0"/>
              </a:rPr>
              <a:t>' - cogs) AS </a:t>
            </a:r>
            <a:r>
              <a:rPr lang="en-IN" sz="1500" b="1" dirty="0" err="1">
                <a:latin typeface="Cambria Math" panose="02040503050406030204" pitchFamily="18" charset="0"/>
                <a:ea typeface="Cambria Math" panose="02040503050406030204" pitchFamily="18" charset="0"/>
              </a:rPr>
              <a:t>ProfitMargin</a:t>
            </a:r>
            <a:r>
              <a:rPr lang="en-IN" sz="1500" b="1" dirty="0">
                <a:latin typeface="Cambria Math" panose="02040503050406030204" pitchFamily="18" charset="0"/>
                <a:ea typeface="Cambria Math" panose="02040503050406030204" pitchFamily="18" charset="0"/>
              </a:rPr>
              <a:t>   </a:t>
            </a:r>
          </a:p>
          <a:p>
            <a:pPr marL="0" indent="0">
              <a:buNone/>
            </a:pPr>
            <a:r>
              <a:rPr lang="en-IN" sz="1500" b="1" dirty="0">
                <a:latin typeface="Cambria Math" panose="02040503050406030204" pitchFamily="18" charset="0"/>
                <a:ea typeface="Cambria Math" panose="02040503050406030204" pitchFamily="18" charset="0"/>
              </a:rPr>
              <a:t> FROM        </a:t>
            </a:r>
            <a:r>
              <a:rPr lang="en-IN" sz="1500" b="1" dirty="0" err="1">
                <a:latin typeface="Cambria Math" panose="02040503050406030204" pitchFamily="18" charset="0"/>
                <a:ea typeface="Cambria Math" panose="02040503050406030204" pitchFamily="18" charset="0"/>
              </a:rPr>
              <a:t>walmartsales</a:t>
            </a:r>
            <a:endParaRPr lang="en-IN" sz="1500" b="1" dirty="0">
              <a:latin typeface="Cambria Math" panose="02040503050406030204" pitchFamily="18" charset="0"/>
              <a:ea typeface="Cambria Math" panose="02040503050406030204" pitchFamily="18" charset="0"/>
            </a:endParaRPr>
          </a:p>
          <a:p>
            <a:pPr marL="0" indent="0">
              <a:buNone/>
            </a:pPr>
            <a:r>
              <a:rPr lang="en-IN" sz="1500" b="1" dirty="0">
                <a:latin typeface="Cambria Math" panose="02040503050406030204" pitchFamily="18" charset="0"/>
                <a:ea typeface="Cambria Math" panose="02040503050406030204" pitchFamily="18" charset="0"/>
              </a:rPr>
              <a:t>),</a:t>
            </a:r>
          </a:p>
          <a:p>
            <a:pPr marL="0" indent="0">
              <a:buNone/>
            </a:pPr>
            <a:r>
              <a:rPr lang="en-IN" sz="1500" b="1" dirty="0" err="1">
                <a:latin typeface="Cambria Math" panose="02040503050406030204" pitchFamily="18" charset="0"/>
                <a:ea typeface="Cambria Math" panose="02040503050406030204" pitchFamily="18" charset="0"/>
              </a:rPr>
              <a:t>RankedProfits</a:t>
            </a:r>
            <a:r>
              <a:rPr lang="en-IN" sz="1500" b="1" dirty="0">
                <a:latin typeface="Cambria Math" panose="02040503050406030204" pitchFamily="18" charset="0"/>
                <a:ea typeface="Cambria Math" panose="02040503050406030204" pitchFamily="18" charset="0"/>
              </a:rPr>
              <a:t> AS (   </a:t>
            </a:r>
          </a:p>
          <a:p>
            <a:pPr marL="0" indent="0">
              <a:buNone/>
            </a:pPr>
            <a:r>
              <a:rPr lang="en-IN" sz="1500" b="1" dirty="0">
                <a:latin typeface="Cambria Math" panose="02040503050406030204" pitchFamily="18" charset="0"/>
                <a:ea typeface="Cambria Math" panose="02040503050406030204" pitchFamily="18" charset="0"/>
              </a:rPr>
              <a:t> SELECT  </a:t>
            </a:r>
          </a:p>
          <a:p>
            <a:pPr marL="0" indent="0">
              <a:buNone/>
            </a:pPr>
            <a:r>
              <a:rPr lang="en-IN" sz="1500" b="1" dirty="0">
                <a:latin typeface="Cambria Math" panose="02040503050406030204" pitchFamily="18" charset="0"/>
                <a:ea typeface="Cambria Math" panose="02040503050406030204" pitchFamily="18" charset="0"/>
              </a:rPr>
              <a:t>      Branch,        </a:t>
            </a:r>
            <a:r>
              <a:rPr lang="en-IN" sz="1500" b="1" dirty="0" err="1">
                <a:latin typeface="Cambria Math" panose="02040503050406030204" pitchFamily="18" charset="0"/>
                <a:ea typeface="Cambria Math" panose="02040503050406030204" pitchFamily="18" charset="0"/>
              </a:rPr>
              <a:t>ProductLine</a:t>
            </a:r>
            <a:r>
              <a:rPr lang="en-IN" sz="1500" b="1" dirty="0">
                <a:latin typeface="Cambria Math" panose="02040503050406030204" pitchFamily="18" charset="0"/>
                <a:ea typeface="Cambria Math" panose="02040503050406030204" pitchFamily="18" charset="0"/>
              </a:rPr>
              <a:t> ,        </a:t>
            </a:r>
            <a:r>
              <a:rPr lang="en-IN" sz="1500" b="1" dirty="0" err="1">
                <a:latin typeface="Cambria Math" panose="02040503050406030204" pitchFamily="18" charset="0"/>
                <a:ea typeface="Cambria Math" panose="02040503050406030204" pitchFamily="18" charset="0"/>
              </a:rPr>
              <a:t>ProfitMargin</a:t>
            </a:r>
            <a:r>
              <a:rPr lang="en-IN" sz="1500" b="1" dirty="0">
                <a:latin typeface="Cambria Math" panose="02040503050406030204" pitchFamily="18" charset="0"/>
                <a:ea typeface="Cambria Math" panose="02040503050406030204" pitchFamily="18" charset="0"/>
              </a:rPr>
              <a:t>,       </a:t>
            </a:r>
          </a:p>
          <a:p>
            <a:pPr marL="0" indent="0">
              <a:buNone/>
            </a:pPr>
            <a:r>
              <a:rPr lang="en-IN" sz="1500" b="1" dirty="0">
                <a:latin typeface="Cambria Math" panose="02040503050406030204" pitchFamily="18" charset="0"/>
                <a:ea typeface="Cambria Math" panose="02040503050406030204" pitchFamily="18" charset="0"/>
              </a:rPr>
              <a:t>     ROW_NUMBER() OVER (PARTITION BY Branch </a:t>
            </a:r>
          </a:p>
          <a:p>
            <a:pPr marL="0" indent="0">
              <a:buNone/>
            </a:pPr>
            <a:r>
              <a:rPr lang="en-IN" sz="1500" b="1" dirty="0">
                <a:latin typeface="Cambria Math" panose="02040503050406030204" pitchFamily="18" charset="0"/>
                <a:ea typeface="Cambria Math" panose="02040503050406030204" pitchFamily="18" charset="0"/>
              </a:rPr>
              <a:t>     ORDER BY </a:t>
            </a:r>
            <a:r>
              <a:rPr lang="en-IN" sz="1500" b="1" dirty="0" err="1">
                <a:latin typeface="Cambria Math" panose="02040503050406030204" pitchFamily="18" charset="0"/>
                <a:ea typeface="Cambria Math" panose="02040503050406030204" pitchFamily="18" charset="0"/>
              </a:rPr>
              <a:t>ProfitMargin</a:t>
            </a:r>
            <a:r>
              <a:rPr lang="en-IN" sz="1500" b="1" dirty="0">
                <a:latin typeface="Cambria Math" panose="02040503050406030204" pitchFamily="18" charset="0"/>
                <a:ea typeface="Cambria Math" panose="02040503050406030204" pitchFamily="18" charset="0"/>
              </a:rPr>
              <a:t> DESC) AS </a:t>
            </a:r>
            <a:r>
              <a:rPr lang="en-IN" sz="1500" b="1" dirty="0" err="1">
                <a:latin typeface="Cambria Math" panose="02040503050406030204" pitchFamily="18" charset="0"/>
                <a:ea typeface="Cambria Math" panose="02040503050406030204" pitchFamily="18" charset="0"/>
              </a:rPr>
              <a:t>rankk</a:t>
            </a:r>
            <a:r>
              <a:rPr lang="en-IN" sz="1500" b="1" dirty="0">
                <a:latin typeface="Cambria Math" panose="02040503050406030204" pitchFamily="18" charset="0"/>
                <a:ea typeface="Cambria Math" panose="02040503050406030204" pitchFamily="18" charset="0"/>
              </a:rPr>
              <a:t>   </a:t>
            </a:r>
          </a:p>
          <a:p>
            <a:pPr marL="0" indent="0">
              <a:buNone/>
            </a:pPr>
            <a:r>
              <a:rPr lang="en-IN" sz="1500" b="1" dirty="0">
                <a:latin typeface="Cambria Math" panose="02040503050406030204" pitchFamily="18" charset="0"/>
                <a:ea typeface="Cambria Math" panose="02040503050406030204" pitchFamily="18" charset="0"/>
              </a:rPr>
              <a:t> FROM        </a:t>
            </a:r>
            <a:r>
              <a:rPr lang="en-IN" sz="1500" b="1" dirty="0" err="1">
                <a:latin typeface="Cambria Math" panose="02040503050406030204" pitchFamily="18" charset="0"/>
                <a:ea typeface="Cambria Math" panose="02040503050406030204" pitchFamily="18" charset="0"/>
              </a:rPr>
              <a:t>ProfitCalculation</a:t>
            </a:r>
            <a:endParaRPr lang="en-IN" sz="1500" b="1" dirty="0">
              <a:latin typeface="Cambria Math" panose="02040503050406030204" pitchFamily="18" charset="0"/>
              <a:ea typeface="Cambria Math" panose="02040503050406030204" pitchFamily="18" charset="0"/>
            </a:endParaRPr>
          </a:p>
          <a:p>
            <a:pPr marL="0" indent="0">
              <a:buNone/>
            </a:pPr>
            <a:r>
              <a:rPr lang="en-IN" sz="1500" b="1" dirty="0">
                <a:latin typeface="Cambria Math" panose="02040503050406030204" pitchFamily="18" charset="0"/>
                <a:ea typeface="Cambria Math" panose="02040503050406030204" pitchFamily="18" charset="0"/>
              </a:rPr>
              <a:t>)</a:t>
            </a:r>
          </a:p>
          <a:p>
            <a:pPr marL="0" indent="0">
              <a:buNone/>
            </a:pPr>
            <a:r>
              <a:rPr lang="en-IN" sz="1500" b="1" dirty="0">
                <a:latin typeface="Cambria Math" panose="02040503050406030204" pitchFamily="18" charset="0"/>
                <a:ea typeface="Cambria Math" panose="02040503050406030204" pitchFamily="18" charset="0"/>
              </a:rPr>
              <a:t>SELECT</a:t>
            </a:r>
          </a:p>
          <a:p>
            <a:pPr marL="0" indent="0">
              <a:buNone/>
            </a:pPr>
            <a:r>
              <a:rPr lang="en-IN" sz="1500" b="1" dirty="0">
                <a:latin typeface="Cambria Math" panose="02040503050406030204" pitchFamily="18" charset="0"/>
                <a:ea typeface="Cambria Math" panose="02040503050406030204" pitchFamily="18" charset="0"/>
              </a:rPr>
              <a:t>    Branch,    </a:t>
            </a:r>
            <a:r>
              <a:rPr lang="en-IN" sz="1500" b="1" dirty="0" err="1">
                <a:latin typeface="Cambria Math" panose="02040503050406030204" pitchFamily="18" charset="0"/>
                <a:ea typeface="Cambria Math" panose="02040503050406030204" pitchFamily="18" charset="0"/>
              </a:rPr>
              <a:t>ProductLine</a:t>
            </a:r>
            <a:r>
              <a:rPr lang="en-IN" sz="1500" b="1" dirty="0">
                <a:latin typeface="Cambria Math" panose="02040503050406030204" pitchFamily="18" charset="0"/>
                <a:ea typeface="Cambria Math" panose="02040503050406030204" pitchFamily="18" charset="0"/>
              </a:rPr>
              <a:t>,    </a:t>
            </a:r>
            <a:r>
              <a:rPr lang="en-IN" sz="1500" b="1" dirty="0" err="1">
                <a:latin typeface="Cambria Math" panose="02040503050406030204" pitchFamily="18" charset="0"/>
                <a:ea typeface="Cambria Math" panose="02040503050406030204" pitchFamily="18" charset="0"/>
              </a:rPr>
              <a:t>ProfitMarginFROM</a:t>
            </a:r>
            <a:r>
              <a:rPr lang="en-IN" sz="1500" b="1" dirty="0">
                <a:latin typeface="Cambria Math" panose="02040503050406030204" pitchFamily="18" charset="0"/>
                <a:ea typeface="Cambria Math" panose="02040503050406030204" pitchFamily="18" charset="0"/>
              </a:rPr>
              <a:t>    </a:t>
            </a:r>
            <a:r>
              <a:rPr lang="en-IN" sz="1500" b="1" dirty="0" err="1">
                <a:latin typeface="Cambria Math" panose="02040503050406030204" pitchFamily="18" charset="0"/>
                <a:ea typeface="Cambria Math" panose="02040503050406030204" pitchFamily="18" charset="0"/>
              </a:rPr>
              <a:t>RankedProfits</a:t>
            </a:r>
            <a:endParaRPr lang="en-IN" sz="1500" b="1" dirty="0">
              <a:latin typeface="Cambria Math" panose="02040503050406030204" pitchFamily="18" charset="0"/>
              <a:ea typeface="Cambria Math" panose="02040503050406030204" pitchFamily="18" charset="0"/>
            </a:endParaRPr>
          </a:p>
          <a:p>
            <a:pPr marL="0" indent="0">
              <a:buNone/>
            </a:pPr>
            <a:r>
              <a:rPr lang="en-IN" sz="1500" b="1" dirty="0">
                <a:latin typeface="Cambria Math" panose="02040503050406030204" pitchFamily="18" charset="0"/>
                <a:ea typeface="Cambria Math" panose="02040503050406030204" pitchFamily="18" charset="0"/>
              </a:rPr>
              <a:t>WHERE    </a:t>
            </a:r>
            <a:r>
              <a:rPr lang="en-IN" sz="1500" b="1" dirty="0" err="1">
                <a:latin typeface="Cambria Math" panose="02040503050406030204" pitchFamily="18" charset="0"/>
                <a:ea typeface="Cambria Math" panose="02040503050406030204" pitchFamily="18" charset="0"/>
              </a:rPr>
              <a:t>rankk</a:t>
            </a:r>
            <a:r>
              <a:rPr lang="en-IN" sz="1500" b="1" dirty="0">
                <a:latin typeface="Cambria Math" panose="02040503050406030204" pitchFamily="18" charset="0"/>
                <a:ea typeface="Cambria Math" panose="02040503050406030204" pitchFamily="18" charset="0"/>
              </a:rPr>
              <a:t> = 1;</a:t>
            </a:r>
            <a:endParaRPr lang="en-IN" sz="1600" b="1"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A14845AF-876C-C81E-C0FE-873676DF27EE}"/>
              </a:ext>
            </a:extLst>
          </p:cNvPr>
          <p:cNvSpPr txBox="1"/>
          <p:nvPr/>
        </p:nvSpPr>
        <p:spPr>
          <a:xfrm>
            <a:off x="5319252" y="3500120"/>
            <a:ext cx="6096000" cy="1200329"/>
          </a:xfrm>
          <a:prstGeom prst="rect">
            <a:avLst/>
          </a:prstGeom>
          <a:noFill/>
        </p:spPr>
        <p:txBody>
          <a:bodyPr wrap="square">
            <a:spAutoFit/>
          </a:bodyPr>
          <a:lstStyle/>
          <a:p>
            <a:r>
              <a:rPr lang="en-US" b="1" i="0" u="sng" dirty="0">
                <a:solidFill>
                  <a:srgbClr val="FFFFFF"/>
                </a:solidFill>
                <a:effectLst/>
                <a:latin typeface="Cambria Math" panose="02040503050406030204" pitchFamily="18" charset="0"/>
                <a:ea typeface="Cambria Math" panose="02040503050406030204" pitchFamily="18" charset="0"/>
              </a:rPr>
              <a:t>Approach: </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Profit = Gross Income - COGS (Cost of Goods Sold).</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Group by Branch and Product line, then calculate and    </a:t>
            </a:r>
          </a:p>
          <a:p>
            <a:r>
              <a:rPr lang="en-US" dirty="0">
                <a:solidFill>
                  <a:srgbClr val="FFFFFF"/>
                </a:solidFill>
                <a:latin typeface="Cambria Math" panose="02040503050406030204" pitchFamily="18" charset="0"/>
                <a:ea typeface="Cambria Math" panose="02040503050406030204" pitchFamily="18" charset="0"/>
              </a:rPr>
              <a:t>        </a:t>
            </a:r>
            <a:r>
              <a:rPr lang="en-US" b="0" i="0" dirty="0">
                <a:solidFill>
                  <a:srgbClr val="FFFFFF"/>
                </a:solidFill>
                <a:effectLst/>
                <a:latin typeface="Cambria Math" panose="02040503050406030204" pitchFamily="18" charset="0"/>
                <a:ea typeface="Cambria Math" panose="02040503050406030204" pitchFamily="18" charset="0"/>
              </a:rPr>
              <a:t>rank by profit.</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29854160"/>
      </p:ext>
    </p:extLst>
  </p:cSld>
  <p:clrMapOvr>
    <a:masterClrMapping/>
  </p:clrMapOvr>
  <p:transition spd="slow" advTm="1986">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D59B7DC-D7D9-6E05-481B-F0680D6593D3}"/>
              </a:ext>
            </a:extLst>
          </p:cNvPr>
          <p:cNvGraphicFramePr>
            <a:graphicFrameLocks/>
          </p:cNvGraphicFramePr>
          <p:nvPr>
            <p:extLst>
              <p:ext uri="{D42A27DB-BD31-4B8C-83A1-F6EECF244321}">
                <p14:modId xmlns:p14="http://schemas.microsoft.com/office/powerpoint/2010/main" val="1489462372"/>
              </p:ext>
            </p:extLst>
          </p:nvPr>
        </p:nvGraphicFramePr>
        <p:xfrm>
          <a:off x="3962400" y="1219199"/>
          <a:ext cx="7353300" cy="517313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Table 2">
            <a:extLst>
              <a:ext uri="{FF2B5EF4-FFF2-40B4-BE49-F238E27FC236}">
                <a16:creationId xmlns:a16="http://schemas.microsoft.com/office/drawing/2014/main" id="{79EAC5F0-4C87-261A-6E3F-0BD1083DCA38}"/>
              </a:ext>
            </a:extLst>
          </p:cNvPr>
          <p:cNvGraphicFramePr>
            <a:graphicFrameLocks noGrp="1"/>
          </p:cNvGraphicFramePr>
          <p:nvPr>
            <p:extLst>
              <p:ext uri="{D42A27DB-BD31-4B8C-83A1-F6EECF244321}">
                <p14:modId xmlns:p14="http://schemas.microsoft.com/office/powerpoint/2010/main" val="1112761209"/>
              </p:ext>
            </p:extLst>
          </p:nvPr>
        </p:nvGraphicFramePr>
        <p:xfrm>
          <a:off x="262468" y="1219199"/>
          <a:ext cx="3047999" cy="2846548"/>
        </p:xfrm>
        <a:graphic>
          <a:graphicData uri="http://schemas.openxmlformats.org/drawingml/2006/table">
            <a:tbl>
              <a:tblPr/>
              <a:tblGrid>
                <a:gridCol w="865704">
                  <a:extLst>
                    <a:ext uri="{9D8B030D-6E8A-4147-A177-3AD203B41FA5}">
                      <a16:colId xmlns:a16="http://schemas.microsoft.com/office/drawing/2014/main" val="3213208281"/>
                    </a:ext>
                  </a:extLst>
                </a:gridCol>
                <a:gridCol w="865704">
                  <a:extLst>
                    <a:ext uri="{9D8B030D-6E8A-4147-A177-3AD203B41FA5}">
                      <a16:colId xmlns:a16="http://schemas.microsoft.com/office/drawing/2014/main" val="3105387573"/>
                    </a:ext>
                  </a:extLst>
                </a:gridCol>
                <a:gridCol w="1316591">
                  <a:extLst>
                    <a:ext uri="{9D8B030D-6E8A-4147-A177-3AD203B41FA5}">
                      <a16:colId xmlns:a16="http://schemas.microsoft.com/office/drawing/2014/main" val="1389732577"/>
                    </a:ext>
                  </a:extLst>
                </a:gridCol>
              </a:tblGrid>
              <a:tr h="429667">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Branch</a:t>
                      </a:r>
                    </a:p>
                  </a:txBody>
                  <a:tcPr marL="7620" marR="7620" marT="7620" marB="0" anchor="b">
                    <a:lnL>
                      <a:noFill/>
                    </a:lnL>
                    <a:lnR>
                      <a:noFill/>
                    </a:lnR>
                    <a:lnT>
                      <a:noFill/>
                    </a:lnT>
                    <a:lnB>
                      <a:noFill/>
                    </a:lnB>
                    <a:noFill/>
                  </a:tcPr>
                </a:tc>
                <a:tc>
                  <a:txBody>
                    <a:bodyPr/>
                    <a:lstStyle/>
                    <a:p>
                      <a:pPr algn="ctr" fontAlgn="b">
                        <a:buNone/>
                      </a:pPr>
                      <a:r>
                        <a:rPr lang="en-IN" sz="1200" b="0" i="0" u="none" strike="noStrike" dirty="0" err="1">
                          <a:solidFill>
                            <a:schemeClr val="tx1"/>
                          </a:solidFill>
                          <a:effectLst/>
                          <a:latin typeface="Cambria Math" panose="02040503050406030204" pitchFamily="18" charset="0"/>
                          <a:ea typeface="Cambria Math" panose="02040503050406030204" pitchFamily="18" charset="0"/>
                        </a:rPr>
                        <a:t>ProductLine</a:t>
                      </a:r>
                      <a:endParaRPr lang="en-IN" sz="1200" b="0" i="0" u="none" strike="noStrike" dirty="0">
                        <a:solidFill>
                          <a:schemeClr val="tx1"/>
                        </a:solidFill>
                        <a:effectLst/>
                        <a:latin typeface="Cambria Math" panose="02040503050406030204" pitchFamily="18" charset="0"/>
                        <a:ea typeface="Cambria Math" panose="02040503050406030204" pitchFamily="18" charset="0"/>
                      </a:endParaRP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ProfitMargin</a:t>
                      </a:r>
                    </a:p>
                  </a:txBody>
                  <a:tcPr marL="7620" marR="7620" marT="7620" marB="0" anchor="b">
                    <a:lnL>
                      <a:noFill/>
                    </a:lnL>
                    <a:lnR>
                      <a:noFill/>
                    </a:lnR>
                    <a:lnT>
                      <a:noFill/>
                    </a:lnT>
                    <a:lnB>
                      <a:noFill/>
                    </a:lnB>
                    <a:noFill/>
                  </a:tcPr>
                </a:tc>
                <a:extLst>
                  <a:ext uri="{0D108BD9-81ED-4DB2-BD59-A6C34878D82A}">
                    <a16:rowId xmlns:a16="http://schemas.microsoft.com/office/drawing/2014/main" val="4153517145"/>
                  </a:ext>
                </a:extLst>
              </a:tr>
              <a:tr h="805627">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A</a:t>
                      </a:r>
                    </a:p>
                  </a:txBody>
                  <a:tcPr marL="7620" marR="7620" marT="7620" marB="0" anchor="b">
                    <a:lnL>
                      <a:noFill/>
                    </a:lnL>
                    <a:lnR>
                      <a:noFill/>
                    </a:lnR>
                    <a:lnT>
                      <a:noFill/>
                    </a:lnT>
                    <a:lnB>
                      <a:noFill/>
                    </a:lnB>
                    <a:noFill/>
                  </a:tcPr>
                </a:tc>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Fashion accessories</a:t>
                      </a:r>
                    </a:p>
                  </a:txBody>
                  <a:tcPr marL="7620" marR="7620" marT="7620" marB="0" anchor="b">
                    <a:lnL>
                      <a:noFill/>
                    </a:lnL>
                    <a:lnR>
                      <a:noFill/>
                    </a:lnR>
                    <a:lnT>
                      <a:noFill/>
                    </a:lnT>
                    <a:lnB>
                      <a:noFill/>
                    </a:lnB>
                    <a:noFill/>
                  </a:tcPr>
                </a:tc>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-12.09</a:t>
                      </a:r>
                    </a:p>
                  </a:txBody>
                  <a:tcPr marL="7620" marR="7620" marT="7620" marB="0" anchor="b">
                    <a:lnL>
                      <a:noFill/>
                    </a:lnL>
                    <a:lnR>
                      <a:noFill/>
                    </a:lnR>
                    <a:lnT>
                      <a:noFill/>
                    </a:lnT>
                    <a:lnB>
                      <a:noFill/>
                    </a:lnB>
                    <a:noFill/>
                  </a:tcPr>
                </a:tc>
                <a:extLst>
                  <a:ext uri="{0D108BD9-81ED-4DB2-BD59-A6C34878D82A}">
                    <a16:rowId xmlns:a16="http://schemas.microsoft.com/office/drawing/2014/main" val="3755593749"/>
                  </a:ext>
                </a:extLst>
              </a:tr>
              <a:tr h="805627">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B</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Health and beauty</a:t>
                      </a:r>
                    </a:p>
                  </a:txBody>
                  <a:tcPr marL="7620" marR="7620" marT="7620" marB="0" anchor="b">
                    <a:lnL>
                      <a:noFill/>
                    </a:lnL>
                    <a:lnR>
                      <a:noFill/>
                    </a:lnR>
                    <a:lnT>
                      <a:noFill/>
                    </a:lnT>
                    <a:lnB>
                      <a:noFill/>
                    </a:lnB>
                    <a:noFill/>
                  </a:tcPr>
                </a:tc>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-17.75</a:t>
                      </a:r>
                    </a:p>
                  </a:txBody>
                  <a:tcPr marL="7620" marR="7620" marT="7620" marB="0" anchor="b">
                    <a:lnL>
                      <a:noFill/>
                    </a:lnL>
                    <a:lnR>
                      <a:noFill/>
                    </a:lnR>
                    <a:lnT>
                      <a:noFill/>
                    </a:lnT>
                    <a:lnB>
                      <a:noFill/>
                    </a:lnB>
                    <a:noFill/>
                  </a:tcPr>
                </a:tc>
                <a:extLst>
                  <a:ext uri="{0D108BD9-81ED-4DB2-BD59-A6C34878D82A}">
                    <a16:rowId xmlns:a16="http://schemas.microsoft.com/office/drawing/2014/main" val="667346331"/>
                  </a:ext>
                </a:extLst>
              </a:tr>
              <a:tr h="805627">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C</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Sports and travel</a:t>
                      </a:r>
                    </a:p>
                  </a:txBody>
                  <a:tcPr marL="7620" marR="7620" marT="7620" marB="0" anchor="b">
                    <a:lnL>
                      <a:noFill/>
                    </a:lnL>
                    <a:lnR>
                      <a:noFill/>
                    </a:lnR>
                    <a:lnT>
                      <a:noFill/>
                    </a:lnT>
                    <a:lnB>
                      <a:noFill/>
                    </a:lnB>
                    <a:noFill/>
                  </a:tcPr>
                </a:tc>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-10.17</a:t>
                      </a:r>
                    </a:p>
                  </a:txBody>
                  <a:tcPr marL="7620" marR="7620" marT="7620" marB="0" anchor="b">
                    <a:lnL>
                      <a:noFill/>
                    </a:lnL>
                    <a:lnR>
                      <a:noFill/>
                    </a:lnR>
                    <a:lnT>
                      <a:noFill/>
                    </a:lnT>
                    <a:lnB>
                      <a:noFill/>
                    </a:lnB>
                    <a:noFill/>
                  </a:tcPr>
                </a:tc>
                <a:extLst>
                  <a:ext uri="{0D108BD9-81ED-4DB2-BD59-A6C34878D82A}">
                    <a16:rowId xmlns:a16="http://schemas.microsoft.com/office/drawing/2014/main" val="3864878010"/>
                  </a:ext>
                </a:extLst>
              </a:tr>
            </a:tbl>
          </a:graphicData>
        </a:graphic>
      </p:graphicFrame>
    </p:spTree>
    <p:extLst>
      <p:ext uri="{BB962C8B-B14F-4D97-AF65-F5344CB8AC3E}">
        <p14:creationId xmlns:p14="http://schemas.microsoft.com/office/powerpoint/2010/main" val="262736599"/>
      </p:ext>
    </p:extLst>
  </p:cSld>
  <p:clrMapOvr>
    <a:masterClrMapping/>
  </p:clrMapOvr>
  <p:transition spd="slow" advTm="400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690241-DF9C-DA0A-219A-38A71CC4B99D}"/>
              </a:ext>
            </a:extLst>
          </p:cNvPr>
          <p:cNvSpPr txBox="1"/>
          <p:nvPr/>
        </p:nvSpPr>
        <p:spPr>
          <a:xfrm>
            <a:off x="266700" y="337661"/>
            <a:ext cx="11797481" cy="1323439"/>
          </a:xfrm>
          <a:prstGeom prst="rect">
            <a:avLst/>
          </a:prstGeom>
          <a:noFill/>
        </p:spPr>
        <p:txBody>
          <a:bodyPr wrap="square">
            <a:spAutoFit/>
          </a:bodyPr>
          <a:lstStyle/>
          <a:p>
            <a:r>
              <a:rPr lang="en-US" sz="2000" dirty="0">
                <a:latin typeface="Cambria Math" panose="02040503050406030204" pitchFamily="18" charset="0"/>
                <a:ea typeface="Cambria Math" panose="02040503050406030204" pitchFamily="18" charset="0"/>
              </a:rPr>
              <a:t>Task 3: Analyzing Customer Segmentation Based on Spending </a:t>
            </a:r>
          </a:p>
          <a:p>
            <a:endParaRPr lang="en-US" sz="2000"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Walmart wants to segment customers based on their average spending behavior. Classify customers into three tiers: High, Medium, and Low spenders based on their total purchase amounts.</a:t>
            </a:r>
            <a:endParaRPr lang="en-IN" sz="2000"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267D3124-953A-7B82-5D57-0B18C0A8E355}"/>
              </a:ext>
            </a:extLst>
          </p:cNvPr>
          <p:cNvSpPr txBox="1"/>
          <p:nvPr/>
        </p:nvSpPr>
        <p:spPr>
          <a:xfrm>
            <a:off x="266701" y="1828562"/>
            <a:ext cx="6212758" cy="4401205"/>
          </a:xfrm>
          <a:prstGeom prst="rect">
            <a:avLst/>
          </a:prstGeom>
          <a:noFill/>
        </p:spPr>
        <p:txBody>
          <a:bodyPr wrap="square">
            <a:spAutoFit/>
          </a:bodyPr>
          <a:lstStyle/>
          <a:p>
            <a:r>
              <a:rPr lang="en-IN" sz="2000" dirty="0">
                <a:latin typeface="Cambria Math" panose="02040503050406030204" pitchFamily="18" charset="0"/>
                <a:ea typeface="Cambria Math" panose="02040503050406030204" pitchFamily="18" charset="0"/>
              </a:rPr>
              <a:t>SQL Script:-</a:t>
            </a:r>
          </a:p>
          <a:p>
            <a:r>
              <a:rPr lang="en-IN" sz="2000" dirty="0">
                <a:latin typeface="Cambria Math" panose="02040503050406030204" pitchFamily="18" charset="0"/>
                <a:ea typeface="Cambria Math" panose="02040503050406030204" pitchFamily="18" charset="0"/>
              </a:rPr>
              <a:t>Use </a:t>
            </a:r>
            <a:r>
              <a:rPr lang="en-IN" sz="2000" dirty="0" err="1">
                <a:latin typeface="Cambria Math" panose="02040503050406030204" pitchFamily="18" charset="0"/>
                <a:ea typeface="Cambria Math" panose="02040503050406030204" pitchFamily="18" charset="0"/>
              </a:rPr>
              <a:t>walmartsales</a:t>
            </a:r>
            <a:r>
              <a:rPr lang="en-IN" sz="2000" dirty="0">
                <a:latin typeface="Cambria Math" panose="02040503050406030204" pitchFamily="18" charset="0"/>
                <a:ea typeface="Cambria Math" panose="02040503050406030204" pitchFamily="18" charset="0"/>
              </a:rPr>
              <a:t>;</a:t>
            </a:r>
          </a:p>
          <a:p>
            <a:r>
              <a:rPr lang="en-IN" sz="2000" dirty="0">
                <a:latin typeface="Cambria Math" panose="02040503050406030204" pitchFamily="18" charset="0"/>
                <a:ea typeface="Cambria Math" panose="02040503050406030204" pitchFamily="18" charset="0"/>
              </a:rPr>
              <a:t>SELECT 	Branch,   </a:t>
            </a:r>
          </a:p>
          <a:p>
            <a:r>
              <a:rPr lang="en-IN" sz="2000" dirty="0">
                <a:latin typeface="Cambria Math" panose="02040503050406030204" pitchFamily="18" charset="0"/>
                <a:ea typeface="Cambria Math" panose="02040503050406030204" pitchFamily="18" charset="0"/>
              </a:rPr>
              <a:t> Gender,   </a:t>
            </a:r>
          </a:p>
          <a:p>
            <a:r>
              <a:rPr lang="en-IN" sz="2000" dirty="0">
                <a:latin typeface="Cambria Math" panose="02040503050406030204" pitchFamily="18" charset="0"/>
                <a:ea typeface="Cambria Math" panose="02040503050406030204" pitchFamily="18" charset="0"/>
              </a:rPr>
              <a:t> Date,   </a:t>
            </a:r>
          </a:p>
          <a:p>
            <a:r>
              <a:rPr lang="en-IN" sz="2000" dirty="0">
                <a:latin typeface="Cambria Math" panose="02040503050406030204" pitchFamily="18" charset="0"/>
                <a:ea typeface="Cambria Math" panose="02040503050406030204" pitchFamily="18" charset="0"/>
              </a:rPr>
              <a:t> `Customer type`,  </a:t>
            </a:r>
          </a:p>
          <a:p>
            <a:r>
              <a:rPr lang="en-IN" sz="2000" dirty="0">
                <a:latin typeface="Cambria Math" panose="02040503050406030204" pitchFamily="18" charset="0"/>
                <a:ea typeface="Cambria Math" panose="02040503050406030204" pitchFamily="18" charset="0"/>
              </a:rPr>
              <a:t>  Round(sum(Total),2) AS </a:t>
            </a:r>
            <a:r>
              <a:rPr lang="en-IN" sz="2000" dirty="0" err="1">
                <a:latin typeface="Cambria Math" panose="02040503050406030204" pitchFamily="18" charset="0"/>
                <a:ea typeface="Cambria Math" panose="02040503050406030204" pitchFamily="18" charset="0"/>
              </a:rPr>
              <a:t>TotalSpent</a:t>
            </a:r>
            <a:r>
              <a:rPr lang="en-IN" sz="2000" dirty="0">
                <a:latin typeface="Cambria Math" panose="02040503050406030204" pitchFamily="18" charset="0"/>
                <a:ea typeface="Cambria Math" panose="02040503050406030204" pitchFamily="18" charset="0"/>
              </a:rPr>
              <a:t>,   </a:t>
            </a:r>
          </a:p>
          <a:p>
            <a:r>
              <a:rPr lang="en-IN" sz="2000" dirty="0">
                <a:latin typeface="Cambria Math" panose="02040503050406030204" pitchFamily="18" charset="0"/>
                <a:ea typeface="Cambria Math" panose="02040503050406030204" pitchFamily="18" charset="0"/>
              </a:rPr>
              <a:t> CASE       </a:t>
            </a:r>
          </a:p>
          <a:p>
            <a:r>
              <a:rPr lang="en-IN" sz="2000" dirty="0">
                <a:latin typeface="Cambria Math" panose="02040503050406030204" pitchFamily="18" charset="0"/>
                <a:ea typeface="Cambria Math" panose="02040503050406030204" pitchFamily="18" charset="0"/>
              </a:rPr>
              <a:t>  WHEN SUM(Total) &gt;= 300 THEN 'High'       </a:t>
            </a:r>
          </a:p>
          <a:p>
            <a:r>
              <a:rPr lang="en-IN" sz="2000" dirty="0">
                <a:latin typeface="Cambria Math" panose="02040503050406030204" pitchFamily="18" charset="0"/>
                <a:ea typeface="Cambria Math" panose="02040503050406030204" pitchFamily="18" charset="0"/>
              </a:rPr>
              <a:t> WHEN SUM(Total) &gt;=200 THEN 'Medium'       </a:t>
            </a:r>
          </a:p>
          <a:p>
            <a:r>
              <a:rPr lang="en-IN" sz="2000" dirty="0">
                <a:latin typeface="Cambria Math" panose="02040503050406030204" pitchFamily="18" charset="0"/>
                <a:ea typeface="Cambria Math" panose="02040503050406030204" pitchFamily="18" charset="0"/>
              </a:rPr>
              <a:t> ELSE 'Low'    </a:t>
            </a:r>
          </a:p>
          <a:p>
            <a:r>
              <a:rPr lang="en-IN" sz="2000" dirty="0">
                <a:latin typeface="Cambria Math" panose="02040503050406030204" pitchFamily="18" charset="0"/>
                <a:ea typeface="Cambria Math" panose="02040503050406030204" pitchFamily="18" charset="0"/>
              </a:rPr>
              <a:t>END AS </a:t>
            </a:r>
            <a:r>
              <a:rPr lang="en-IN" sz="2000" dirty="0" err="1">
                <a:latin typeface="Cambria Math" panose="02040503050406030204" pitchFamily="18" charset="0"/>
                <a:ea typeface="Cambria Math" panose="02040503050406030204" pitchFamily="18" charset="0"/>
              </a:rPr>
              <a:t>SpendingCategory</a:t>
            </a:r>
            <a:endParaRPr lang="en-IN" sz="2000" dirty="0">
              <a:latin typeface="Cambria Math" panose="02040503050406030204" pitchFamily="18" charset="0"/>
              <a:ea typeface="Cambria Math" panose="02040503050406030204" pitchFamily="18" charset="0"/>
            </a:endParaRPr>
          </a:p>
          <a:p>
            <a:r>
              <a:rPr lang="en-IN" sz="2000" dirty="0">
                <a:latin typeface="Cambria Math" panose="02040503050406030204" pitchFamily="18" charset="0"/>
                <a:ea typeface="Cambria Math" panose="02040503050406030204" pitchFamily="18" charset="0"/>
              </a:rPr>
              <a:t>FROM </a:t>
            </a:r>
            <a:r>
              <a:rPr lang="en-IN" sz="2000" dirty="0" err="1">
                <a:latin typeface="Cambria Math" panose="02040503050406030204" pitchFamily="18" charset="0"/>
                <a:ea typeface="Cambria Math" panose="02040503050406030204" pitchFamily="18" charset="0"/>
              </a:rPr>
              <a:t>walmartsales</a:t>
            </a:r>
            <a:endParaRPr lang="en-IN" sz="2000" dirty="0">
              <a:latin typeface="Cambria Math" panose="02040503050406030204" pitchFamily="18" charset="0"/>
              <a:ea typeface="Cambria Math" panose="02040503050406030204" pitchFamily="18" charset="0"/>
            </a:endParaRPr>
          </a:p>
          <a:p>
            <a:r>
              <a:rPr lang="en-IN" sz="2000" dirty="0">
                <a:latin typeface="Cambria Math" panose="02040503050406030204" pitchFamily="18" charset="0"/>
                <a:ea typeface="Cambria Math" panose="02040503050406030204" pitchFamily="18" charset="0"/>
              </a:rPr>
              <a:t>GROUP BY `Customer type`, Branch, Gender, Date;</a:t>
            </a:r>
            <a:endParaRPr lang="en-IN" dirty="0">
              <a:latin typeface="Cambria Math" panose="02040503050406030204" pitchFamily="18" charset="0"/>
              <a:ea typeface="Cambria Math" panose="02040503050406030204" pitchFamily="18" charset="0"/>
            </a:endParaRPr>
          </a:p>
        </p:txBody>
      </p:sp>
      <p:sp>
        <p:nvSpPr>
          <p:cNvPr id="6" name="TextBox 5">
            <a:extLst>
              <a:ext uri="{FF2B5EF4-FFF2-40B4-BE49-F238E27FC236}">
                <a16:creationId xmlns:a16="http://schemas.microsoft.com/office/drawing/2014/main" id="{63D91E07-A75C-BE2A-3231-8637C7053F99}"/>
              </a:ext>
            </a:extLst>
          </p:cNvPr>
          <p:cNvSpPr txBox="1"/>
          <p:nvPr/>
        </p:nvSpPr>
        <p:spPr>
          <a:xfrm>
            <a:off x="5348748" y="2134051"/>
            <a:ext cx="6449962" cy="1200329"/>
          </a:xfrm>
          <a:prstGeom prst="rect">
            <a:avLst/>
          </a:prstGeom>
          <a:noFill/>
        </p:spPr>
        <p:txBody>
          <a:bodyPr wrap="square">
            <a:spAutoFit/>
          </a:bodyPr>
          <a:lstStyle/>
          <a:p>
            <a:r>
              <a:rPr lang="en-US" b="1" i="0" dirty="0">
                <a:solidFill>
                  <a:srgbClr val="FFFFFF"/>
                </a:solidFill>
                <a:effectLst/>
                <a:latin typeface="Cambria Math" panose="02040503050406030204" pitchFamily="18" charset="0"/>
                <a:ea typeface="Cambria Math" panose="02040503050406030204" pitchFamily="18" charset="0"/>
              </a:rPr>
              <a:t>Approach</a:t>
            </a:r>
            <a:r>
              <a:rPr lang="en-US" b="0" i="0" dirty="0">
                <a:solidFill>
                  <a:srgbClr val="FFFFFF"/>
                </a:solidFill>
                <a:effectLst/>
                <a:latin typeface="Cambria Math" panose="02040503050406030204" pitchFamily="18" charset="0"/>
                <a:ea typeface="Cambria Math" panose="02040503050406030204" pitchFamily="18" charset="0"/>
              </a:rPr>
              <a:t>:</a:t>
            </a:r>
          </a:p>
          <a:p>
            <a:endParaRPr lang="en-US" b="0" i="0" dirty="0">
              <a:solidFill>
                <a:srgbClr val="FFFFFF"/>
              </a:solidFill>
              <a:effectLst/>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 Group by Customer ID, sum total purchase amount. </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Use NTILE(3) to categorize spend levels.</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35445388"/>
      </p:ext>
    </p:extLst>
  </p:cSld>
  <p:clrMapOvr>
    <a:masterClrMapping/>
  </p:clrMapOvr>
  <p:transition spd="slow" advTm="1629">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D1AB8484-8AFC-DB05-5034-D506DCE6E52D}"/>
              </a:ext>
            </a:extLst>
          </p:cNvPr>
          <p:cNvGraphicFramePr>
            <a:graphicFrameLocks/>
          </p:cNvGraphicFramePr>
          <p:nvPr>
            <p:extLst>
              <p:ext uri="{D42A27DB-BD31-4B8C-83A1-F6EECF244321}">
                <p14:modId xmlns:p14="http://schemas.microsoft.com/office/powerpoint/2010/main" val="1780820085"/>
              </p:ext>
            </p:extLst>
          </p:nvPr>
        </p:nvGraphicFramePr>
        <p:xfrm>
          <a:off x="6205537" y="152400"/>
          <a:ext cx="5672137" cy="18573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84A4C132-3F79-1DA7-3F0F-EC451A000441}"/>
              </a:ext>
            </a:extLst>
          </p:cNvPr>
          <p:cNvGraphicFramePr>
            <a:graphicFrameLocks/>
          </p:cNvGraphicFramePr>
          <p:nvPr>
            <p:extLst>
              <p:ext uri="{D42A27DB-BD31-4B8C-83A1-F6EECF244321}">
                <p14:modId xmlns:p14="http://schemas.microsoft.com/office/powerpoint/2010/main" val="1863812081"/>
              </p:ext>
            </p:extLst>
          </p:nvPr>
        </p:nvGraphicFramePr>
        <p:xfrm>
          <a:off x="6205537" y="2200276"/>
          <a:ext cx="5672137" cy="21050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22C300A4-6595-8D52-E9F0-AC037A25F802}"/>
              </a:ext>
            </a:extLst>
          </p:cNvPr>
          <p:cNvGraphicFramePr>
            <a:graphicFrameLocks/>
          </p:cNvGraphicFramePr>
          <p:nvPr>
            <p:extLst>
              <p:ext uri="{D42A27DB-BD31-4B8C-83A1-F6EECF244321}">
                <p14:modId xmlns:p14="http://schemas.microsoft.com/office/powerpoint/2010/main" val="1814362397"/>
              </p:ext>
            </p:extLst>
          </p:nvPr>
        </p:nvGraphicFramePr>
        <p:xfrm>
          <a:off x="6205537" y="4495800"/>
          <a:ext cx="5672137" cy="220979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Table 7">
            <a:extLst>
              <a:ext uri="{FF2B5EF4-FFF2-40B4-BE49-F238E27FC236}">
                <a16:creationId xmlns:a16="http://schemas.microsoft.com/office/drawing/2014/main" id="{C053EF5D-5D94-5903-EF4F-6D339DC2CE42}"/>
              </a:ext>
            </a:extLst>
          </p:cNvPr>
          <p:cNvGraphicFramePr>
            <a:graphicFrameLocks noGrp="1"/>
          </p:cNvGraphicFramePr>
          <p:nvPr>
            <p:extLst>
              <p:ext uri="{D42A27DB-BD31-4B8C-83A1-F6EECF244321}">
                <p14:modId xmlns:p14="http://schemas.microsoft.com/office/powerpoint/2010/main" val="532676967"/>
              </p:ext>
            </p:extLst>
          </p:nvPr>
        </p:nvGraphicFramePr>
        <p:xfrm>
          <a:off x="519111" y="349567"/>
          <a:ext cx="4310063" cy="1279208"/>
        </p:xfrm>
        <a:graphic>
          <a:graphicData uri="http://schemas.openxmlformats.org/drawingml/2006/table">
            <a:tbl>
              <a:tblPr/>
              <a:tblGrid>
                <a:gridCol w="2279143">
                  <a:extLst>
                    <a:ext uri="{9D8B030D-6E8A-4147-A177-3AD203B41FA5}">
                      <a16:colId xmlns:a16="http://schemas.microsoft.com/office/drawing/2014/main" val="157604048"/>
                    </a:ext>
                  </a:extLst>
                </a:gridCol>
                <a:gridCol w="2030920">
                  <a:extLst>
                    <a:ext uri="{9D8B030D-6E8A-4147-A177-3AD203B41FA5}">
                      <a16:colId xmlns:a16="http://schemas.microsoft.com/office/drawing/2014/main" val="433646077"/>
                    </a:ext>
                  </a:extLst>
                </a:gridCol>
              </a:tblGrid>
              <a:tr h="319802">
                <a:tc>
                  <a:txBody>
                    <a:bodyPr/>
                    <a:lstStyle/>
                    <a:p>
                      <a:pPr algn="l" fontAlgn="b">
                        <a:buNone/>
                      </a:pPr>
                      <a:r>
                        <a:rPr lang="en-IN" sz="1200" b="1" i="0" u="none" strike="noStrike" dirty="0" err="1">
                          <a:solidFill>
                            <a:schemeClr val="tx1"/>
                          </a:solidFill>
                          <a:effectLst/>
                          <a:highlight>
                            <a:srgbClr val="262626"/>
                          </a:highlight>
                          <a:latin typeface="Cambria Math" panose="02040503050406030204" pitchFamily="18" charset="0"/>
                          <a:ea typeface="Cambria Math" panose="02040503050406030204" pitchFamily="18" charset="0"/>
                        </a:rPr>
                        <a:t>SpendingCategory</a:t>
                      </a:r>
                      <a:endParaRPr lang="en-IN" sz="12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en-IN" sz="12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Sum of </a:t>
                      </a:r>
                      <a:r>
                        <a:rPr lang="en-IN" sz="1200" b="1" i="0" u="none" strike="noStrike" dirty="0" err="1">
                          <a:solidFill>
                            <a:schemeClr val="tx1"/>
                          </a:solidFill>
                          <a:effectLst/>
                          <a:highlight>
                            <a:srgbClr val="262626"/>
                          </a:highlight>
                          <a:latin typeface="Cambria Math" panose="02040503050406030204" pitchFamily="18" charset="0"/>
                          <a:ea typeface="Cambria Math" panose="02040503050406030204" pitchFamily="18" charset="0"/>
                        </a:rPr>
                        <a:t>TotalSpent</a:t>
                      </a:r>
                      <a:endParaRPr lang="en-IN" sz="12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812939217"/>
                  </a:ext>
                </a:extLst>
              </a:tr>
              <a:tr h="319802">
                <a:tc>
                  <a:txBody>
                    <a:bodyPr/>
                    <a:lstStyle/>
                    <a:p>
                      <a:pPr algn="l"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High</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282280.71</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extLst>
                  <a:ext uri="{0D108BD9-81ED-4DB2-BD59-A6C34878D82A}">
                    <a16:rowId xmlns:a16="http://schemas.microsoft.com/office/drawing/2014/main" val="1022019429"/>
                  </a:ext>
                </a:extLst>
              </a:tr>
              <a:tr h="319802">
                <a:tc>
                  <a:txBody>
                    <a:bodyPr/>
                    <a:lstStyle/>
                    <a:p>
                      <a:pPr algn="l"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Low</a:t>
                      </a:r>
                    </a:p>
                  </a:txBody>
                  <a:tcPr marL="7620" marR="7620" marT="7620" marB="0" anchor="b">
                    <a:lnL>
                      <a:noFill/>
                    </a:lnL>
                    <a:lnR>
                      <a:noFill/>
                    </a:lnR>
                    <a:lnT>
                      <a:noFill/>
                    </a:lnT>
                    <a:lnB>
                      <a:noFill/>
                    </a:lnB>
                    <a:noFill/>
                  </a:tcPr>
                </a:tc>
                <a:tc>
                  <a:txBody>
                    <a:bodyPr/>
                    <a:lstStyle/>
                    <a:p>
                      <a:pPr algn="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19301.5</a:t>
                      </a:r>
                    </a:p>
                  </a:txBody>
                  <a:tcPr marL="7620" marR="7620" marT="7620" marB="0" anchor="b">
                    <a:lnL>
                      <a:noFill/>
                    </a:lnL>
                    <a:lnR>
                      <a:noFill/>
                    </a:lnR>
                    <a:lnT>
                      <a:noFill/>
                    </a:lnT>
                    <a:lnB>
                      <a:noFill/>
                    </a:lnB>
                    <a:noFill/>
                  </a:tcPr>
                </a:tc>
                <a:extLst>
                  <a:ext uri="{0D108BD9-81ED-4DB2-BD59-A6C34878D82A}">
                    <a16:rowId xmlns:a16="http://schemas.microsoft.com/office/drawing/2014/main" val="3757876195"/>
                  </a:ext>
                </a:extLst>
              </a:tr>
              <a:tr h="319802">
                <a:tc>
                  <a:txBody>
                    <a:bodyPr/>
                    <a:lstStyle/>
                    <a:p>
                      <a:pPr algn="l"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Medium</a:t>
                      </a:r>
                    </a:p>
                  </a:txBody>
                  <a:tcPr marL="7620" marR="7620" marT="7620" marB="0" anchor="b">
                    <a:lnL>
                      <a:noFill/>
                    </a:lnL>
                    <a:lnR>
                      <a:noFill/>
                    </a:lnR>
                    <a:lnT>
                      <a:noFill/>
                    </a:lnT>
                    <a:lnB>
                      <a:noFill/>
                    </a:lnB>
                    <a:noFill/>
                  </a:tcPr>
                </a:tc>
                <a:tc>
                  <a:txBody>
                    <a:bodyPr/>
                    <a:lstStyle/>
                    <a:p>
                      <a:pPr algn="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21384.62</a:t>
                      </a:r>
                    </a:p>
                  </a:txBody>
                  <a:tcPr marL="7620" marR="7620" marT="7620" marB="0" anchor="b">
                    <a:lnL>
                      <a:noFill/>
                    </a:lnL>
                    <a:lnR>
                      <a:noFill/>
                    </a:lnR>
                    <a:lnT>
                      <a:noFill/>
                    </a:lnT>
                    <a:lnB>
                      <a:noFill/>
                    </a:lnB>
                    <a:noFill/>
                  </a:tcPr>
                </a:tc>
                <a:extLst>
                  <a:ext uri="{0D108BD9-81ED-4DB2-BD59-A6C34878D82A}">
                    <a16:rowId xmlns:a16="http://schemas.microsoft.com/office/drawing/2014/main" val="1599937493"/>
                  </a:ext>
                </a:extLst>
              </a:tr>
            </a:tbl>
          </a:graphicData>
        </a:graphic>
      </p:graphicFrame>
      <p:graphicFrame>
        <p:nvGraphicFramePr>
          <p:cNvPr id="9" name="Table 8">
            <a:extLst>
              <a:ext uri="{FF2B5EF4-FFF2-40B4-BE49-F238E27FC236}">
                <a16:creationId xmlns:a16="http://schemas.microsoft.com/office/drawing/2014/main" id="{5AD1AF84-3CDE-9453-FB04-E4F5861F2984}"/>
              </a:ext>
            </a:extLst>
          </p:cNvPr>
          <p:cNvGraphicFramePr>
            <a:graphicFrameLocks noGrp="1"/>
          </p:cNvGraphicFramePr>
          <p:nvPr>
            <p:extLst>
              <p:ext uri="{D42A27DB-BD31-4B8C-83A1-F6EECF244321}">
                <p14:modId xmlns:p14="http://schemas.microsoft.com/office/powerpoint/2010/main" val="3357095190"/>
              </p:ext>
            </p:extLst>
          </p:nvPr>
        </p:nvGraphicFramePr>
        <p:xfrm>
          <a:off x="495300" y="2009775"/>
          <a:ext cx="5229225" cy="1243012"/>
        </p:xfrm>
        <a:graphic>
          <a:graphicData uri="http://schemas.openxmlformats.org/drawingml/2006/table">
            <a:tbl>
              <a:tblPr/>
              <a:tblGrid>
                <a:gridCol w="1781723">
                  <a:extLst>
                    <a:ext uri="{9D8B030D-6E8A-4147-A177-3AD203B41FA5}">
                      <a16:colId xmlns:a16="http://schemas.microsoft.com/office/drawing/2014/main" val="3483896165"/>
                    </a:ext>
                  </a:extLst>
                </a:gridCol>
                <a:gridCol w="3447502">
                  <a:extLst>
                    <a:ext uri="{9D8B030D-6E8A-4147-A177-3AD203B41FA5}">
                      <a16:colId xmlns:a16="http://schemas.microsoft.com/office/drawing/2014/main" val="816564135"/>
                    </a:ext>
                  </a:extLst>
                </a:gridCol>
              </a:tblGrid>
              <a:tr h="310753">
                <a:tc>
                  <a:txBody>
                    <a:bodyPr/>
                    <a:lstStyle/>
                    <a:p>
                      <a:pPr algn="ctr" fontAlgn="b">
                        <a:buNone/>
                      </a:pPr>
                      <a:r>
                        <a:rPr lang="en-IN" sz="12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Branch</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IN" sz="12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Sum of </a:t>
                      </a:r>
                      <a:r>
                        <a:rPr lang="en-IN" sz="1200" b="1" i="0" u="none" strike="noStrike" dirty="0" err="1">
                          <a:solidFill>
                            <a:schemeClr val="tx1"/>
                          </a:solidFill>
                          <a:effectLst/>
                          <a:highlight>
                            <a:srgbClr val="262626"/>
                          </a:highlight>
                          <a:latin typeface="Cambria Math" panose="02040503050406030204" pitchFamily="18" charset="0"/>
                          <a:ea typeface="Cambria Math" panose="02040503050406030204" pitchFamily="18" charset="0"/>
                        </a:rPr>
                        <a:t>TotalSpent</a:t>
                      </a:r>
                      <a:endParaRPr lang="en-IN" sz="12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175869004"/>
                  </a:ext>
                </a:extLst>
              </a:tr>
              <a:tr h="310753">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A</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106200.36</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extLst>
                  <a:ext uri="{0D108BD9-81ED-4DB2-BD59-A6C34878D82A}">
                    <a16:rowId xmlns:a16="http://schemas.microsoft.com/office/drawing/2014/main" val="580893000"/>
                  </a:ext>
                </a:extLst>
              </a:tr>
              <a:tr h="310753">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B</a:t>
                      </a:r>
                    </a:p>
                  </a:txBody>
                  <a:tcPr marL="7620" marR="7620" marT="7620" marB="0" anchor="b">
                    <a:lnL>
                      <a:noFill/>
                    </a:lnL>
                    <a:lnR>
                      <a:noFill/>
                    </a:lnR>
                    <a:lnT>
                      <a:noFill/>
                    </a:lnT>
                    <a:lnB>
                      <a:noFill/>
                    </a:lnB>
                    <a:noFill/>
                  </a:tcPr>
                </a:tc>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106197.72</a:t>
                      </a:r>
                    </a:p>
                  </a:txBody>
                  <a:tcPr marL="7620" marR="7620" marT="7620" marB="0" anchor="b">
                    <a:lnL>
                      <a:noFill/>
                    </a:lnL>
                    <a:lnR>
                      <a:noFill/>
                    </a:lnR>
                    <a:lnT>
                      <a:noFill/>
                    </a:lnT>
                    <a:lnB>
                      <a:noFill/>
                    </a:lnB>
                    <a:noFill/>
                  </a:tcPr>
                </a:tc>
                <a:extLst>
                  <a:ext uri="{0D108BD9-81ED-4DB2-BD59-A6C34878D82A}">
                    <a16:rowId xmlns:a16="http://schemas.microsoft.com/office/drawing/2014/main" val="2983826801"/>
                  </a:ext>
                </a:extLst>
              </a:tr>
              <a:tr h="310753">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C</a:t>
                      </a:r>
                    </a:p>
                  </a:txBody>
                  <a:tcPr marL="7620" marR="7620" marT="7620" marB="0" anchor="b">
                    <a:lnL>
                      <a:noFill/>
                    </a:lnL>
                    <a:lnR>
                      <a:noFill/>
                    </a:lnR>
                    <a:lnT>
                      <a:noFill/>
                    </a:lnT>
                    <a:lnB>
                      <a:noFill/>
                    </a:lnB>
                    <a:noFill/>
                  </a:tcPr>
                </a:tc>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110568.75</a:t>
                      </a:r>
                    </a:p>
                  </a:txBody>
                  <a:tcPr marL="7620" marR="7620" marT="7620" marB="0" anchor="b">
                    <a:lnL>
                      <a:noFill/>
                    </a:lnL>
                    <a:lnR>
                      <a:noFill/>
                    </a:lnR>
                    <a:lnT>
                      <a:noFill/>
                    </a:lnT>
                    <a:lnB>
                      <a:noFill/>
                    </a:lnB>
                    <a:noFill/>
                  </a:tcPr>
                </a:tc>
                <a:extLst>
                  <a:ext uri="{0D108BD9-81ED-4DB2-BD59-A6C34878D82A}">
                    <a16:rowId xmlns:a16="http://schemas.microsoft.com/office/drawing/2014/main" val="1547279500"/>
                  </a:ext>
                </a:extLst>
              </a:tr>
            </a:tbl>
          </a:graphicData>
        </a:graphic>
      </p:graphicFrame>
      <p:graphicFrame>
        <p:nvGraphicFramePr>
          <p:cNvPr id="10" name="Table 9">
            <a:extLst>
              <a:ext uri="{FF2B5EF4-FFF2-40B4-BE49-F238E27FC236}">
                <a16:creationId xmlns:a16="http://schemas.microsoft.com/office/drawing/2014/main" id="{9D63A161-ACBE-572F-9109-F8119495B282}"/>
              </a:ext>
            </a:extLst>
          </p:cNvPr>
          <p:cNvGraphicFramePr>
            <a:graphicFrameLocks noGrp="1"/>
          </p:cNvGraphicFramePr>
          <p:nvPr>
            <p:extLst>
              <p:ext uri="{D42A27DB-BD31-4B8C-83A1-F6EECF244321}">
                <p14:modId xmlns:p14="http://schemas.microsoft.com/office/powerpoint/2010/main" val="1942623490"/>
              </p:ext>
            </p:extLst>
          </p:nvPr>
        </p:nvGraphicFramePr>
        <p:xfrm>
          <a:off x="495300" y="4391025"/>
          <a:ext cx="4943472" cy="1847848"/>
        </p:xfrm>
        <a:graphic>
          <a:graphicData uri="http://schemas.openxmlformats.org/drawingml/2006/table">
            <a:tbl>
              <a:tblPr/>
              <a:tblGrid>
                <a:gridCol w="1986217">
                  <a:extLst>
                    <a:ext uri="{9D8B030D-6E8A-4147-A177-3AD203B41FA5}">
                      <a16:colId xmlns:a16="http://schemas.microsoft.com/office/drawing/2014/main" val="2203397448"/>
                    </a:ext>
                  </a:extLst>
                </a:gridCol>
                <a:gridCol w="1875871">
                  <a:extLst>
                    <a:ext uri="{9D8B030D-6E8A-4147-A177-3AD203B41FA5}">
                      <a16:colId xmlns:a16="http://schemas.microsoft.com/office/drawing/2014/main" val="2739116613"/>
                    </a:ext>
                  </a:extLst>
                </a:gridCol>
                <a:gridCol w="1081384">
                  <a:extLst>
                    <a:ext uri="{9D8B030D-6E8A-4147-A177-3AD203B41FA5}">
                      <a16:colId xmlns:a16="http://schemas.microsoft.com/office/drawing/2014/main" val="533169560"/>
                    </a:ext>
                  </a:extLst>
                </a:gridCol>
              </a:tblGrid>
              <a:tr h="461962">
                <a:tc>
                  <a:txBody>
                    <a:bodyPr/>
                    <a:lstStyle/>
                    <a:p>
                      <a:pPr algn="l" fontAlgn="b">
                        <a:buNone/>
                      </a:pPr>
                      <a:r>
                        <a:rPr lang="en-IN" sz="11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Sum of </a:t>
                      </a:r>
                      <a:r>
                        <a:rPr lang="en-IN" sz="1100" b="1" i="0" u="none" strike="noStrike" dirty="0" err="1">
                          <a:solidFill>
                            <a:schemeClr val="tx1"/>
                          </a:solidFill>
                          <a:effectLst/>
                          <a:highlight>
                            <a:srgbClr val="262626"/>
                          </a:highlight>
                          <a:latin typeface="Cambria Math" panose="02040503050406030204" pitchFamily="18" charset="0"/>
                          <a:ea typeface="Cambria Math" panose="02040503050406030204" pitchFamily="18" charset="0"/>
                        </a:rPr>
                        <a:t>TotalSpent</a:t>
                      </a:r>
                      <a:endParaRPr lang="en-IN" sz="11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endParaRPr>
                    </a:p>
                  </a:txBody>
                  <a:tcPr marL="7620" marR="7620" marT="7620" marB="0" anchor="b">
                    <a:lnL>
                      <a:noFill/>
                    </a:lnL>
                    <a:lnR>
                      <a:noFill/>
                    </a:lnR>
                    <a:lnT>
                      <a:noFill/>
                    </a:lnT>
                    <a:lnB>
                      <a:noFill/>
                    </a:lnB>
                    <a:solidFill>
                      <a:srgbClr val="D9E1F2"/>
                    </a:solidFill>
                  </a:tcPr>
                </a:tc>
                <a:tc>
                  <a:txBody>
                    <a:bodyPr/>
                    <a:lstStyle/>
                    <a:p>
                      <a:pPr algn="l" fontAlgn="b">
                        <a:buNone/>
                      </a:pPr>
                      <a:r>
                        <a:rPr lang="en-IN" sz="1100" b="1" i="0" u="none" strike="noStrike">
                          <a:solidFill>
                            <a:schemeClr val="tx1"/>
                          </a:solidFill>
                          <a:effectLst/>
                          <a:highlight>
                            <a:srgbClr val="262626"/>
                          </a:highlight>
                          <a:latin typeface="Cambria Math" panose="02040503050406030204" pitchFamily="18" charset="0"/>
                          <a:ea typeface="Cambria Math" panose="02040503050406030204" pitchFamily="18" charset="0"/>
                        </a:rPr>
                        <a:t>Customer type</a:t>
                      </a:r>
                    </a:p>
                  </a:txBody>
                  <a:tcPr marL="7620" marR="7620" marT="7620" marB="0" anchor="b">
                    <a:lnL>
                      <a:noFill/>
                    </a:lnL>
                    <a:lnR>
                      <a:noFill/>
                    </a:lnR>
                    <a:lnT>
                      <a:noFill/>
                    </a:lnT>
                    <a:lnB>
                      <a:noFill/>
                    </a:lnB>
                    <a:solidFill>
                      <a:srgbClr val="D9E1F2"/>
                    </a:solidFill>
                  </a:tcPr>
                </a:tc>
                <a:tc>
                  <a:txBody>
                    <a:bodyPr/>
                    <a:lstStyle/>
                    <a:p>
                      <a:pPr algn="l" fontAlgn="b">
                        <a:buNone/>
                      </a:pPr>
                      <a:endParaRPr lang="en-IN" sz="1100" b="1" i="0" u="none" strike="noStrike">
                        <a:solidFill>
                          <a:schemeClr val="tx1"/>
                        </a:solidFill>
                        <a:effectLst/>
                        <a:highlight>
                          <a:srgbClr val="262626"/>
                        </a:highlight>
                        <a:latin typeface="Cambria Math" panose="02040503050406030204" pitchFamily="18" charset="0"/>
                        <a:ea typeface="Cambria Math" panose="02040503050406030204" pitchFamily="18" charset="0"/>
                      </a:endParaRPr>
                    </a:p>
                  </a:txBody>
                  <a:tcPr marL="7620" marR="7620" marT="7620" marB="0" anchor="b">
                    <a:lnL>
                      <a:noFill/>
                    </a:lnL>
                    <a:lnR>
                      <a:noFill/>
                    </a:lnR>
                    <a:lnT>
                      <a:noFill/>
                    </a:lnT>
                    <a:lnB>
                      <a:noFill/>
                    </a:lnB>
                    <a:solidFill>
                      <a:srgbClr val="D9E1F2"/>
                    </a:solidFill>
                  </a:tcPr>
                </a:tc>
                <a:extLst>
                  <a:ext uri="{0D108BD9-81ED-4DB2-BD59-A6C34878D82A}">
                    <a16:rowId xmlns:a16="http://schemas.microsoft.com/office/drawing/2014/main" val="817761399"/>
                  </a:ext>
                </a:extLst>
              </a:tr>
              <a:tr h="461962">
                <a:tc>
                  <a:txBody>
                    <a:bodyPr/>
                    <a:lstStyle/>
                    <a:p>
                      <a:pPr algn="l" fontAlgn="b">
                        <a:buNone/>
                      </a:pPr>
                      <a:r>
                        <a:rPr lang="en-IN" sz="11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Gender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en-IN" sz="11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Member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en-IN" sz="11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Normal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661437420"/>
                  </a:ext>
                </a:extLst>
              </a:tr>
              <a:tr h="461962">
                <a:tc>
                  <a:txBody>
                    <a:bodyPr/>
                    <a:lstStyle/>
                    <a:p>
                      <a:pPr algn="l"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Female</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88146.93</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79735.99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extLst>
                  <a:ext uri="{0D108BD9-81ED-4DB2-BD59-A6C34878D82A}">
                    <a16:rowId xmlns:a16="http://schemas.microsoft.com/office/drawing/2014/main" val="3881149440"/>
                  </a:ext>
                </a:extLst>
              </a:tr>
              <a:tr h="461962">
                <a:tc>
                  <a:txBody>
                    <a:bodyPr/>
                    <a:lstStyle/>
                    <a:p>
                      <a:pPr algn="l"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Male</a:t>
                      </a:r>
                    </a:p>
                  </a:txBody>
                  <a:tcPr marL="7620" marR="7620" marT="7620" marB="0" anchor="b">
                    <a:lnL>
                      <a:noFill/>
                    </a:lnL>
                    <a:lnR>
                      <a:noFill/>
                    </a:lnR>
                    <a:lnT>
                      <a:noFill/>
                    </a:lnT>
                    <a:lnB>
                      <a:noFill/>
                    </a:lnB>
                    <a:noFill/>
                  </a:tcPr>
                </a:tc>
                <a:tc>
                  <a:txBody>
                    <a:bodyPr/>
                    <a:lstStyle/>
                    <a:p>
                      <a:pPr algn="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76076.54</a:t>
                      </a:r>
                    </a:p>
                  </a:txBody>
                  <a:tcPr marL="7620" marR="7620" marT="7620" marB="0" anchor="b">
                    <a:lnL>
                      <a:noFill/>
                    </a:lnL>
                    <a:lnR>
                      <a:noFill/>
                    </a:lnR>
                    <a:lnT>
                      <a:noFill/>
                    </a:lnT>
                    <a:lnB>
                      <a:noFill/>
                    </a:lnB>
                    <a:noFill/>
                  </a:tcPr>
                </a:tc>
                <a:tc>
                  <a:txBody>
                    <a:bodyPr/>
                    <a:lstStyle/>
                    <a:p>
                      <a:pPr algn="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79007.37</a:t>
                      </a:r>
                    </a:p>
                  </a:txBody>
                  <a:tcPr marL="7620" marR="7620" marT="7620" marB="0" anchor="b">
                    <a:lnL>
                      <a:noFill/>
                    </a:lnL>
                    <a:lnR>
                      <a:noFill/>
                    </a:lnR>
                    <a:lnT>
                      <a:noFill/>
                    </a:lnT>
                    <a:lnB>
                      <a:noFill/>
                    </a:lnB>
                    <a:noFill/>
                  </a:tcPr>
                </a:tc>
                <a:extLst>
                  <a:ext uri="{0D108BD9-81ED-4DB2-BD59-A6C34878D82A}">
                    <a16:rowId xmlns:a16="http://schemas.microsoft.com/office/drawing/2014/main" val="2682968444"/>
                  </a:ext>
                </a:extLst>
              </a:tr>
            </a:tbl>
          </a:graphicData>
        </a:graphic>
      </p:graphicFrame>
    </p:spTree>
    <p:extLst>
      <p:ext uri="{BB962C8B-B14F-4D97-AF65-F5344CB8AC3E}">
        <p14:creationId xmlns:p14="http://schemas.microsoft.com/office/powerpoint/2010/main" val="1324392758"/>
      </p:ext>
    </p:extLst>
  </p:cSld>
  <p:clrMapOvr>
    <a:masterClrMapping/>
  </p:clrMapOvr>
  <p:transition spd="slow" advTm="1395">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FE2061-0219-CF78-983B-6AE3662870F4}"/>
              </a:ext>
            </a:extLst>
          </p:cNvPr>
          <p:cNvSpPr txBox="1"/>
          <p:nvPr/>
        </p:nvSpPr>
        <p:spPr>
          <a:xfrm>
            <a:off x="54429" y="161836"/>
            <a:ext cx="11419114" cy="1200329"/>
          </a:xfrm>
          <a:prstGeom prst="rect">
            <a:avLst/>
          </a:prstGeom>
          <a:noFill/>
        </p:spPr>
        <p:txBody>
          <a:bodyPr wrap="square">
            <a:spAutoFit/>
          </a:bodyPr>
          <a:lstStyle/>
          <a:p>
            <a:r>
              <a:rPr lang="en-US" dirty="0">
                <a:latin typeface="Cambria Math" panose="02040503050406030204" pitchFamily="18" charset="0"/>
                <a:ea typeface="Cambria Math" panose="02040503050406030204" pitchFamily="18" charset="0"/>
              </a:rPr>
              <a:t>Task 4: Detecting Anomalies in Sales Transactions </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 Walmart suspects that some transactions have unusually high or low sales compared to the average for the product   line. Identify these anomalies.</a:t>
            </a:r>
          </a:p>
        </p:txBody>
      </p:sp>
      <p:sp>
        <p:nvSpPr>
          <p:cNvPr id="5" name="TextBox 4">
            <a:extLst>
              <a:ext uri="{FF2B5EF4-FFF2-40B4-BE49-F238E27FC236}">
                <a16:creationId xmlns:a16="http://schemas.microsoft.com/office/drawing/2014/main" id="{24BADA67-DBF2-E471-80BA-7740459A80BB}"/>
              </a:ext>
            </a:extLst>
          </p:cNvPr>
          <p:cNvSpPr txBox="1"/>
          <p:nvPr/>
        </p:nvSpPr>
        <p:spPr>
          <a:xfrm>
            <a:off x="165394" y="1561504"/>
            <a:ext cx="6618513" cy="4524315"/>
          </a:xfrm>
          <a:prstGeom prst="rect">
            <a:avLst/>
          </a:prstGeom>
          <a:noFill/>
        </p:spPr>
        <p:txBody>
          <a:bodyPr wrap="square">
            <a:spAutoFit/>
          </a:bodyPr>
          <a:lstStyle/>
          <a:p>
            <a:r>
              <a:rPr lang="en-IN" sz="1600" dirty="0">
                <a:latin typeface="Cambria Math" panose="02040503050406030204" pitchFamily="18" charset="0"/>
                <a:ea typeface="Cambria Math" panose="02040503050406030204" pitchFamily="18" charset="0"/>
              </a:rPr>
              <a:t>SQL Script:-</a:t>
            </a:r>
          </a:p>
          <a:p>
            <a:r>
              <a:rPr lang="en-IN" sz="1600" dirty="0">
                <a:latin typeface="Cambria Math" panose="02040503050406030204" pitchFamily="18" charset="0"/>
                <a:ea typeface="Cambria Math" panose="02040503050406030204" pitchFamily="18" charset="0"/>
              </a:rPr>
              <a:t>WITH </a:t>
            </a:r>
            <a:r>
              <a:rPr lang="en-IN" sz="1600" dirty="0" err="1">
                <a:latin typeface="Cambria Math" panose="02040503050406030204" pitchFamily="18" charset="0"/>
                <a:ea typeface="Cambria Math" panose="02040503050406030204" pitchFamily="18" charset="0"/>
              </a:rPr>
              <a:t>product_stats</a:t>
            </a:r>
            <a:r>
              <a:rPr lang="en-IN" sz="1600" dirty="0">
                <a:latin typeface="Cambria Math" panose="02040503050406030204" pitchFamily="18" charset="0"/>
                <a:ea typeface="Cambria Math" panose="02040503050406030204" pitchFamily="18" charset="0"/>
              </a:rPr>
              <a:t> AS (</a:t>
            </a:r>
          </a:p>
          <a:p>
            <a:r>
              <a:rPr lang="en-IN" sz="1600" dirty="0">
                <a:latin typeface="Cambria Math" panose="02040503050406030204" pitchFamily="18" charset="0"/>
                <a:ea typeface="Cambria Math" panose="02040503050406030204" pitchFamily="18" charset="0"/>
              </a:rPr>
              <a:t>    SELECT 	</a:t>
            </a:r>
          </a:p>
          <a:p>
            <a:r>
              <a:rPr lang="en-IN" sz="1600" dirty="0">
                <a:latin typeface="Cambria Math" panose="02040503050406030204" pitchFamily="18" charset="0"/>
                <a:ea typeface="Cambria Math" panose="02040503050406030204" pitchFamily="18" charset="0"/>
              </a:rPr>
              <a:t>	`Product line`,        round(AVG(Total),2) AS </a:t>
            </a:r>
            <a:r>
              <a:rPr lang="en-IN" sz="1600" dirty="0" err="1">
                <a:latin typeface="Cambria Math" panose="02040503050406030204" pitchFamily="18" charset="0"/>
                <a:ea typeface="Cambria Math" panose="02040503050406030204" pitchFamily="18" charset="0"/>
              </a:rPr>
              <a:t>avg_total</a:t>
            </a:r>
            <a:r>
              <a:rPr lang="en-IN" sz="1600" dirty="0">
                <a:latin typeface="Cambria Math" panose="02040503050406030204" pitchFamily="18" charset="0"/>
                <a:ea typeface="Cambria Math" panose="02040503050406030204" pitchFamily="18" charset="0"/>
              </a:rPr>
              <a:t>,        round(STDDEV(Total),2) AS </a:t>
            </a:r>
            <a:r>
              <a:rPr lang="en-IN" sz="1600" dirty="0" err="1">
                <a:latin typeface="Cambria Math" panose="02040503050406030204" pitchFamily="18" charset="0"/>
                <a:ea typeface="Cambria Math" panose="02040503050406030204" pitchFamily="18" charset="0"/>
              </a:rPr>
              <a:t>std_total</a:t>
            </a:r>
            <a:r>
              <a:rPr lang="en-IN" sz="1600" dirty="0">
                <a:latin typeface="Cambria Math" panose="02040503050406030204" pitchFamily="18" charset="0"/>
                <a:ea typeface="Cambria Math" panose="02040503050406030204" pitchFamily="18" charset="0"/>
              </a:rPr>
              <a:t>  </a:t>
            </a:r>
          </a:p>
          <a:p>
            <a:r>
              <a:rPr lang="en-IN" sz="1600" dirty="0">
                <a:latin typeface="Cambria Math" panose="02040503050406030204" pitchFamily="18" charset="0"/>
                <a:ea typeface="Cambria Math" panose="02040503050406030204" pitchFamily="18" charset="0"/>
              </a:rPr>
              <a:t>  FROM </a:t>
            </a:r>
            <a:r>
              <a:rPr lang="en-IN" sz="1600" dirty="0" err="1">
                <a:latin typeface="Cambria Math" panose="02040503050406030204" pitchFamily="18" charset="0"/>
                <a:ea typeface="Cambria Math" panose="02040503050406030204" pitchFamily="18" charset="0"/>
              </a:rPr>
              <a:t>walmartsales</a:t>
            </a:r>
            <a:r>
              <a:rPr lang="en-IN" sz="1600" dirty="0">
                <a:latin typeface="Cambria Math" panose="02040503050406030204" pitchFamily="18" charset="0"/>
                <a:ea typeface="Cambria Math" panose="02040503050406030204" pitchFamily="18" charset="0"/>
              </a:rPr>
              <a:t>  </a:t>
            </a:r>
          </a:p>
          <a:p>
            <a:r>
              <a:rPr lang="en-IN" sz="1600" dirty="0">
                <a:latin typeface="Cambria Math" panose="02040503050406030204" pitchFamily="18" charset="0"/>
                <a:ea typeface="Cambria Math" panose="02040503050406030204" pitchFamily="18" charset="0"/>
              </a:rPr>
              <a:t>  GROUP BY `Product line`</a:t>
            </a:r>
          </a:p>
          <a:p>
            <a:r>
              <a:rPr lang="en-IN" sz="1600" dirty="0">
                <a:latin typeface="Cambria Math" panose="02040503050406030204" pitchFamily="18" charset="0"/>
                <a:ea typeface="Cambria Math" panose="02040503050406030204" pitchFamily="18" charset="0"/>
              </a:rPr>
              <a:t>)</a:t>
            </a:r>
          </a:p>
          <a:p>
            <a:r>
              <a:rPr lang="en-IN" sz="1600" dirty="0">
                <a:latin typeface="Cambria Math" panose="02040503050406030204" pitchFamily="18" charset="0"/>
                <a:ea typeface="Cambria Math" panose="02040503050406030204" pitchFamily="18" charset="0"/>
              </a:rPr>
              <a:t>SELECT     </a:t>
            </a:r>
            <a:r>
              <a:rPr lang="en-IN" sz="1600" dirty="0" err="1">
                <a:latin typeface="Cambria Math" panose="02040503050406030204" pitchFamily="18" charset="0"/>
                <a:ea typeface="Cambria Math" panose="02040503050406030204" pitchFamily="18" charset="0"/>
              </a:rPr>
              <a:t>w.Date</a:t>
            </a:r>
            <a:r>
              <a:rPr lang="en-IN" sz="1600" dirty="0">
                <a:latin typeface="Cambria Math" panose="02040503050406030204" pitchFamily="18" charset="0"/>
                <a:ea typeface="Cambria Math" panose="02040503050406030204" pitchFamily="18" charset="0"/>
              </a:rPr>
              <a:t>,    </a:t>
            </a:r>
            <a:r>
              <a:rPr lang="en-IN" sz="1600" dirty="0" err="1">
                <a:latin typeface="Cambria Math" panose="02040503050406030204" pitchFamily="18" charset="0"/>
                <a:ea typeface="Cambria Math" panose="02040503050406030204" pitchFamily="18" charset="0"/>
              </a:rPr>
              <a:t>w.`Product</a:t>
            </a:r>
            <a:r>
              <a:rPr lang="en-IN" sz="1600" dirty="0">
                <a:latin typeface="Cambria Math" panose="02040503050406030204" pitchFamily="18" charset="0"/>
                <a:ea typeface="Cambria Math" panose="02040503050406030204" pitchFamily="18" charset="0"/>
              </a:rPr>
              <a:t> line`,    </a:t>
            </a:r>
            <a:r>
              <a:rPr lang="en-IN" sz="1600" dirty="0" err="1">
                <a:latin typeface="Cambria Math" panose="02040503050406030204" pitchFamily="18" charset="0"/>
                <a:ea typeface="Cambria Math" panose="02040503050406030204" pitchFamily="18" charset="0"/>
              </a:rPr>
              <a:t>w.Total</a:t>
            </a:r>
            <a:r>
              <a:rPr lang="en-IN" sz="1600" dirty="0">
                <a:latin typeface="Cambria Math" panose="02040503050406030204" pitchFamily="18" charset="0"/>
                <a:ea typeface="Cambria Math" panose="02040503050406030204" pitchFamily="18" charset="0"/>
              </a:rPr>
              <a:t>,    </a:t>
            </a:r>
            <a:r>
              <a:rPr lang="en-IN" sz="1600" dirty="0" err="1">
                <a:latin typeface="Cambria Math" panose="02040503050406030204" pitchFamily="18" charset="0"/>
                <a:ea typeface="Cambria Math" panose="02040503050406030204" pitchFamily="18" charset="0"/>
              </a:rPr>
              <a:t>ps.avg_total</a:t>
            </a:r>
            <a:r>
              <a:rPr lang="en-IN" sz="1600" dirty="0">
                <a:latin typeface="Cambria Math" panose="02040503050406030204" pitchFamily="18" charset="0"/>
                <a:ea typeface="Cambria Math" panose="02040503050406030204" pitchFamily="18" charset="0"/>
              </a:rPr>
              <a:t>,    </a:t>
            </a:r>
            <a:r>
              <a:rPr lang="en-IN" sz="1600" dirty="0" err="1">
                <a:latin typeface="Cambria Math" panose="02040503050406030204" pitchFamily="18" charset="0"/>
                <a:ea typeface="Cambria Math" panose="02040503050406030204" pitchFamily="18" charset="0"/>
              </a:rPr>
              <a:t>ps.std_total</a:t>
            </a:r>
            <a:r>
              <a:rPr lang="en-IN" sz="1600" dirty="0">
                <a:latin typeface="Cambria Math" panose="02040503050406030204" pitchFamily="18" charset="0"/>
                <a:ea typeface="Cambria Math" panose="02040503050406030204" pitchFamily="18" charset="0"/>
              </a:rPr>
              <a:t>,</a:t>
            </a:r>
          </a:p>
          <a:p>
            <a:r>
              <a:rPr lang="en-IN" sz="1600" dirty="0">
                <a:latin typeface="Cambria Math" panose="02040503050406030204" pitchFamily="18" charset="0"/>
                <a:ea typeface="Cambria Math" panose="02040503050406030204" pitchFamily="18" charset="0"/>
              </a:rPr>
              <a:t>    CASE     </a:t>
            </a:r>
          </a:p>
          <a:p>
            <a:r>
              <a:rPr lang="en-IN" sz="1600" dirty="0">
                <a:latin typeface="Cambria Math" panose="02040503050406030204" pitchFamily="18" charset="0"/>
                <a:ea typeface="Cambria Math" panose="02040503050406030204" pitchFamily="18" charset="0"/>
              </a:rPr>
              <a:t>    WHEN </a:t>
            </a:r>
            <a:r>
              <a:rPr lang="en-IN" sz="1600" dirty="0" err="1">
                <a:latin typeface="Cambria Math" panose="02040503050406030204" pitchFamily="18" charset="0"/>
                <a:ea typeface="Cambria Math" panose="02040503050406030204" pitchFamily="18" charset="0"/>
              </a:rPr>
              <a:t>w.Total</a:t>
            </a:r>
            <a:r>
              <a:rPr lang="en-IN" sz="1600" dirty="0">
                <a:latin typeface="Cambria Math" panose="02040503050406030204" pitchFamily="18" charset="0"/>
                <a:ea typeface="Cambria Math" panose="02040503050406030204" pitchFamily="18" charset="0"/>
              </a:rPr>
              <a:t> &gt; </a:t>
            </a:r>
            <a:r>
              <a:rPr lang="en-IN" sz="1600" dirty="0" err="1">
                <a:latin typeface="Cambria Math" panose="02040503050406030204" pitchFamily="18" charset="0"/>
                <a:ea typeface="Cambria Math" panose="02040503050406030204" pitchFamily="18" charset="0"/>
              </a:rPr>
              <a:t>ps.avg_total</a:t>
            </a:r>
            <a:r>
              <a:rPr lang="en-IN" sz="1600" dirty="0">
                <a:latin typeface="Cambria Math" panose="02040503050406030204" pitchFamily="18" charset="0"/>
                <a:ea typeface="Cambria Math" panose="02040503050406030204" pitchFamily="18" charset="0"/>
              </a:rPr>
              <a:t> + 2 * </a:t>
            </a:r>
            <a:r>
              <a:rPr lang="en-IN" sz="1600" dirty="0" err="1">
                <a:latin typeface="Cambria Math" panose="02040503050406030204" pitchFamily="18" charset="0"/>
                <a:ea typeface="Cambria Math" panose="02040503050406030204" pitchFamily="18" charset="0"/>
              </a:rPr>
              <a:t>ps.std_total</a:t>
            </a:r>
            <a:r>
              <a:rPr lang="en-IN" sz="1600" dirty="0">
                <a:latin typeface="Cambria Math" panose="02040503050406030204" pitchFamily="18" charset="0"/>
                <a:ea typeface="Cambria Math" panose="02040503050406030204" pitchFamily="18" charset="0"/>
              </a:rPr>
              <a:t> THEN 'High Anomaly'             WHEN </a:t>
            </a:r>
            <a:r>
              <a:rPr lang="en-IN" sz="1600" dirty="0" err="1">
                <a:latin typeface="Cambria Math" panose="02040503050406030204" pitchFamily="18" charset="0"/>
                <a:ea typeface="Cambria Math" panose="02040503050406030204" pitchFamily="18" charset="0"/>
              </a:rPr>
              <a:t>w.Total</a:t>
            </a:r>
            <a:r>
              <a:rPr lang="en-IN" sz="1600" dirty="0">
                <a:latin typeface="Cambria Math" panose="02040503050406030204" pitchFamily="18" charset="0"/>
                <a:ea typeface="Cambria Math" panose="02040503050406030204" pitchFamily="18" charset="0"/>
              </a:rPr>
              <a:t> &lt; </a:t>
            </a:r>
            <a:r>
              <a:rPr lang="en-IN" sz="1600" dirty="0" err="1">
                <a:latin typeface="Cambria Math" panose="02040503050406030204" pitchFamily="18" charset="0"/>
                <a:ea typeface="Cambria Math" panose="02040503050406030204" pitchFamily="18" charset="0"/>
              </a:rPr>
              <a:t>ps.avg_total</a:t>
            </a:r>
            <a:r>
              <a:rPr lang="en-IN" sz="1600" dirty="0">
                <a:latin typeface="Cambria Math" panose="02040503050406030204" pitchFamily="18" charset="0"/>
                <a:ea typeface="Cambria Math" panose="02040503050406030204" pitchFamily="18" charset="0"/>
              </a:rPr>
              <a:t> - 2 * </a:t>
            </a:r>
            <a:r>
              <a:rPr lang="en-IN" sz="1600" dirty="0" err="1">
                <a:latin typeface="Cambria Math" panose="02040503050406030204" pitchFamily="18" charset="0"/>
                <a:ea typeface="Cambria Math" panose="02040503050406030204" pitchFamily="18" charset="0"/>
              </a:rPr>
              <a:t>ps.std_total</a:t>
            </a:r>
            <a:r>
              <a:rPr lang="en-IN" sz="1600" dirty="0">
                <a:latin typeface="Cambria Math" panose="02040503050406030204" pitchFamily="18" charset="0"/>
                <a:ea typeface="Cambria Math" panose="02040503050406030204" pitchFamily="18" charset="0"/>
              </a:rPr>
              <a:t> THEN 'Low Anomaly'        ELSE 'Normal’   </a:t>
            </a:r>
          </a:p>
          <a:p>
            <a:r>
              <a:rPr lang="en-IN" sz="1600" dirty="0">
                <a:latin typeface="Cambria Math" panose="02040503050406030204" pitchFamily="18" charset="0"/>
                <a:ea typeface="Cambria Math" panose="02040503050406030204" pitchFamily="18" charset="0"/>
              </a:rPr>
              <a:t> END AS </a:t>
            </a:r>
            <a:r>
              <a:rPr lang="en-IN" sz="1600" dirty="0" err="1">
                <a:latin typeface="Cambria Math" panose="02040503050406030204" pitchFamily="18" charset="0"/>
                <a:ea typeface="Cambria Math" panose="02040503050406030204" pitchFamily="18" charset="0"/>
              </a:rPr>
              <a:t>Anomaly_Type</a:t>
            </a:r>
            <a:endParaRPr lang="en-IN" sz="1600" dirty="0">
              <a:latin typeface="Cambria Math" panose="02040503050406030204" pitchFamily="18" charset="0"/>
              <a:ea typeface="Cambria Math" panose="02040503050406030204" pitchFamily="18" charset="0"/>
            </a:endParaRPr>
          </a:p>
          <a:p>
            <a:r>
              <a:rPr lang="en-IN" sz="1600" dirty="0">
                <a:latin typeface="Cambria Math" panose="02040503050406030204" pitchFamily="18" charset="0"/>
                <a:ea typeface="Cambria Math" panose="02040503050406030204" pitchFamily="18" charset="0"/>
              </a:rPr>
              <a:t>FROM </a:t>
            </a:r>
            <a:r>
              <a:rPr lang="en-IN" sz="1600" dirty="0" err="1">
                <a:latin typeface="Cambria Math" panose="02040503050406030204" pitchFamily="18" charset="0"/>
                <a:ea typeface="Cambria Math" panose="02040503050406030204" pitchFamily="18" charset="0"/>
              </a:rPr>
              <a:t>walmartsales</a:t>
            </a:r>
            <a:r>
              <a:rPr lang="en-IN" sz="1600" dirty="0">
                <a:latin typeface="Cambria Math" panose="02040503050406030204" pitchFamily="18" charset="0"/>
                <a:ea typeface="Cambria Math" panose="02040503050406030204" pitchFamily="18" charset="0"/>
              </a:rPr>
              <a:t> </a:t>
            </a:r>
          </a:p>
          <a:p>
            <a:r>
              <a:rPr lang="en-IN" sz="1600" dirty="0">
                <a:latin typeface="Cambria Math" panose="02040503050406030204" pitchFamily="18" charset="0"/>
                <a:ea typeface="Cambria Math" panose="02040503050406030204" pitchFamily="18" charset="0"/>
              </a:rPr>
              <a:t> </a:t>
            </a:r>
            <a:r>
              <a:rPr lang="en-IN" sz="1600" dirty="0" err="1">
                <a:latin typeface="Cambria Math" panose="02040503050406030204" pitchFamily="18" charset="0"/>
                <a:ea typeface="Cambria Math" panose="02040503050406030204" pitchFamily="18" charset="0"/>
              </a:rPr>
              <a:t>wJOIN</a:t>
            </a:r>
            <a:r>
              <a:rPr lang="en-IN" sz="1600" dirty="0">
                <a:latin typeface="Cambria Math" panose="02040503050406030204" pitchFamily="18" charset="0"/>
                <a:ea typeface="Cambria Math" panose="02040503050406030204" pitchFamily="18" charset="0"/>
              </a:rPr>
              <a:t> </a:t>
            </a:r>
            <a:r>
              <a:rPr lang="en-IN" sz="1600" dirty="0" err="1">
                <a:latin typeface="Cambria Math" panose="02040503050406030204" pitchFamily="18" charset="0"/>
                <a:ea typeface="Cambria Math" panose="02040503050406030204" pitchFamily="18" charset="0"/>
              </a:rPr>
              <a:t>product_stats</a:t>
            </a:r>
            <a:r>
              <a:rPr lang="en-IN" sz="1600" dirty="0">
                <a:latin typeface="Cambria Math" panose="02040503050406030204" pitchFamily="18" charset="0"/>
                <a:ea typeface="Cambria Math" panose="02040503050406030204" pitchFamily="18" charset="0"/>
              </a:rPr>
              <a:t> </a:t>
            </a:r>
            <a:r>
              <a:rPr lang="en-IN" sz="1600" dirty="0" err="1">
                <a:latin typeface="Cambria Math" panose="02040503050406030204" pitchFamily="18" charset="0"/>
                <a:ea typeface="Cambria Math" panose="02040503050406030204" pitchFamily="18" charset="0"/>
              </a:rPr>
              <a:t>ps</a:t>
            </a:r>
            <a:r>
              <a:rPr lang="en-IN" sz="1600" dirty="0">
                <a:latin typeface="Cambria Math" panose="02040503050406030204" pitchFamily="18" charset="0"/>
                <a:ea typeface="Cambria Math" panose="02040503050406030204" pitchFamily="18" charset="0"/>
              </a:rPr>
              <a:t> ON </a:t>
            </a:r>
            <a:r>
              <a:rPr lang="en-IN" sz="1600" dirty="0" err="1">
                <a:latin typeface="Cambria Math" panose="02040503050406030204" pitchFamily="18" charset="0"/>
                <a:ea typeface="Cambria Math" panose="02040503050406030204" pitchFamily="18" charset="0"/>
              </a:rPr>
              <a:t>w.`Product</a:t>
            </a:r>
            <a:r>
              <a:rPr lang="en-IN" sz="1600" dirty="0">
                <a:latin typeface="Cambria Math" panose="02040503050406030204" pitchFamily="18" charset="0"/>
                <a:ea typeface="Cambria Math" panose="02040503050406030204" pitchFamily="18" charset="0"/>
              </a:rPr>
              <a:t> line` = </a:t>
            </a:r>
            <a:r>
              <a:rPr lang="en-IN" sz="1600" dirty="0" err="1">
                <a:latin typeface="Cambria Math" panose="02040503050406030204" pitchFamily="18" charset="0"/>
                <a:ea typeface="Cambria Math" panose="02040503050406030204" pitchFamily="18" charset="0"/>
              </a:rPr>
              <a:t>ps</a:t>
            </a:r>
            <a:r>
              <a:rPr lang="en-IN" sz="1600" dirty="0">
                <a:latin typeface="Cambria Math" panose="02040503050406030204" pitchFamily="18" charset="0"/>
                <a:ea typeface="Cambria Math" panose="02040503050406030204" pitchFamily="18" charset="0"/>
              </a:rPr>
              <a:t>.`Product line`</a:t>
            </a:r>
          </a:p>
          <a:p>
            <a:r>
              <a:rPr lang="en-IN" sz="1600" dirty="0">
                <a:latin typeface="Cambria Math" panose="02040503050406030204" pitchFamily="18" charset="0"/>
                <a:ea typeface="Cambria Math" panose="02040503050406030204" pitchFamily="18" charset="0"/>
              </a:rPr>
              <a:t>WHERE  </a:t>
            </a:r>
            <a:r>
              <a:rPr lang="en-IN" sz="1600" dirty="0" err="1">
                <a:latin typeface="Cambria Math" panose="02040503050406030204" pitchFamily="18" charset="0"/>
                <a:ea typeface="Cambria Math" panose="02040503050406030204" pitchFamily="18" charset="0"/>
              </a:rPr>
              <a:t>w.Total</a:t>
            </a:r>
            <a:r>
              <a:rPr lang="en-IN" sz="1600" dirty="0">
                <a:latin typeface="Cambria Math" panose="02040503050406030204" pitchFamily="18" charset="0"/>
                <a:ea typeface="Cambria Math" panose="02040503050406030204" pitchFamily="18" charset="0"/>
              </a:rPr>
              <a:t> &gt; </a:t>
            </a:r>
            <a:r>
              <a:rPr lang="en-IN" sz="1600" dirty="0" err="1">
                <a:latin typeface="Cambria Math" panose="02040503050406030204" pitchFamily="18" charset="0"/>
                <a:ea typeface="Cambria Math" panose="02040503050406030204" pitchFamily="18" charset="0"/>
              </a:rPr>
              <a:t>ps.avg_total</a:t>
            </a:r>
            <a:r>
              <a:rPr lang="en-IN" sz="1600" dirty="0">
                <a:latin typeface="Cambria Math" panose="02040503050406030204" pitchFamily="18" charset="0"/>
                <a:ea typeface="Cambria Math" panose="02040503050406030204" pitchFamily="18" charset="0"/>
              </a:rPr>
              <a:t> + 2 * </a:t>
            </a:r>
            <a:r>
              <a:rPr lang="en-IN" sz="1600" dirty="0" err="1">
                <a:latin typeface="Cambria Math" panose="02040503050406030204" pitchFamily="18" charset="0"/>
                <a:ea typeface="Cambria Math" panose="02040503050406030204" pitchFamily="18" charset="0"/>
              </a:rPr>
              <a:t>ps.std_total</a:t>
            </a:r>
            <a:r>
              <a:rPr lang="en-IN" sz="1600" dirty="0">
                <a:latin typeface="Cambria Math" panose="02040503050406030204" pitchFamily="18" charset="0"/>
                <a:ea typeface="Cambria Math" panose="02040503050406030204" pitchFamily="18" charset="0"/>
              </a:rPr>
              <a:t>   </a:t>
            </a:r>
          </a:p>
          <a:p>
            <a:r>
              <a:rPr lang="en-IN" sz="1600" dirty="0">
                <a:latin typeface="Cambria Math" panose="02040503050406030204" pitchFamily="18" charset="0"/>
                <a:ea typeface="Cambria Math" panose="02040503050406030204" pitchFamily="18" charset="0"/>
              </a:rPr>
              <a:t>OR </a:t>
            </a:r>
            <a:r>
              <a:rPr lang="en-IN" sz="1600" dirty="0" err="1">
                <a:latin typeface="Cambria Math" panose="02040503050406030204" pitchFamily="18" charset="0"/>
                <a:ea typeface="Cambria Math" panose="02040503050406030204" pitchFamily="18" charset="0"/>
              </a:rPr>
              <a:t>w.Total</a:t>
            </a:r>
            <a:r>
              <a:rPr lang="en-IN" sz="1600" dirty="0">
                <a:latin typeface="Cambria Math" panose="02040503050406030204" pitchFamily="18" charset="0"/>
                <a:ea typeface="Cambria Math" panose="02040503050406030204" pitchFamily="18" charset="0"/>
              </a:rPr>
              <a:t> &lt; </a:t>
            </a:r>
            <a:r>
              <a:rPr lang="en-IN" sz="1600" dirty="0" err="1">
                <a:latin typeface="Cambria Math" panose="02040503050406030204" pitchFamily="18" charset="0"/>
                <a:ea typeface="Cambria Math" panose="02040503050406030204" pitchFamily="18" charset="0"/>
              </a:rPr>
              <a:t>ps.avg_total</a:t>
            </a:r>
            <a:r>
              <a:rPr lang="en-IN" sz="1600" dirty="0">
                <a:latin typeface="Cambria Math" panose="02040503050406030204" pitchFamily="18" charset="0"/>
                <a:ea typeface="Cambria Math" panose="02040503050406030204" pitchFamily="18" charset="0"/>
              </a:rPr>
              <a:t> - 2 * </a:t>
            </a:r>
            <a:r>
              <a:rPr lang="en-IN" sz="1600" dirty="0" err="1">
                <a:latin typeface="Cambria Math" panose="02040503050406030204" pitchFamily="18" charset="0"/>
                <a:ea typeface="Cambria Math" panose="02040503050406030204" pitchFamily="18" charset="0"/>
              </a:rPr>
              <a:t>ps.std_total</a:t>
            </a:r>
            <a:r>
              <a:rPr lang="en-IN" sz="1600" dirty="0">
                <a:latin typeface="Cambria Math" panose="02040503050406030204" pitchFamily="18" charset="0"/>
                <a:ea typeface="Cambria Math" panose="02040503050406030204" pitchFamily="18" charset="0"/>
              </a:rPr>
              <a:t>; </a:t>
            </a:r>
          </a:p>
        </p:txBody>
      </p:sp>
      <p:sp>
        <p:nvSpPr>
          <p:cNvPr id="4" name="TextBox 3">
            <a:extLst>
              <a:ext uri="{FF2B5EF4-FFF2-40B4-BE49-F238E27FC236}">
                <a16:creationId xmlns:a16="http://schemas.microsoft.com/office/drawing/2014/main" id="{860652F7-0429-67F1-7F70-8DBDEEB1D347}"/>
              </a:ext>
            </a:extLst>
          </p:cNvPr>
          <p:cNvSpPr txBox="1"/>
          <p:nvPr/>
        </p:nvSpPr>
        <p:spPr>
          <a:xfrm>
            <a:off x="5573487" y="2143035"/>
            <a:ext cx="6618513" cy="1200329"/>
          </a:xfrm>
          <a:prstGeom prst="rect">
            <a:avLst/>
          </a:prstGeom>
          <a:noFill/>
        </p:spPr>
        <p:txBody>
          <a:bodyPr wrap="square">
            <a:spAutoFit/>
          </a:bodyPr>
          <a:lstStyle/>
          <a:p>
            <a:pPr marL="285750" indent="-285750">
              <a:buFont typeface="Arial" panose="020B0604020202020204" pitchFamily="34" charset="0"/>
              <a:buChar char="•"/>
            </a:pPr>
            <a:r>
              <a:rPr lang="en-US" b="1" i="0" dirty="0">
                <a:solidFill>
                  <a:srgbClr val="FFFFFF"/>
                </a:solidFill>
                <a:effectLst/>
                <a:latin typeface="Cambria Math" panose="02040503050406030204" pitchFamily="18" charset="0"/>
                <a:ea typeface="Cambria Math" panose="02040503050406030204" pitchFamily="18" charset="0"/>
              </a:rPr>
              <a:t>Approach</a:t>
            </a:r>
            <a:r>
              <a:rPr lang="en-US" b="0" i="0" dirty="0">
                <a:solidFill>
                  <a:srgbClr val="FFFFFF"/>
                </a:solidFill>
                <a:effectLst/>
                <a:latin typeface="Cambria Math" panose="02040503050406030204" pitchFamily="18" charset="0"/>
                <a:ea typeface="Cambria Math" panose="02040503050406030204" pitchFamily="18" charset="0"/>
              </a:rPr>
              <a:t>: </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Use statistical methods e.g., standard deviation methods.</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 Flag transactions that are outliers compared to the average for that product line. </a:t>
            </a:r>
            <a:endParaRPr lang="en-IN" dirty="0">
              <a:latin typeface="Cambria Math" panose="02040503050406030204" pitchFamily="18" charset="0"/>
              <a:ea typeface="Cambria Math" panose="02040503050406030204" pitchFamily="18" charset="0"/>
            </a:endParaRPr>
          </a:p>
        </p:txBody>
      </p:sp>
    </p:spTree>
    <p:custDataLst>
      <p:tags r:id="rId1"/>
    </p:custDataLst>
    <p:extLst>
      <p:ext uri="{BB962C8B-B14F-4D97-AF65-F5344CB8AC3E}">
        <p14:creationId xmlns:p14="http://schemas.microsoft.com/office/powerpoint/2010/main" val="1813116496"/>
      </p:ext>
    </p:extLst>
  </p:cSld>
  <p:clrMapOvr>
    <a:masterClrMapping/>
  </p:clrMapOvr>
  <p:transition spd="slow" advTm="2917">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04490620-52EB-8561-4901-133AB955CAEF}"/>
              </a:ext>
            </a:extLst>
          </p:cNvPr>
          <p:cNvGraphicFramePr>
            <a:graphicFrameLocks/>
          </p:cNvGraphicFramePr>
          <p:nvPr>
            <p:extLst>
              <p:ext uri="{D42A27DB-BD31-4B8C-83A1-F6EECF244321}">
                <p14:modId xmlns:p14="http://schemas.microsoft.com/office/powerpoint/2010/main" val="1188635094"/>
              </p:ext>
            </p:extLst>
          </p:nvPr>
        </p:nvGraphicFramePr>
        <p:xfrm>
          <a:off x="5889171" y="272142"/>
          <a:ext cx="6063344" cy="56496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3">
            <a:extLst>
              <a:ext uri="{FF2B5EF4-FFF2-40B4-BE49-F238E27FC236}">
                <a16:creationId xmlns:a16="http://schemas.microsoft.com/office/drawing/2014/main" id="{0C6E2E86-8A08-0D62-040E-89A66BD74221}"/>
              </a:ext>
            </a:extLst>
          </p:cNvPr>
          <p:cNvGraphicFramePr>
            <a:graphicFrameLocks noGrp="1"/>
          </p:cNvGraphicFramePr>
          <p:nvPr>
            <p:extLst>
              <p:ext uri="{D42A27DB-BD31-4B8C-83A1-F6EECF244321}">
                <p14:modId xmlns:p14="http://schemas.microsoft.com/office/powerpoint/2010/main" val="547900797"/>
              </p:ext>
            </p:extLst>
          </p:nvPr>
        </p:nvGraphicFramePr>
        <p:xfrm>
          <a:off x="134029" y="272143"/>
          <a:ext cx="5395914" cy="5083631"/>
        </p:xfrm>
        <a:graphic>
          <a:graphicData uri="http://schemas.openxmlformats.org/drawingml/2006/table">
            <a:tbl>
              <a:tblPr/>
              <a:tblGrid>
                <a:gridCol w="1308100">
                  <a:extLst>
                    <a:ext uri="{9D8B030D-6E8A-4147-A177-3AD203B41FA5}">
                      <a16:colId xmlns:a16="http://schemas.microsoft.com/office/drawing/2014/main" val="643709493"/>
                    </a:ext>
                  </a:extLst>
                </a:gridCol>
                <a:gridCol w="1092200">
                  <a:extLst>
                    <a:ext uri="{9D8B030D-6E8A-4147-A177-3AD203B41FA5}">
                      <a16:colId xmlns:a16="http://schemas.microsoft.com/office/drawing/2014/main" val="2548390674"/>
                    </a:ext>
                  </a:extLst>
                </a:gridCol>
                <a:gridCol w="949100">
                  <a:extLst>
                    <a:ext uri="{9D8B030D-6E8A-4147-A177-3AD203B41FA5}">
                      <a16:colId xmlns:a16="http://schemas.microsoft.com/office/drawing/2014/main" val="1020972321"/>
                    </a:ext>
                  </a:extLst>
                </a:gridCol>
                <a:gridCol w="905100">
                  <a:extLst>
                    <a:ext uri="{9D8B030D-6E8A-4147-A177-3AD203B41FA5}">
                      <a16:colId xmlns:a16="http://schemas.microsoft.com/office/drawing/2014/main" val="534760110"/>
                    </a:ext>
                  </a:extLst>
                </a:gridCol>
                <a:gridCol w="1141414">
                  <a:extLst>
                    <a:ext uri="{9D8B030D-6E8A-4147-A177-3AD203B41FA5}">
                      <a16:colId xmlns:a16="http://schemas.microsoft.com/office/drawing/2014/main" val="389852329"/>
                    </a:ext>
                  </a:extLst>
                </a:gridCol>
              </a:tblGrid>
              <a:tr h="726233">
                <a:tc>
                  <a:txBody>
                    <a:bodyPr/>
                    <a:lstStyle/>
                    <a:p>
                      <a:pPr algn="l" fontAlgn="b">
                        <a:buNone/>
                      </a:pPr>
                      <a:r>
                        <a:rPr lang="en-IN" sz="1100" b="1" i="0" u="none" strike="noStrike" dirty="0">
                          <a:solidFill>
                            <a:schemeClr val="tx1"/>
                          </a:solidFill>
                          <a:effectLst/>
                          <a:highlight>
                            <a:srgbClr val="262626"/>
                          </a:highlight>
                          <a:latin typeface="Calibri" panose="020F0502020204030204" pitchFamily="34" charset="0"/>
                        </a:rPr>
                        <a:t>Product line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en-IN" sz="1100" b="1" i="0" u="none" strike="noStrike" dirty="0" err="1">
                          <a:solidFill>
                            <a:schemeClr val="tx1"/>
                          </a:solidFill>
                          <a:effectLst/>
                          <a:highlight>
                            <a:srgbClr val="262626"/>
                          </a:highlight>
                          <a:latin typeface="Calibri" panose="020F0502020204030204" pitchFamily="34" charset="0"/>
                        </a:rPr>
                        <a:t>Anomaly_Type</a:t>
                      </a:r>
                      <a:endParaRPr lang="en-IN" sz="1100" b="1" i="0" u="none" strike="noStrike" dirty="0">
                        <a:solidFill>
                          <a:schemeClr val="tx1"/>
                        </a:solidFill>
                        <a:effectLst/>
                        <a:highlight>
                          <a:srgbClr val="262626"/>
                        </a:highligh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en-IN" sz="1100" b="1" i="0" u="none" strike="noStrike" dirty="0">
                          <a:solidFill>
                            <a:schemeClr val="tx1"/>
                          </a:solidFill>
                          <a:effectLst/>
                          <a:highlight>
                            <a:srgbClr val="262626"/>
                          </a:highlight>
                          <a:latin typeface="Calibri" panose="020F0502020204030204" pitchFamily="34" charset="0"/>
                        </a:rPr>
                        <a:t>Sum of Total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en-IN" sz="1100" b="1" i="0" u="none" strike="noStrike" dirty="0">
                          <a:solidFill>
                            <a:schemeClr val="tx1"/>
                          </a:solidFill>
                          <a:effectLst/>
                          <a:highlight>
                            <a:srgbClr val="262626"/>
                          </a:highlight>
                          <a:latin typeface="Calibri" panose="020F0502020204030204" pitchFamily="34" charset="0"/>
                        </a:rPr>
                        <a:t>Sum of </a:t>
                      </a:r>
                      <a:r>
                        <a:rPr lang="en-IN" sz="1100" b="1" i="0" u="none" strike="noStrike" dirty="0" err="1">
                          <a:solidFill>
                            <a:schemeClr val="tx1"/>
                          </a:solidFill>
                          <a:effectLst/>
                          <a:highlight>
                            <a:srgbClr val="262626"/>
                          </a:highlight>
                          <a:latin typeface="Calibri" panose="020F0502020204030204" pitchFamily="34" charset="0"/>
                        </a:rPr>
                        <a:t>avg_total</a:t>
                      </a:r>
                      <a:endParaRPr lang="en-IN" sz="1100" b="1" i="0" u="none" strike="noStrike" dirty="0">
                        <a:solidFill>
                          <a:schemeClr val="tx1"/>
                        </a:solidFill>
                        <a:effectLst/>
                        <a:highlight>
                          <a:srgbClr val="262626"/>
                        </a:highligh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buNone/>
                      </a:pPr>
                      <a:r>
                        <a:rPr lang="en-IN" sz="1100" b="1" i="0" u="none" strike="noStrike" dirty="0">
                          <a:solidFill>
                            <a:schemeClr val="tx1"/>
                          </a:solidFill>
                          <a:effectLst/>
                          <a:highlight>
                            <a:srgbClr val="262626"/>
                          </a:highlight>
                          <a:latin typeface="Calibri" panose="020F0502020204030204" pitchFamily="34" charset="0"/>
                        </a:rPr>
                        <a:t>Sum of </a:t>
                      </a:r>
                      <a:r>
                        <a:rPr lang="en-IN" sz="1100" b="1" i="0" u="none" strike="noStrike" dirty="0" err="1">
                          <a:solidFill>
                            <a:schemeClr val="tx1"/>
                          </a:solidFill>
                          <a:effectLst/>
                          <a:highlight>
                            <a:srgbClr val="262626"/>
                          </a:highlight>
                          <a:latin typeface="Calibri" panose="020F0502020204030204" pitchFamily="34" charset="0"/>
                        </a:rPr>
                        <a:t>std_total</a:t>
                      </a:r>
                      <a:endParaRPr lang="en-IN" sz="1100" b="1" i="0" u="none" strike="noStrike" dirty="0">
                        <a:solidFill>
                          <a:schemeClr val="tx1"/>
                        </a:solidFill>
                        <a:effectLst/>
                        <a:highlight>
                          <a:srgbClr val="262626"/>
                        </a:highligh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797253562"/>
                  </a:ext>
                </a:extLst>
              </a:tr>
              <a:tr h="726233">
                <a:tc>
                  <a:txBody>
                    <a:bodyPr/>
                    <a:lstStyle/>
                    <a:p>
                      <a:pPr algn="l" fontAlgn="b">
                        <a:buNone/>
                      </a:pPr>
                      <a:r>
                        <a:rPr lang="en-IN" sz="1100" b="1" i="0" u="none" strike="noStrike">
                          <a:solidFill>
                            <a:schemeClr val="tx1"/>
                          </a:solidFill>
                          <a:effectLst/>
                          <a:latin typeface="Calibri" panose="020F0502020204030204" pitchFamily="34" charset="0"/>
                        </a:rPr>
                        <a:t>Electronic accessories</a:t>
                      </a:r>
                    </a:p>
                  </a:txBody>
                  <a:tcPr marL="7620" marR="7620" marT="762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en-IN" sz="1100" b="0" i="0" u="none" strike="noStrike">
                          <a:solidFill>
                            <a:schemeClr val="tx1"/>
                          </a:solidFill>
                          <a:effectLst/>
                          <a:latin typeface="Calibri" panose="020F0502020204030204" pitchFamily="34" charset="0"/>
                        </a:rPr>
                        <a:t>High Anomaly</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r" fontAlgn="b">
                        <a:buNone/>
                      </a:pPr>
                      <a:r>
                        <a:rPr lang="en-IN" sz="1100" b="0" i="0" u="none" strike="noStrike" dirty="0">
                          <a:solidFill>
                            <a:schemeClr val="tx1"/>
                          </a:solidFill>
                          <a:effectLst/>
                          <a:latin typeface="Calibri" panose="020F0502020204030204" pitchFamily="34" charset="0"/>
                        </a:rPr>
                        <a:t>7753.3365</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r" fontAlgn="b">
                        <a:buNone/>
                      </a:pPr>
                      <a:r>
                        <a:rPr lang="en-IN" sz="1100" b="0" i="0" u="none" strike="noStrike" dirty="0">
                          <a:solidFill>
                            <a:schemeClr val="tx1"/>
                          </a:solidFill>
                          <a:effectLst/>
                          <a:latin typeface="Calibri" panose="020F0502020204030204" pitchFamily="34" charset="0"/>
                        </a:rPr>
                        <a:t>2876.67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2206.98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extLst>
                  <a:ext uri="{0D108BD9-81ED-4DB2-BD59-A6C34878D82A}">
                    <a16:rowId xmlns:a16="http://schemas.microsoft.com/office/drawing/2014/main" val="62240952"/>
                  </a:ext>
                </a:extLst>
              </a:tr>
              <a:tr h="726233">
                <a:tc>
                  <a:txBody>
                    <a:bodyPr/>
                    <a:lstStyle/>
                    <a:p>
                      <a:pPr algn="l" fontAlgn="b">
                        <a:buNone/>
                      </a:pPr>
                      <a:r>
                        <a:rPr lang="en-IN" sz="1100" b="1" i="0" u="none" strike="noStrike">
                          <a:solidFill>
                            <a:schemeClr val="tx1"/>
                          </a:solidFill>
                          <a:effectLst/>
                          <a:latin typeface="Calibri" panose="020F0502020204030204" pitchFamily="34" charset="0"/>
                        </a:rPr>
                        <a:t>Fashion accessories</a:t>
                      </a:r>
                    </a:p>
                  </a:txBody>
                  <a:tcPr marL="7620" marR="7620" marT="762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en-IN" sz="1100" b="0" i="0" u="none" strike="noStrike">
                          <a:solidFill>
                            <a:schemeClr val="tx1"/>
                          </a:solidFill>
                          <a:effectLst/>
                          <a:latin typeface="Calibri" panose="020F0502020204030204" pitchFamily="34" charset="0"/>
                        </a:rPr>
                        <a:t>High Anomaly</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8230.908</a:t>
                      </a:r>
                    </a:p>
                  </a:txBody>
                  <a:tcPr marL="7620" marR="7620" marT="7620" marB="0" anchor="b">
                    <a:lnL>
                      <a:noFill/>
                    </a:lnL>
                    <a:lnR>
                      <a:noFill/>
                    </a:lnR>
                    <a:lnT>
                      <a:noFill/>
                    </a:lnT>
                    <a:lnB>
                      <a:noFill/>
                    </a:lnB>
                    <a:noFill/>
                  </a:tcPr>
                </a:tc>
                <a:tc>
                  <a:txBody>
                    <a:bodyPr/>
                    <a:lstStyle/>
                    <a:p>
                      <a:pPr algn="r" fontAlgn="b">
                        <a:buNone/>
                      </a:pPr>
                      <a:r>
                        <a:rPr lang="en-IN" sz="1100" b="0" i="0" u="none" strike="noStrike" dirty="0">
                          <a:solidFill>
                            <a:schemeClr val="tx1"/>
                          </a:solidFill>
                          <a:effectLst/>
                          <a:latin typeface="Calibri" panose="020F0502020204030204" pitchFamily="34" charset="0"/>
                        </a:rPr>
                        <a:t>2745.81</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2185.92</a:t>
                      </a:r>
                    </a:p>
                  </a:txBody>
                  <a:tcPr marL="7620" marR="7620" marT="7620" marB="0" anchor="b">
                    <a:lnL>
                      <a:noFill/>
                    </a:lnL>
                    <a:lnR>
                      <a:noFill/>
                    </a:lnR>
                    <a:lnT>
                      <a:noFill/>
                    </a:lnT>
                    <a:lnB>
                      <a:noFill/>
                    </a:lnB>
                    <a:noFill/>
                  </a:tcPr>
                </a:tc>
                <a:extLst>
                  <a:ext uri="{0D108BD9-81ED-4DB2-BD59-A6C34878D82A}">
                    <a16:rowId xmlns:a16="http://schemas.microsoft.com/office/drawing/2014/main" val="2693195219"/>
                  </a:ext>
                </a:extLst>
              </a:tr>
              <a:tr h="726233">
                <a:tc>
                  <a:txBody>
                    <a:bodyPr/>
                    <a:lstStyle/>
                    <a:p>
                      <a:pPr algn="l" fontAlgn="b">
                        <a:buNone/>
                      </a:pPr>
                      <a:r>
                        <a:rPr lang="en-IN" sz="1100" b="1" i="0" u="none" strike="noStrike">
                          <a:solidFill>
                            <a:schemeClr val="tx1"/>
                          </a:solidFill>
                          <a:effectLst/>
                          <a:latin typeface="Calibri" panose="020F0502020204030204" pitchFamily="34" charset="0"/>
                        </a:rPr>
                        <a:t>Food and beverages</a:t>
                      </a:r>
                    </a:p>
                  </a:txBody>
                  <a:tcPr marL="7620" marR="7620" marT="762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en-IN" sz="1100" b="0" i="0" u="none" strike="noStrike">
                          <a:solidFill>
                            <a:schemeClr val="tx1"/>
                          </a:solidFill>
                          <a:effectLst/>
                          <a:latin typeface="Calibri" panose="020F0502020204030204" pitchFamily="34" charset="0"/>
                        </a:rPr>
                        <a:t>High Anomaly</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10796.4255</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3872.04</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2957.4</a:t>
                      </a:r>
                    </a:p>
                  </a:txBody>
                  <a:tcPr marL="7620" marR="7620" marT="7620" marB="0" anchor="b">
                    <a:lnL>
                      <a:noFill/>
                    </a:lnL>
                    <a:lnR>
                      <a:noFill/>
                    </a:lnR>
                    <a:lnT>
                      <a:noFill/>
                    </a:lnT>
                    <a:lnB>
                      <a:noFill/>
                    </a:lnB>
                    <a:noFill/>
                  </a:tcPr>
                </a:tc>
                <a:extLst>
                  <a:ext uri="{0D108BD9-81ED-4DB2-BD59-A6C34878D82A}">
                    <a16:rowId xmlns:a16="http://schemas.microsoft.com/office/drawing/2014/main" val="3655362282"/>
                  </a:ext>
                </a:extLst>
              </a:tr>
              <a:tr h="726233">
                <a:tc>
                  <a:txBody>
                    <a:bodyPr/>
                    <a:lstStyle/>
                    <a:p>
                      <a:pPr algn="l" fontAlgn="b">
                        <a:buNone/>
                      </a:pPr>
                      <a:r>
                        <a:rPr lang="en-IN" sz="1100" b="1" i="0" u="none" strike="noStrike">
                          <a:solidFill>
                            <a:schemeClr val="tx1"/>
                          </a:solidFill>
                          <a:effectLst/>
                          <a:latin typeface="Calibri" panose="020F0502020204030204" pitchFamily="34" charset="0"/>
                        </a:rPr>
                        <a:t>Health and beauty</a:t>
                      </a:r>
                    </a:p>
                  </a:txBody>
                  <a:tcPr marL="7620" marR="7620" marT="762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en-IN" sz="1100" b="0" i="0" u="none" strike="noStrike">
                          <a:solidFill>
                            <a:schemeClr val="tx1"/>
                          </a:solidFill>
                          <a:effectLst/>
                          <a:latin typeface="Calibri" panose="020F0502020204030204" pitchFamily="34" charset="0"/>
                        </a:rPr>
                        <a:t>High Anomaly</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6240.528</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2265.48</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1657.32</a:t>
                      </a:r>
                    </a:p>
                  </a:txBody>
                  <a:tcPr marL="7620" marR="7620" marT="7620" marB="0" anchor="b">
                    <a:lnL>
                      <a:noFill/>
                    </a:lnL>
                    <a:lnR>
                      <a:noFill/>
                    </a:lnR>
                    <a:lnT>
                      <a:noFill/>
                    </a:lnT>
                    <a:lnB>
                      <a:noFill/>
                    </a:lnB>
                    <a:noFill/>
                  </a:tcPr>
                </a:tc>
                <a:extLst>
                  <a:ext uri="{0D108BD9-81ED-4DB2-BD59-A6C34878D82A}">
                    <a16:rowId xmlns:a16="http://schemas.microsoft.com/office/drawing/2014/main" val="550066210"/>
                  </a:ext>
                </a:extLst>
              </a:tr>
              <a:tr h="726233">
                <a:tc>
                  <a:txBody>
                    <a:bodyPr/>
                    <a:lstStyle/>
                    <a:p>
                      <a:pPr algn="l" fontAlgn="b">
                        <a:buNone/>
                      </a:pPr>
                      <a:r>
                        <a:rPr lang="en-IN" sz="1100" b="1" i="0" u="none" strike="noStrike">
                          <a:solidFill>
                            <a:schemeClr val="tx1"/>
                          </a:solidFill>
                          <a:effectLst/>
                          <a:latin typeface="Calibri" panose="020F0502020204030204" pitchFamily="34" charset="0"/>
                        </a:rPr>
                        <a:t>Home and lifestyle</a:t>
                      </a:r>
                    </a:p>
                  </a:txBody>
                  <a:tcPr marL="7620" marR="7620" marT="762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en-IN" sz="1100" b="0" i="0" u="none" strike="noStrike">
                          <a:solidFill>
                            <a:schemeClr val="tx1"/>
                          </a:solidFill>
                          <a:effectLst/>
                          <a:latin typeface="Calibri" panose="020F0502020204030204" pitchFamily="34" charset="0"/>
                        </a:rPr>
                        <a:t>High Anomaly</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5911.962</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2019.84</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1522.8</a:t>
                      </a:r>
                    </a:p>
                  </a:txBody>
                  <a:tcPr marL="7620" marR="7620" marT="7620" marB="0" anchor="b">
                    <a:lnL>
                      <a:noFill/>
                    </a:lnL>
                    <a:lnR>
                      <a:noFill/>
                    </a:lnR>
                    <a:lnT>
                      <a:noFill/>
                    </a:lnT>
                    <a:lnB>
                      <a:noFill/>
                    </a:lnB>
                    <a:noFill/>
                  </a:tcPr>
                </a:tc>
                <a:extLst>
                  <a:ext uri="{0D108BD9-81ED-4DB2-BD59-A6C34878D82A}">
                    <a16:rowId xmlns:a16="http://schemas.microsoft.com/office/drawing/2014/main" val="1435642896"/>
                  </a:ext>
                </a:extLst>
              </a:tr>
              <a:tr h="726233">
                <a:tc>
                  <a:txBody>
                    <a:bodyPr/>
                    <a:lstStyle/>
                    <a:p>
                      <a:pPr algn="l" fontAlgn="b">
                        <a:buNone/>
                      </a:pPr>
                      <a:r>
                        <a:rPr lang="en-IN" sz="1100" b="1" i="0" u="none" strike="noStrike">
                          <a:solidFill>
                            <a:schemeClr val="tx1"/>
                          </a:solidFill>
                          <a:effectLst/>
                          <a:latin typeface="Calibri" panose="020F0502020204030204" pitchFamily="34" charset="0"/>
                        </a:rPr>
                        <a:t>Sports and travel</a:t>
                      </a:r>
                    </a:p>
                  </a:txBody>
                  <a:tcPr marL="7620" marR="7620" marT="762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buNone/>
                      </a:pPr>
                      <a:r>
                        <a:rPr lang="en-IN" sz="1100" b="0" i="0" u="none" strike="noStrike">
                          <a:solidFill>
                            <a:schemeClr val="tx1"/>
                          </a:solidFill>
                          <a:effectLst/>
                          <a:latin typeface="Calibri" panose="020F0502020204030204" pitchFamily="34" charset="0"/>
                        </a:rPr>
                        <a:t>High Anomaly</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7385.196</a:t>
                      </a:r>
                    </a:p>
                  </a:txBody>
                  <a:tcPr marL="7620" marR="7620" marT="7620" marB="0" anchor="b">
                    <a:lnL>
                      <a:noFill/>
                    </a:lnL>
                    <a:lnR>
                      <a:noFill/>
                    </a:lnR>
                    <a:lnT>
                      <a:noFill/>
                    </a:lnT>
                    <a:lnB>
                      <a:noFill/>
                    </a:lnB>
                    <a:noFill/>
                  </a:tcPr>
                </a:tc>
                <a:tc>
                  <a:txBody>
                    <a:bodyPr/>
                    <a:lstStyle/>
                    <a:p>
                      <a:pPr algn="r" fontAlgn="b">
                        <a:buNone/>
                      </a:pPr>
                      <a:r>
                        <a:rPr lang="en-IN" sz="1100" b="0" i="0" u="none" strike="noStrike">
                          <a:solidFill>
                            <a:schemeClr val="tx1"/>
                          </a:solidFill>
                          <a:effectLst/>
                          <a:latin typeface="Calibri" panose="020F0502020204030204" pitchFamily="34" charset="0"/>
                        </a:rPr>
                        <a:t>2656.56</a:t>
                      </a:r>
                    </a:p>
                  </a:txBody>
                  <a:tcPr marL="7620" marR="7620" marT="7620" marB="0" anchor="b">
                    <a:lnL>
                      <a:noFill/>
                    </a:lnL>
                    <a:lnR>
                      <a:noFill/>
                    </a:lnR>
                    <a:lnT>
                      <a:noFill/>
                    </a:lnT>
                    <a:lnB>
                      <a:noFill/>
                    </a:lnB>
                    <a:noFill/>
                  </a:tcPr>
                </a:tc>
                <a:tc>
                  <a:txBody>
                    <a:bodyPr/>
                    <a:lstStyle/>
                    <a:p>
                      <a:pPr algn="r" fontAlgn="b">
                        <a:buNone/>
                      </a:pPr>
                      <a:r>
                        <a:rPr lang="en-IN" sz="1100" b="0" i="0" u="none" strike="noStrike" dirty="0">
                          <a:solidFill>
                            <a:schemeClr val="tx1"/>
                          </a:solidFill>
                          <a:effectLst/>
                          <a:latin typeface="Calibri" panose="020F0502020204030204" pitchFamily="34" charset="0"/>
                        </a:rPr>
                        <a:t>1981.04</a:t>
                      </a:r>
                    </a:p>
                  </a:txBody>
                  <a:tcPr marL="7620" marR="7620" marT="7620" marB="0" anchor="b">
                    <a:lnL>
                      <a:noFill/>
                    </a:lnL>
                    <a:lnR>
                      <a:noFill/>
                    </a:lnR>
                    <a:lnT>
                      <a:noFill/>
                    </a:lnT>
                    <a:lnB>
                      <a:noFill/>
                    </a:lnB>
                    <a:noFill/>
                  </a:tcPr>
                </a:tc>
                <a:extLst>
                  <a:ext uri="{0D108BD9-81ED-4DB2-BD59-A6C34878D82A}">
                    <a16:rowId xmlns:a16="http://schemas.microsoft.com/office/drawing/2014/main" val="52748298"/>
                  </a:ext>
                </a:extLst>
              </a:tr>
            </a:tbl>
          </a:graphicData>
        </a:graphic>
      </p:graphicFrame>
    </p:spTree>
    <p:extLst>
      <p:ext uri="{BB962C8B-B14F-4D97-AF65-F5344CB8AC3E}">
        <p14:creationId xmlns:p14="http://schemas.microsoft.com/office/powerpoint/2010/main" val="1701725701"/>
      </p:ext>
    </p:extLst>
  </p:cSld>
  <p:clrMapOvr>
    <a:masterClrMapping/>
  </p:clrMapOvr>
  <p:transition spd="slow" advTm="1673">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217DB1-0122-E692-B461-9270699C2652}"/>
              </a:ext>
            </a:extLst>
          </p:cNvPr>
          <p:cNvSpPr txBox="1"/>
          <p:nvPr/>
        </p:nvSpPr>
        <p:spPr>
          <a:xfrm>
            <a:off x="141514" y="278563"/>
            <a:ext cx="11212286" cy="646331"/>
          </a:xfrm>
          <a:prstGeom prst="rect">
            <a:avLst/>
          </a:prstGeom>
          <a:noFill/>
        </p:spPr>
        <p:txBody>
          <a:bodyPr wrap="square">
            <a:spAutoFit/>
          </a:bodyPr>
          <a:lstStyle/>
          <a:p>
            <a:r>
              <a:rPr lang="en-US" dirty="0">
                <a:latin typeface="Cambria Math" panose="02040503050406030204" pitchFamily="18" charset="0"/>
                <a:ea typeface="Cambria Math" panose="02040503050406030204" pitchFamily="18" charset="0"/>
              </a:rPr>
              <a:t>Task 5: Most Popular Payment Method by City </a:t>
            </a:r>
          </a:p>
          <a:p>
            <a:r>
              <a:rPr lang="en-US" dirty="0">
                <a:latin typeface="Cambria Math" panose="02040503050406030204" pitchFamily="18" charset="0"/>
                <a:ea typeface="Cambria Math" panose="02040503050406030204" pitchFamily="18" charset="0"/>
              </a:rPr>
              <a:t>Walmart needs to determine the most popular payment method in each city to tailor marketing strategies.</a:t>
            </a:r>
            <a:endParaRPr lang="en-IN"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EA970A2A-C9EC-0368-AD50-A4B29DBCE7B0}"/>
              </a:ext>
            </a:extLst>
          </p:cNvPr>
          <p:cNvSpPr txBox="1"/>
          <p:nvPr/>
        </p:nvSpPr>
        <p:spPr>
          <a:xfrm>
            <a:off x="141514" y="924894"/>
            <a:ext cx="4243673" cy="2862322"/>
          </a:xfrm>
          <a:prstGeom prst="rect">
            <a:avLst/>
          </a:prstGeom>
          <a:noFill/>
        </p:spPr>
        <p:txBody>
          <a:bodyPr wrap="square">
            <a:spAutoFit/>
          </a:bodyPr>
          <a:lstStyle/>
          <a:p>
            <a:r>
              <a:rPr lang="en-IN" u="sng" dirty="0">
                <a:latin typeface="Cambria Math" panose="02040503050406030204" pitchFamily="18" charset="0"/>
                <a:ea typeface="Cambria Math" panose="02040503050406030204" pitchFamily="18" charset="0"/>
              </a:rPr>
              <a:t>SQL Script </a:t>
            </a:r>
            <a:r>
              <a:rPr lang="en-IN" u="sng" dirty="0"/>
              <a:t>:-</a:t>
            </a:r>
          </a:p>
          <a:p>
            <a:r>
              <a:rPr lang="en-IN" dirty="0">
                <a:latin typeface="Cambria Math" panose="02040503050406030204" pitchFamily="18" charset="0"/>
                <a:ea typeface="Cambria Math" panose="02040503050406030204" pitchFamily="18" charset="0"/>
              </a:rPr>
              <a:t>use </a:t>
            </a:r>
            <a:r>
              <a:rPr lang="en-IN" dirty="0" err="1">
                <a:latin typeface="Cambria Math" panose="02040503050406030204" pitchFamily="18" charset="0"/>
                <a:ea typeface="Cambria Math" panose="02040503050406030204" pitchFamily="18" charset="0"/>
              </a:rPr>
              <a:t>walmartsales</a:t>
            </a:r>
            <a:r>
              <a:rPr lang="en-IN"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SELECT</a:t>
            </a:r>
          </a:p>
          <a:p>
            <a:r>
              <a:rPr lang="en-US" dirty="0">
                <a:latin typeface="Cambria Math" panose="02040503050406030204" pitchFamily="18" charset="0"/>
                <a:ea typeface="Cambria Math" panose="02040503050406030204" pitchFamily="18" charset="0"/>
              </a:rPr>
              <a:t> Branch,	</a:t>
            </a:r>
          </a:p>
          <a:p>
            <a:r>
              <a:rPr lang="en-US" dirty="0">
                <a:latin typeface="Cambria Math" panose="02040503050406030204" pitchFamily="18" charset="0"/>
                <a:ea typeface="Cambria Math" panose="02040503050406030204" pitchFamily="18" charset="0"/>
              </a:rPr>
              <a:t>City,     </a:t>
            </a:r>
          </a:p>
          <a:p>
            <a:r>
              <a:rPr lang="en-US" dirty="0">
                <a:latin typeface="Cambria Math" panose="02040503050406030204" pitchFamily="18" charset="0"/>
                <a:ea typeface="Cambria Math" panose="02040503050406030204" pitchFamily="18" charset="0"/>
              </a:rPr>
              <a:t> Payment,     </a:t>
            </a:r>
          </a:p>
          <a:p>
            <a:r>
              <a:rPr lang="en-US" dirty="0">
                <a:latin typeface="Cambria Math" panose="02040503050406030204" pitchFamily="18" charset="0"/>
                <a:ea typeface="Cambria Math" panose="02040503050406030204" pitchFamily="18" charset="0"/>
              </a:rPr>
              <a:t>COUNT(*) AS </a:t>
            </a:r>
            <a:r>
              <a:rPr lang="en-US" dirty="0" err="1">
                <a:latin typeface="Cambria Math" panose="02040503050406030204" pitchFamily="18" charset="0"/>
                <a:ea typeface="Cambria Math" panose="02040503050406030204" pitchFamily="18" charset="0"/>
              </a:rPr>
              <a:t>payment_count</a:t>
            </a:r>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FROM </a:t>
            </a:r>
            <a:r>
              <a:rPr lang="en-US" dirty="0" err="1">
                <a:latin typeface="Cambria Math" panose="02040503050406030204" pitchFamily="18" charset="0"/>
                <a:ea typeface="Cambria Math" panose="02040503050406030204" pitchFamily="18" charset="0"/>
              </a:rPr>
              <a:t>walmartsales</a:t>
            </a:r>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GROUP BY Branch, City, Payment</a:t>
            </a:r>
          </a:p>
          <a:p>
            <a:r>
              <a:rPr lang="en-US" dirty="0">
                <a:latin typeface="Cambria Math" panose="02040503050406030204" pitchFamily="18" charset="0"/>
                <a:ea typeface="Cambria Math" panose="02040503050406030204" pitchFamily="18" charset="0"/>
              </a:rPr>
              <a:t>ORDER BY Branch, </a:t>
            </a:r>
            <a:r>
              <a:rPr lang="en-US" dirty="0" err="1">
                <a:latin typeface="Cambria Math" panose="02040503050406030204" pitchFamily="18" charset="0"/>
                <a:ea typeface="Cambria Math" panose="02040503050406030204" pitchFamily="18" charset="0"/>
              </a:rPr>
              <a:t>payment_count</a:t>
            </a:r>
            <a:r>
              <a:rPr lang="en-US" dirty="0">
                <a:latin typeface="Cambria Math" panose="02040503050406030204" pitchFamily="18" charset="0"/>
                <a:ea typeface="Cambria Math" panose="02040503050406030204" pitchFamily="18" charset="0"/>
              </a:rPr>
              <a:t> DESC;</a:t>
            </a:r>
            <a:endParaRPr lang="en-IN" dirty="0">
              <a:latin typeface="Cambria Math" panose="02040503050406030204" pitchFamily="18" charset="0"/>
              <a:ea typeface="Cambria Math" panose="02040503050406030204" pitchFamily="18" charset="0"/>
            </a:endParaRPr>
          </a:p>
        </p:txBody>
      </p:sp>
      <p:graphicFrame>
        <p:nvGraphicFramePr>
          <p:cNvPr id="6" name="Chart 5">
            <a:extLst>
              <a:ext uri="{FF2B5EF4-FFF2-40B4-BE49-F238E27FC236}">
                <a16:creationId xmlns:a16="http://schemas.microsoft.com/office/drawing/2014/main" id="{84BFABF9-EBBE-87A2-EF0C-928E9EC92A01}"/>
              </a:ext>
            </a:extLst>
          </p:cNvPr>
          <p:cNvGraphicFramePr>
            <a:graphicFrameLocks/>
          </p:cNvGraphicFramePr>
          <p:nvPr>
            <p:extLst>
              <p:ext uri="{D42A27DB-BD31-4B8C-83A1-F6EECF244321}">
                <p14:modId xmlns:p14="http://schemas.microsoft.com/office/powerpoint/2010/main" val="1519868788"/>
              </p:ext>
            </p:extLst>
          </p:nvPr>
        </p:nvGraphicFramePr>
        <p:xfrm>
          <a:off x="6882581" y="1366514"/>
          <a:ext cx="5069932" cy="511048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61C25DAE-5CE7-FED5-DF38-E55D7B91938F}"/>
              </a:ext>
            </a:extLst>
          </p:cNvPr>
          <p:cNvGraphicFramePr>
            <a:graphicFrameLocks noGrp="1"/>
          </p:cNvGraphicFramePr>
          <p:nvPr>
            <p:extLst>
              <p:ext uri="{D42A27DB-BD31-4B8C-83A1-F6EECF244321}">
                <p14:modId xmlns:p14="http://schemas.microsoft.com/office/powerpoint/2010/main" val="2569410071"/>
              </p:ext>
            </p:extLst>
          </p:nvPr>
        </p:nvGraphicFramePr>
        <p:xfrm>
          <a:off x="239487" y="4310743"/>
          <a:ext cx="2877340" cy="2355530"/>
        </p:xfrm>
        <a:graphic>
          <a:graphicData uri="http://schemas.openxmlformats.org/drawingml/2006/table">
            <a:tbl>
              <a:tblPr/>
              <a:tblGrid>
                <a:gridCol w="630650">
                  <a:extLst>
                    <a:ext uri="{9D8B030D-6E8A-4147-A177-3AD203B41FA5}">
                      <a16:colId xmlns:a16="http://schemas.microsoft.com/office/drawing/2014/main" val="1746764716"/>
                    </a:ext>
                  </a:extLst>
                </a:gridCol>
                <a:gridCol w="630650">
                  <a:extLst>
                    <a:ext uri="{9D8B030D-6E8A-4147-A177-3AD203B41FA5}">
                      <a16:colId xmlns:a16="http://schemas.microsoft.com/office/drawing/2014/main" val="2139508742"/>
                    </a:ext>
                  </a:extLst>
                </a:gridCol>
                <a:gridCol w="630650">
                  <a:extLst>
                    <a:ext uri="{9D8B030D-6E8A-4147-A177-3AD203B41FA5}">
                      <a16:colId xmlns:a16="http://schemas.microsoft.com/office/drawing/2014/main" val="3603628460"/>
                    </a:ext>
                  </a:extLst>
                </a:gridCol>
                <a:gridCol w="985390">
                  <a:extLst>
                    <a:ext uri="{9D8B030D-6E8A-4147-A177-3AD203B41FA5}">
                      <a16:colId xmlns:a16="http://schemas.microsoft.com/office/drawing/2014/main" val="2918666643"/>
                    </a:ext>
                  </a:extLst>
                </a:gridCol>
              </a:tblGrid>
              <a:tr h="19527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Branch</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City</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Payment</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payment_count</a:t>
                      </a:r>
                    </a:p>
                  </a:txBody>
                  <a:tcPr marL="7620" marR="7620" marT="7620" marB="0" anchor="b">
                    <a:lnL>
                      <a:noFill/>
                    </a:lnL>
                    <a:lnR>
                      <a:noFill/>
                    </a:lnR>
                    <a:lnT>
                      <a:noFill/>
                    </a:lnT>
                    <a:lnB>
                      <a:noFill/>
                    </a:lnB>
                    <a:noFill/>
                  </a:tcPr>
                </a:tc>
                <a:extLst>
                  <a:ext uri="{0D108BD9-81ED-4DB2-BD59-A6C34878D82A}">
                    <a16:rowId xmlns:a16="http://schemas.microsoft.com/office/drawing/2014/main" val="159869986"/>
                  </a:ext>
                </a:extLst>
              </a:tr>
              <a:tr h="19527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A</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Yangon</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Ewallet</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126</a:t>
                      </a:r>
                    </a:p>
                  </a:txBody>
                  <a:tcPr marL="7620" marR="7620" marT="7620" marB="0" anchor="b">
                    <a:lnL>
                      <a:noFill/>
                    </a:lnL>
                    <a:lnR>
                      <a:noFill/>
                    </a:lnR>
                    <a:lnT>
                      <a:noFill/>
                    </a:lnT>
                    <a:lnB>
                      <a:noFill/>
                    </a:lnB>
                    <a:noFill/>
                  </a:tcPr>
                </a:tc>
                <a:extLst>
                  <a:ext uri="{0D108BD9-81ED-4DB2-BD59-A6C34878D82A}">
                    <a16:rowId xmlns:a16="http://schemas.microsoft.com/office/drawing/2014/main" val="958999256"/>
                  </a:ext>
                </a:extLst>
              </a:tr>
              <a:tr h="19527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A</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Yangon</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Cash</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110</a:t>
                      </a:r>
                    </a:p>
                  </a:txBody>
                  <a:tcPr marL="7620" marR="7620" marT="7620" marB="0" anchor="b">
                    <a:lnL>
                      <a:noFill/>
                    </a:lnL>
                    <a:lnR>
                      <a:noFill/>
                    </a:lnR>
                    <a:lnT>
                      <a:noFill/>
                    </a:lnT>
                    <a:lnB>
                      <a:noFill/>
                    </a:lnB>
                    <a:noFill/>
                  </a:tcPr>
                </a:tc>
                <a:extLst>
                  <a:ext uri="{0D108BD9-81ED-4DB2-BD59-A6C34878D82A}">
                    <a16:rowId xmlns:a16="http://schemas.microsoft.com/office/drawing/2014/main" val="2754286610"/>
                  </a:ext>
                </a:extLst>
              </a:tr>
              <a:tr h="27583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A</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Yangon</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Credit card</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104</a:t>
                      </a:r>
                    </a:p>
                  </a:txBody>
                  <a:tcPr marL="7620" marR="7620" marT="7620" marB="0" anchor="b">
                    <a:lnL>
                      <a:noFill/>
                    </a:lnL>
                    <a:lnR>
                      <a:noFill/>
                    </a:lnR>
                    <a:lnT>
                      <a:noFill/>
                    </a:lnT>
                    <a:lnB>
                      <a:noFill/>
                    </a:lnB>
                    <a:noFill/>
                  </a:tcPr>
                </a:tc>
                <a:extLst>
                  <a:ext uri="{0D108BD9-81ED-4DB2-BD59-A6C34878D82A}">
                    <a16:rowId xmlns:a16="http://schemas.microsoft.com/office/drawing/2014/main" val="2417549568"/>
                  </a:ext>
                </a:extLst>
              </a:tr>
              <a:tr h="19527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B</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Mandalay</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Ewallet</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113</a:t>
                      </a:r>
                    </a:p>
                  </a:txBody>
                  <a:tcPr marL="7620" marR="7620" marT="7620" marB="0" anchor="b">
                    <a:lnL>
                      <a:noFill/>
                    </a:lnL>
                    <a:lnR>
                      <a:noFill/>
                    </a:lnR>
                    <a:lnT>
                      <a:noFill/>
                    </a:lnT>
                    <a:lnB>
                      <a:noFill/>
                    </a:lnB>
                    <a:noFill/>
                  </a:tcPr>
                </a:tc>
                <a:extLst>
                  <a:ext uri="{0D108BD9-81ED-4DB2-BD59-A6C34878D82A}">
                    <a16:rowId xmlns:a16="http://schemas.microsoft.com/office/drawing/2014/main" val="2516888461"/>
                  </a:ext>
                </a:extLst>
              </a:tr>
              <a:tr h="19527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B</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Mandalay</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Cash</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110</a:t>
                      </a:r>
                    </a:p>
                  </a:txBody>
                  <a:tcPr marL="7620" marR="7620" marT="7620" marB="0" anchor="b">
                    <a:lnL>
                      <a:noFill/>
                    </a:lnL>
                    <a:lnR>
                      <a:noFill/>
                    </a:lnR>
                    <a:lnT>
                      <a:noFill/>
                    </a:lnT>
                    <a:lnB>
                      <a:noFill/>
                    </a:lnB>
                    <a:noFill/>
                  </a:tcPr>
                </a:tc>
                <a:extLst>
                  <a:ext uri="{0D108BD9-81ED-4DB2-BD59-A6C34878D82A}">
                    <a16:rowId xmlns:a16="http://schemas.microsoft.com/office/drawing/2014/main" val="3596623064"/>
                  </a:ext>
                </a:extLst>
              </a:tr>
              <a:tr h="27583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B</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Mandalay</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Credit card</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109</a:t>
                      </a:r>
                    </a:p>
                  </a:txBody>
                  <a:tcPr marL="7620" marR="7620" marT="7620" marB="0" anchor="b">
                    <a:lnL>
                      <a:noFill/>
                    </a:lnL>
                    <a:lnR>
                      <a:noFill/>
                    </a:lnR>
                    <a:lnT>
                      <a:noFill/>
                    </a:lnT>
                    <a:lnB>
                      <a:noFill/>
                    </a:lnB>
                    <a:noFill/>
                  </a:tcPr>
                </a:tc>
                <a:extLst>
                  <a:ext uri="{0D108BD9-81ED-4DB2-BD59-A6C34878D82A}">
                    <a16:rowId xmlns:a16="http://schemas.microsoft.com/office/drawing/2014/main" val="3915686482"/>
                  </a:ext>
                </a:extLst>
              </a:tr>
              <a:tr h="27583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Naypyitaw</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Cash</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124</a:t>
                      </a:r>
                    </a:p>
                  </a:txBody>
                  <a:tcPr marL="7620" marR="7620" marT="7620" marB="0" anchor="b">
                    <a:lnL>
                      <a:noFill/>
                    </a:lnL>
                    <a:lnR>
                      <a:noFill/>
                    </a:lnR>
                    <a:lnT>
                      <a:noFill/>
                    </a:lnT>
                    <a:lnB>
                      <a:noFill/>
                    </a:lnB>
                    <a:noFill/>
                  </a:tcPr>
                </a:tc>
                <a:extLst>
                  <a:ext uri="{0D108BD9-81ED-4DB2-BD59-A6C34878D82A}">
                    <a16:rowId xmlns:a16="http://schemas.microsoft.com/office/drawing/2014/main" val="1886378049"/>
                  </a:ext>
                </a:extLst>
              </a:tr>
              <a:tr h="27583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Naypyitaw</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Ewallet</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106</a:t>
                      </a:r>
                    </a:p>
                  </a:txBody>
                  <a:tcPr marL="7620" marR="7620" marT="7620" marB="0" anchor="b">
                    <a:lnL>
                      <a:noFill/>
                    </a:lnL>
                    <a:lnR>
                      <a:noFill/>
                    </a:lnR>
                    <a:lnT>
                      <a:noFill/>
                    </a:lnT>
                    <a:lnB>
                      <a:noFill/>
                    </a:lnB>
                    <a:noFill/>
                  </a:tcPr>
                </a:tc>
                <a:extLst>
                  <a:ext uri="{0D108BD9-81ED-4DB2-BD59-A6C34878D82A}">
                    <a16:rowId xmlns:a16="http://schemas.microsoft.com/office/drawing/2014/main" val="3200711313"/>
                  </a:ext>
                </a:extLst>
              </a:tr>
              <a:tr h="275833">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a:t>
                      </a:r>
                    </a:p>
                  </a:txBody>
                  <a:tcPr marL="7620" marR="7620" marT="7620" marB="0" anchor="b">
                    <a:lnL>
                      <a:noFill/>
                    </a:lnL>
                    <a:lnR>
                      <a:noFill/>
                    </a:lnR>
                    <a:lnT>
                      <a:noFill/>
                    </a:lnT>
                    <a:lnB>
                      <a:noFill/>
                    </a:lnB>
                    <a:noFill/>
                  </a:tcPr>
                </a:tc>
                <a:tc>
                  <a:txBody>
                    <a:bodyPr/>
                    <a:lstStyle/>
                    <a:p>
                      <a:pPr algn="ctr" fontAlgn="b">
                        <a:buNone/>
                      </a:pPr>
                      <a:r>
                        <a:rPr lang="en-IN" sz="800" b="0" i="0" u="none" strike="noStrike" dirty="0">
                          <a:solidFill>
                            <a:schemeClr val="tx1"/>
                          </a:solidFill>
                          <a:effectLst/>
                          <a:latin typeface="Cambria Math" panose="02040503050406030204" pitchFamily="18" charset="0"/>
                          <a:ea typeface="Cambria Math" panose="02040503050406030204" pitchFamily="18" charset="0"/>
                        </a:rPr>
                        <a:t>Naypyitaw</a:t>
                      </a:r>
                    </a:p>
                  </a:txBody>
                  <a:tcPr marL="7620" marR="7620" marT="7620" marB="0" anchor="b">
                    <a:lnL>
                      <a:noFill/>
                    </a:lnL>
                    <a:lnR>
                      <a:noFill/>
                    </a:lnR>
                    <a:lnT>
                      <a:noFill/>
                    </a:lnT>
                    <a:lnB>
                      <a:noFill/>
                    </a:lnB>
                    <a:noFill/>
                  </a:tcPr>
                </a:tc>
                <a:tc>
                  <a:txBody>
                    <a:bodyPr/>
                    <a:lstStyle/>
                    <a:p>
                      <a:pPr algn="ctr" fontAlgn="b">
                        <a:buNone/>
                      </a:pPr>
                      <a:r>
                        <a:rPr lang="en-IN" sz="800" b="0" i="0" u="none" strike="noStrike">
                          <a:solidFill>
                            <a:schemeClr val="tx1"/>
                          </a:solidFill>
                          <a:effectLst/>
                          <a:latin typeface="Cambria Math" panose="02040503050406030204" pitchFamily="18" charset="0"/>
                          <a:ea typeface="Cambria Math" panose="02040503050406030204" pitchFamily="18" charset="0"/>
                        </a:rPr>
                        <a:t>Credit card</a:t>
                      </a:r>
                    </a:p>
                  </a:txBody>
                  <a:tcPr marL="7620" marR="7620" marT="7620" marB="0" anchor="b">
                    <a:lnL>
                      <a:noFill/>
                    </a:lnL>
                    <a:lnR>
                      <a:noFill/>
                    </a:lnR>
                    <a:lnT>
                      <a:noFill/>
                    </a:lnT>
                    <a:lnB>
                      <a:noFill/>
                    </a:lnB>
                    <a:noFill/>
                  </a:tcPr>
                </a:tc>
                <a:tc>
                  <a:txBody>
                    <a:bodyPr/>
                    <a:lstStyle/>
                    <a:p>
                      <a:pPr algn="ctr" fontAlgn="b">
                        <a:buNone/>
                      </a:pPr>
                      <a:r>
                        <a:rPr lang="en-IN" sz="800" b="0" i="0" u="none" strike="noStrike" dirty="0">
                          <a:solidFill>
                            <a:schemeClr val="tx1"/>
                          </a:solidFill>
                          <a:effectLst/>
                          <a:latin typeface="Cambria Math" panose="02040503050406030204" pitchFamily="18" charset="0"/>
                          <a:ea typeface="Cambria Math" panose="02040503050406030204" pitchFamily="18" charset="0"/>
                        </a:rPr>
                        <a:t>98</a:t>
                      </a:r>
                    </a:p>
                  </a:txBody>
                  <a:tcPr marL="7620" marR="7620" marT="7620" marB="0" anchor="b">
                    <a:lnL>
                      <a:noFill/>
                    </a:lnL>
                    <a:lnR>
                      <a:noFill/>
                    </a:lnR>
                    <a:lnT>
                      <a:noFill/>
                    </a:lnT>
                    <a:lnB>
                      <a:noFill/>
                    </a:lnB>
                    <a:noFill/>
                  </a:tcPr>
                </a:tc>
                <a:extLst>
                  <a:ext uri="{0D108BD9-81ED-4DB2-BD59-A6C34878D82A}">
                    <a16:rowId xmlns:a16="http://schemas.microsoft.com/office/drawing/2014/main" val="467800773"/>
                  </a:ext>
                </a:extLst>
              </a:tr>
            </a:tbl>
          </a:graphicData>
        </a:graphic>
      </p:graphicFrame>
      <p:sp>
        <p:nvSpPr>
          <p:cNvPr id="8" name="TextBox 7">
            <a:extLst>
              <a:ext uri="{FF2B5EF4-FFF2-40B4-BE49-F238E27FC236}">
                <a16:creationId xmlns:a16="http://schemas.microsoft.com/office/drawing/2014/main" id="{DBE64E53-5B54-4CDD-08E5-66A10A5BB741}"/>
              </a:ext>
            </a:extLst>
          </p:cNvPr>
          <p:cNvSpPr txBox="1"/>
          <p:nvPr/>
        </p:nvSpPr>
        <p:spPr>
          <a:xfrm>
            <a:off x="239487" y="3941411"/>
            <a:ext cx="1197428" cy="369332"/>
          </a:xfrm>
          <a:prstGeom prst="rect">
            <a:avLst/>
          </a:prstGeom>
          <a:noFill/>
        </p:spPr>
        <p:txBody>
          <a:bodyPr wrap="square" rtlCol="0">
            <a:spAutoFit/>
          </a:bodyPr>
          <a:lstStyle/>
          <a:p>
            <a:r>
              <a:rPr lang="en-IN" u="sng" dirty="0">
                <a:latin typeface="Cambria Math" panose="02040503050406030204" pitchFamily="18" charset="0"/>
                <a:ea typeface="Cambria Math" panose="02040503050406030204" pitchFamily="18" charset="0"/>
              </a:rPr>
              <a:t>Output:-</a:t>
            </a:r>
          </a:p>
        </p:txBody>
      </p:sp>
      <p:sp>
        <p:nvSpPr>
          <p:cNvPr id="4" name="TextBox 3">
            <a:extLst>
              <a:ext uri="{FF2B5EF4-FFF2-40B4-BE49-F238E27FC236}">
                <a16:creationId xmlns:a16="http://schemas.microsoft.com/office/drawing/2014/main" id="{C5633E7C-45FB-3AC7-5636-64487145BF30}"/>
              </a:ext>
            </a:extLst>
          </p:cNvPr>
          <p:cNvSpPr txBox="1"/>
          <p:nvPr/>
        </p:nvSpPr>
        <p:spPr>
          <a:xfrm>
            <a:off x="2969343" y="1043519"/>
            <a:ext cx="3998918" cy="1323439"/>
          </a:xfrm>
          <a:prstGeom prst="rect">
            <a:avLst/>
          </a:prstGeom>
          <a:noFill/>
        </p:spPr>
        <p:txBody>
          <a:bodyPr wrap="square">
            <a:spAutoFit/>
          </a:bodyPr>
          <a:lstStyle/>
          <a:p>
            <a:r>
              <a:rPr lang="en-US" sz="1600" b="1" i="0" dirty="0">
                <a:solidFill>
                  <a:srgbClr val="FFFFFF"/>
                </a:solidFill>
                <a:effectLst/>
                <a:latin typeface="Cambria Math" panose="02040503050406030204" pitchFamily="18" charset="0"/>
                <a:ea typeface="Cambria Math" panose="02040503050406030204" pitchFamily="18" charset="0"/>
              </a:rPr>
              <a:t>Approach</a:t>
            </a:r>
            <a:r>
              <a:rPr lang="en-US" sz="1600" b="0" i="0" dirty="0">
                <a:solidFill>
                  <a:srgbClr val="FFFFFF"/>
                </a:solidFill>
                <a:effectLst/>
                <a:latin typeface="Cambria Math" panose="02040503050406030204" pitchFamily="18" charset="0"/>
                <a:ea typeface="Cambria Math" panose="02040503050406030204" pitchFamily="18" charset="0"/>
              </a:rPr>
              <a:t>:</a:t>
            </a:r>
          </a:p>
          <a:p>
            <a:endParaRPr lang="en-US" sz="1600" b="0" i="0" dirty="0">
              <a:solidFill>
                <a:srgbClr val="FFFFFF"/>
              </a:solidFill>
              <a:effectLst/>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sz="1600" b="0" i="0" dirty="0">
                <a:solidFill>
                  <a:srgbClr val="FFFFFF"/>
                </a:solidFill>
                <a:effectLst/>
                <a:latin typeface="Cambria Math" panose="02040503050406030204" pitchFamily="18" charset="0"/>
                <a:ea typeface="Cambria Math" panose="02040503050406030204" pitchFamily="18" charset="0"/>
              </a:rPr>
              <a:t> Group by  Branch, City, and Payment. </a:t>
            </a:r>
          </a:p>
          <a:p>
            <a:pPr marL="285750" indent="-285750">
              <a:buFont typeface="Arial" panose="020B0604020202020204" pitchFamily="34" charset="0"/>
              <a:buChar char="•"/>
            </a:pPr>
            <a:r>
              <a:rPr lang="en-US" sz="1600" b="0" i="0" dirty="0">
                <a:solidFill>
                  <a:srgbClr val="FFFFFF"/>
                </a:solidFill>
                <a:effectLst/>
                <a:latin typeface="Cambria Math" panose="02040503050406030204" pitchFamily="18" charset="0"/>
                <a:ea typeface="Cambria Math" panose="02040503050406030204" pitchFamily="18" charset="0"/>
              </a:rPr>
              <a:t>Count frequency and</a:t>
            </a:r>
            <a:r>
              <a:rPr lang="en-US" sz="1600" dirty="0">
                <a:solidFill>
                  <a:srgbClr val="FFFFFF"/>
                </a:solidFill>
                <a:latin typeface="Cambria Math" panose="02040503050406030204" pitchFamily="18" charset="0"/>
                <a:ea typeface="Cambria Math" panose="02040503050406030204" pitchFamily="18" charset="0"/>
              </a:rPr>
              <a:t> </a:t>
            </a:r>
            <a:r>
              <a:rPr lang="en-US" sz="1600" b="0" i="0" dirty="0">
                <a:solidFill>
                  <a:srgbClr val="FFFFFF"/>
                </a:solidFill>
                <a:effectLst/>
                <a:latin typeface="Cambria Math" panose="02040503050406030204" pitchFamily="18" charset="0"/>
                <a:ea typeface="Cambria Math" panose="02040503050406030204" pitchFamily="18" charset="0"/>
              </a:rPr>
              <a:t>find the top method using</a:t>
            </a:r>
            <a:r>
              <a:rPr lang="en-US" sz="1600" dirty="0">
                <a:solidFill>
                  <a:srgbClr val="FFFFFF"/>
                </a:solidFill>
                <a:latin typeface="Cambria Math" panose="02040503050406030204" pitchFamily="18" charset="0"/>
                <a:ea typeface="Cambria Math" panose="02040503050406030204" pitchFamily="18" charset="0"/>
              </a:rPr>
              <a:t> </a:t>
            </a:r>
            <a:r>
              <a:rPr lang="en-US" sz="1600" b="0" i="0" dirty="0">
                <a:solidFill>
                  <a:srgbClr val="FFFFFF"/>
                </a:solidFill>
                <a:effectLst/>
                <a:latin typeface="Cambria Math" panose="02040503050406030204" pitchFamily="18" charset="0"/>
                <a:ea typeface="Cambria Math" panose="02040503050406030204" pitchFamily="18" charset="0"/>
              </a:rPr>
              <a:t>MAX(COUNT(*)).</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56089933"/>
      </p:ext>
    </p:extLst>
  </p:cSld>
  <p:clrMapOvr>
    <a:masterClrMapping/>
  </p:clrMapOvr>
  <p:transition spd="slow" advTm="1423">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6CEC07-1257-26D7-E600-93D3C0520835}"/>
              </a:ext>
            </a:extLst>
          </p:cNvPr>
          <p:cNvSpPr txBox="1"/>
          <p:nvPr/>
        </p:nvSpPr>
        <p:spPr>
          <a:xfrm>
            <a:off x="119743" y="147935"/>
            <a:ext cx="10951028" cy="646331"/>
          </a:xfrm>
          <a:prstGeom prst="rect">
            <a:avLst/>
          </a:prstGeom>
          <a:noFill/>
        </p:spPr>
        <p:txBody>
          <a:bodyPr wrap="square">
            <a:spAutoFit/>
          </a:bodyPr>
          <a:lstStyle/>
          <a:p>
            <a:r>
              <a:rPr lang="en-US" dirty="0">
                <a:latin typeface="Cambria Math" panose="02040503050406030204" pitchFamily="18" charset="0"/>
                <a:ea typeface="Cambria Math" panose="02040503050406030204" pitchFamily="18" charset="0"/>
              </a:rPr>
              <a:t>Task 6: Monthly Sales Distribution by Gender </a:t>
            </a:r>
          </a:p>
          <a:p>
            <a:r>
              <a:rPr lang="en-US" dirty="0">
                <a:latin typeface="Cambria Math" panose="02040503050406030204" pitchFamily="18" charset="0"/>
                <a:ea typeface="Cambria Math" panose="02040503050406030204" pitchFamily="18" charset="0"/>
              </a:rPr>
              <a:t> Walmart wants to understand the sales distribution between male and female customers on a monthly basis. </a:t>
            </a:r>
            <a:endParaRPr lang="en-IN"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2B85D997-DBAA-8788-1A8B-1413D661B691}"/>
              </a:ext>
            </a:extLst>
          </p:cNvPr>
          <p:cNvSpPr txBox="1"/>
          <p:nvPr/>
        </p:nvSpPr>
        <p:spPr>
          <a:xfrm>
            <a:off x="119743" y="1071104"/>
            <a:ext cx="3940980" cy="2585323"/>
          </a:xfrm>
          <a:prstGeom prst="rect">
            <a:avLst/>
          </a:prstGeom>
          <a:noFill/>
        </p:spPr>
        <p:txBody>
          <a:bodyPr wrap="square">
            <a:spAutoFit/>
          </a:bodyPr>
          <a:lstStyle/>
          <a:p>
            <a:r>
              <a:rPr lang="en-IN" dirty="0">
                <a:latin typeface="Cambria Math" panose="02040503050406030204" pitchFamily="18" charset="0"/>
                <a:ea typeface="Cambria Math" panose="02040503050406030204" pitchFamily="18" charset="0"/>
              </a:rPr>
              <a:t>SQL Script:-</a:t>
            </a:r>
          </a:p>
          <a:p>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SELECT  </a:t>
            </a:r>
          </a:p>
          <a:p>
            <a:r>
              <a:rPr lang="en-IN" dirty="0">
                <a:latin typeface="Cambria Math" panose="02040503050406030204" pitchFamily="18" charset="0"/>
                <a:ea typeface="Cambria Math" panose="02040503050406030204" pitchFamily="18" charset="0"/>
              </a:rPr>
              <a:t>    Date AS Month,  </a:t>
            </a:r>
          </a:p>
          <a:p>
            <a:r>
              <a:rPr lang="en-IN" dirty="0">
                <a:latin typeface="Cambria Math" panose="02040503050406030204" pitchFamily="18" charset="0"/>
                <a:ea typeface="Cambria Math" panose="02040503050406030204" pitchFamily="18" charset="0"/>
              </a:rPr>
              <a:t>  Gender,   </a:t>
            </a:r>
          </a:p>
          <a:p>
            <a:r>
              <a:rPr lang="en-IN" dirty="0">
                <a:latin typeface="Cambria Math" panose="02040503050406030204" pitchFamily="18" charset="0"/>
                <a:ea typeface="Cambria Math" panose="02040503050406030204" pitchFamily="18" charset="0"/>
              </a:rPr>
              <a:t> Round(SUM(Total),2) AS </a:t>
            </a:r>
            <a:r>
              <a:rPr lang="en-IN" dirty="0" err="1">
                <a:latin typeface="Cambria Math" panose="02040503050406030204" pitchFamily="18" charset="0"/>
                <a:ea typeface="Cambria Math" panose="02040503050406030204" pitchFamily="18" charset="0"/>
              </a:rPr>
              <a:t>TotalSales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FROM </a:t>
            </a:r>
            <a:r>
              <a:rPr lang="en-IN" dirty="0" err="1">
                <a:latin typeface="Cambria Math" panose="02040503050406030204" pitchFamily="18" charset="0"/>
                <a:ea typeface="Cambria Math" panose="02040503050406030204" pitchFamily="18" charset="0"/>
              </a:rPr>
              <a:t>walmartsales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GROUP BY Month, Gender</a:t>
            </a:r>
          </a:p>
          <a:p>
            <a:r>
              <a:rPr lang="en-IN" dirty="0">
                <a:latin typeface="Cambria Math" panose="02040503050406030204" pitchFamily="18" charset="0"/>
                <a:ea typeface="Cambria Math" panose="02040503050406030204" pitchFamily="18" charset="0"/>
              </a:rPr>
              <a:t>ORDER BY Month;</a:t>
            </a:r>
          </a:p>
        </p:txBody>
      </p:sp>
      <p:graphicFrame>
        <p:nvGraphicFramePr>
          <p:cNvPr id="6" name="Chart 5">
            <a:extLst>
              <a:ext uri="{FF2B5EF4-FFF2-40B4-BE49-F238E27FC236}">
                <a16:creationId xmlns:a16="http://schemas.microsoft.com/office/drawing/2014/main" id="{A9FC1ADE-84D5-036E-673B-9C2EE3492A77}"/>
              </a:ext>
            </a:extLst>
          </p:cNvPr>
          <p:cNvGraphicFramePr>
            <a:graphicFrameLocks/>
          </p:cNvGraphicFramePr>
          <p:nvPr>
            <p:extLst>
              <p:ext uri="{D42A27DB-BD31-4B8C-83A1-F6EECF244321}">
                <p14:modId xmlns:p14="http://schemas.microsoft.com/office/powerpoint/2010/main" val="420015305"/>
              </p:ext>
            </p:extLst>
          </p:nvPr>
        </p:nvGraphicFramePr>
        <p:xfrm>
          <a:off x="6553200" y="1426029"/>
          <a:ext cx="5170714" cy="52840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D4E5339A-280A-234F-FAAE-0604B8673AAF}"/>
              </a:ext>
            </a:extLst>
          </p:cNvPr>
          <p:cNvGraphicFramePr>
            <a:graphicFrameLocks noGrp="1"/>
          </p:cNvGraphicFramePr>
          <p:nvPr>
            <p:extLst>
              <p:ext uri="{D42A27DB-BD31-4B8C-83A1-F6EECF244321}">
                <p14:modId xmlns:p14="http://schemas.microsoft.com/office/powerpoint/2010/main" val="2834217271"/>
              </p:ext>
            </p:extLst>
          </p:nvPr>
        </p:nvGraphicFramePr>
        <p:xfrm>
          <a:off x="217714" y="4539343"/>
          <a:ext cx="2311173" cy="1996551"/>
        </p:xfrm>
        <a:graphic>
          <a:graphicData uri="http://schemas.openxmlformats.org/drawingml/2006/table">
            <a:tbl>
              <a:tblPr/>
              <a:tblGrid>
                <a:gridCol w="849696">
                  <a:extLst>
                    <a:ext uri="{9D8B030D-6E8A-4147-A177-3AD203B41FA5}">
                      <a16:colId xmlns:a16="http://schemas.microsoft.com/office/drawing/2014/main" val="1680227046"/>
                    </a:ext>
                  </a:extLst>
                </a:gridCol>
                <a:gridCol w="1461477">
                  <a:extLst>
                    <a:ext uri="{9D8B030D-6E8A-4147-A177-3AD203B41FA5}">
                      <a16:colId xmlns:a16="http://schemas.microsoft.com/office/drawing/2014/main" val="265831614"/>
                    </a:ext>
                  </a:extLst>
                </a:gridCol>
              </a:tblGrid>
              <a:tr h="665517">
                <a:tc>
                  <a:txBody>
                    <a:bodyPr/>
                    <a:lstStyle/>
                    <a:p>
                      <a:pPr algn="ctr" fontAlgn="b">
                        <a:buNone/>
                      </a:pPr>
                      <a:r>
                        <a:rPr lang="en-IN" sz="11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Gender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IN" sz="11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rPr>
                        <a:t>Sum of </a:t>
                      </a:r>
                      <a:r>
                        <a:rPr lang="en-IN" sz="1100" b="1" i="0" u="none" strike="noStrike" dirty="0" err="1">
                          <a:solidFill>
                            <a:schemeClr val="tx1"/>
                          </a:solidFill>
                          <a:effectLst/>
                          <a:highlight>
                            <a:srgbClr val="262626"/>
                          </a:highlight>
                          <a:latin typeface="Cambria Math" panose="02040503050406030204" pitchFamily="18" charset="0"/>
                          <a:ea typeface="Cambria Math" panose="02040503050406030204" pitchFamily="18" charset="0"/>
                        </a:rPr>
                        <a:t>TotalSales</a:t>
                      </a:r>
                      <a:endParaRPr lang="en-IN" sz="1100" b="1" i="0" u="none" strike="noStrike" dirty="0">
                        <a:solidFill>
                          <a:schemeClr val="tx1"/>
                        </a:solidFill>
                        <a:effectLst/>
                        <a:highlight>
                          <a:srgbClr val="262626"/>
                        </a:highlight>
                        <a:latin typeface="Cambria Math" panose="02040503050406030204" pitchFamily="18" charset="0"/>
                        <a:ea typeface="Cambria Math" panose="02040503050406030204" pitchFamily="18"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87418403"/>
                  </a:ext>
                </a:extLst>
              </a:tr>
              <a:tr h="665517">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Female</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ct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167882.94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extLst>
                  <a:ext uri="{0D108BD9-81ED-4DB2-BD59-A6C34878D82A}">
                    <a16:rowId xmlns:a16="http://schemas.microsoft.com/office/drawing/2014/main" val="3242537216"/>
                  </a:ext>
                </a:extLst>
              </a:tr>
              <a:tr h="665517">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Male</a:t>
                      </a:r>
                    </a:p>
                  </a:txBody>
                  <a:tcPr marL="7620" marR="7620" marT="7620" marB="0" anchor="b">
                    <a:lnL>
                      <a:noFill/>
                    </a:lnL>
                    <a:lnR>
                      <a:noFill/>
                    </a:lnR>
                    <a:lnT>
                      <a:noFill/>
                    </a:lnT>
                    <a:lnB>
                      <a:noFill/>
                    </a:lnB>
                    <a:noFill/>
                  </a:tcPr>
                </a:tc>
                <a:tc>
                  <a:txBody>
                    <a:bodyPr/>
                    <a:lstStyle/>
                    <a:p>
                      <a:pPr algn="ct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155083.8</a:t>
                      </a:r>
                    </a:p>
                  </a:txBody>
                  <a:tcPr marL="7620" marR="7620" marT="7620" marB="0" anchor="b">
                    <a:lnL>
                      <a:noFill/>
                    </a:lnL>
                    <a:lnR>
                      <a:noFill/>
                    </a:lnR>
                    <a:lnT>
                      <a:noFill/>
                    </a:lnT>
                    <a:lnB>
                      <a:noFill/>
                    </a:lnB>
                    <a:noFill/>
                  </a:tcPr>
                </a:tc>
                <a:extLst>
                  <a:ext uri="{0D108BD9-81ED-4DB2-BD59-A6C34878D82A}">
                    <a16:rowId xmlns:a16="http://schemas.microsoft.com/office/drawing/2014/main" val="4087809972"/>
                  </a:ext>
                </a:extLst>
              </a:tr>
            </a:tbl>
          </a:graphicData>
        </a:graphic>
      </p:graphicFrame>
      <p:sp>
        <p:nvSpPr>
          <p:cNvPr id="8" name="TextBox 7">
            <a:extLst>
              <a:ext uri="{FF2B5EF4-FFF2-40B4-BE49-F238E27FC236}">
                <a16:creationId xmlns:a16="http://schemas.microsoft.com/office/drawing/2014/main" id="{D9AB2F21-5D41-4167-AC9F-844C8EEFBB3C}"/>
              </a:ext>
            </a:extLst>
          </p:cNvPr>
          <p:cNvSpPr txBox="1"/>
          <p:nvPr/>
        </p:nvSpPr>
        <p:spPr>
          <a:xfrm>
            <a:off x="217714" y="4068047"/>
            <a:ext cx="1240972" cy="369332"/>
          </a:xfrm>
          <a:prstGeom prst="rect">
            <a:avLst/>
          </a:prstGeom>
          <a:noFill/>
        </p:spPr>
        <p:txBody>
          <a:bodyPr wrap="square" rtlCol="0">
            <a:spAutoFit/>
          </a:bodyPr>
          <a:lstStyle/>
          <a:p>
            <a:r>
              <a:rPr lang="en-IN" dirty="0"/>
              <a:t>Output:-</a:t>
            </a:r>
          </a:p>
        </p:txBody>
      </p:sp>
      <p:sp>
        <p:nvSpPr>
          <p:cNvPr id="4" name="TextBox 3">
            <a:extLst>
              <a:ext uri="{FF2B5EF4-FFF2-40B4-BE49-F238E27FC236}">
                <a16:creationId xmlns:a16="http://schemas.microsoft.com/office/drawing/2014/main" id="{40C60004-C59C-EE54-25AB-57AC30577AEF}"/>
              </a:ext>
            </a:extLst>
          </p:cNvPr>
          <p:cNvSpPr txBox="1"/>
          <p:nvPr/>
        </p:nvSpPr>
        <p:spPr>
          <a:xfrm>
            <a:off x="3036707" y="4460074"/>
            <a:ext cx="3362632" cy="1200329"/>
          </a:xfrm>
          <a:prstGeom prst="rect">
            <a:avLst/>
          </a:prstGeom>
          <a:noFill/>
        </p:spPr>
        <p:txBody>
          <a:bodyPr wrap="square">
            <a:spAutoFit/>
          </a:bodyPr>
          <a:lstStyle/>
          <a:p>
            <a:r>
              <a:rPr lang="en-US" b="1" i="0" dirty="0">
                <a:solidFill>
                  <a:srgbClr val="FFFFFF"/>
                </a:solidFill>
                <a:effectLst/>
                <a:latin typeface="Cambria Math" panose="02040503050406030204" pitchFamily="18" charset="0"/>
                <a:ea typeface="Cambria Math" panose="02040503050406030204" pitchFamily="18" charset="0"/>
              </a:rPr>
              <a:t>Approach</a:t>
            </a:r>
            <a:r>
              <a:rPr lang="en-US" b="0" i="0" dirty="0">
                <a:solidFill>
                  <a:srgbClr val="FFFFFF"/>
                </a:solidFill>
                <a:effectLst/>
                <a:latin typeface="Cambria Math" panose="02040503050406030204" pitchFamily="18" charset="0"/>
                <a:ea typeface="Cambria Math" panose="02040503050406030204" pitchFamily="18" charset="0"/>
              </a:rPr>
              <a:t>:</a:t>
            </a:r>
          </a:p>
          <a:p>
            <a:endParaRPr lang="en-US" b="0" i="0" dirty="0">
              <a:solidFill>
                <a:srgbClr val="FFFFFF"/>
              </a:solidFill>
              <a:effectLst/>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 Group by Gender and Month. </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Sum up total sales.</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427332685"/>
      </p:ext>
    </p:extLst>
  </p:cSld>
  <p:clrMapOvr>
    <a:masterClrMapping/>
  </p:clrMapOvr>
  <p:transition spd="slow" advTm="1391">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BDDE60-2B4F-BA85-5CFF-997DD8240D51}"/>
              </a:ext>
            </a:extLst>
          </p:cNvPr>
          <p:cNvSpPr txBox="1"/>
          <p:nvPr/>
        </p:nvSpPr>
        <p:spPr>
          <a:xfrm>
            <a:off x="76200" y="147936"/>
            <a:ext cx="11734800" cy="646331"/>
          </a:xfrm>
          <a:prstGeom prst="rect">
            <a:avLst/>
          </a:prstGeom>
          <a:noFill/>
        </p:spPr>
        <p:txBody>
          <a:bodyPr wrap="square">
            <a:spAutoFit/>
          </a:bodyPr>
          <a:lstStyle/>
          <a:p>
            <a:r>
              <a:rPr lang="en-US" dirty="0">
                <a:latin typeface="Cambria Math" panose="02040503050406030204" pitchFamily="18" charset="0"/>
                <a:ea typeface="Cambria Math" panose="02040503050406030204" pitchFamily="18" charset="0"/>
              </a:rPr>
              <a:t>Task 7: Best Product Line by Customer Type </a:t>
            </a:r>
          </a:p>
          <a:p>
            <a:r>
              <a:rPr lang="en-US" dirty="0">
                <a:latin typeface="Cambria Math" panose="02040503050406030204" pitchFamily="18" charset="0"/>
                <a:ea typeface="Cambria Math" panose="02040503050406030204" pitchFamily="18" charset="0"/>
              </a:rPr>
              <a:t> Walmart wants to know which product lines are preferred by different customer types(Member vs. Normal)</a:t>
            </a:r>
            <a:endParaRPr lang="en-IN"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704498FB-13B6-884A-2468-685CBA610B8E}"/>
              </a:ext>
            </a:extLst>
          </p:cNvPr>
          <p:cNvSpPr txBox="1"/>
          <p:nvPr/>
        </p:nvSpPr>
        <p:spPr>
          <a:xfrm>
            <a:off x="76200" y="1334478"/>
            <a:ext cx="4582886" cy="2031325"/>
          </a:xfrm>
          <a:prstGeom prst="rect">
            <a:avLst/>
          </a:prstGeom>
          <a:noFill/>
        </p:spPr>
        <p:txBody>
          <a:bodyPr wrap="square">
            <a:spAutoFit/>
          </a:bodyPr>
          <a:lstStyle/>
          <a:p>
            <a:r>
              <a:rPr lang="en-IN" dirty="0">
                <a:latin typeface="Cambria Math" panose="02040503050406030204" pitchFamily="18" charset="0"/>
                <a:ea typeface="Cambria Math" panose="02040503050406030204" pitchFamily="18" charset="0"/>
              </a:rPr>
              <a:t>SQL Script:-</a:t>
            </a:r>
          </a:p>
          <a:p>
            <a:r>
              <a:rPr lang="en-IN" dirty="0">
                <a:latin typeface="Cambria Math" panose="02040503050406030204" pitchFamily="18" charset="0"/>
                <a:ea typeface="Cambria Math" panose="02040503050406030204" pitchFamily="18" charset="0"/>
              </a:rPr>
              <a:t>Use </a:t>
            </a:r>
            <a:r>
              <a:rPr lang="en-IN" dirty="0" err="1">
                <a:latin typeface="Cambria Math" panose="02040503050406030204" pitchFamily="18" charset="0"/>
                <a:ea typeface="Cambria Math" panose="02040503050406030204" pitchFamily="18" charset="0"/>
              </a:rPr>
              <a:t>walmartsales</a:t>
            </a:r>
            <a:r>
              <a:rPr lang="en-IN" dirty="0">
                <a:latin typeface="Cambria Math" panose="02040503050406030204" pitchFamily="18" charset="0"/>
                <a:ea typeface="Cambria Math" panose="02040503050406030204" pitchFamily="18" charset="0"/>
              </a:rPr>
              <a:t>;</a:t>
            </a:r>
          </a:p>
          <a:p>
            <a:r>
              <a:rPr lang="en-IN" dirty="0">
                <a:latin typeface="Cambria Math" panose="02040503050406030204" pitchFamily="18" charset="0"/>
                <a:ea typeface="Cambria Math" panose="02040503050406030204" pitchFamily="18" charset="0"/>
              </a:rPr>
              <a:t>SELECT    </a:t>
            </a:r>
          </a:p>
          <a:p>
            <a:r>
              <a:rPr lang="en-IN" dirty="0">
                <a:latin typeface="Cambria Math" panose="02040503050406030204" pitchFamily="18" charset="0"/>
                <a:ea typeface="Cambria Math" panose="02040503050406030204" pitchFamily="18" charset="0"/>
              </a:rPr>
              <a:t> `Customer type`,    `Product line`</a:t>
            </a:r>
          </a:p>
          <a:p>
            <a:r>
              <a:rPr lang="en-IN" dirty="0">
                <a:latin typeface="Cambria Math" panose="02040503050406030204" pitchFamily="18" charset="0"/>
                <a:ea typeface="Cambria Math" panose="02040503050406030204" pitchFamily="18" charset="0"/>
              </a:rPr>
              <a:t>FROM </a:t>
            </a:r>
            <a:r>
              <a:rPr lang="en-IN" dirty="0" err="1">
                <a:latin typeface="Cambria Math" panose="02040503050406030204" pitchFamily="18" charset="0"/>
                <a:ea typeface="Cambria Math" panose="02040503050406030204" pitchFamily="18" charset="0"/>
              </a:rPr>
              <a:t>walmartsales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GROUP BY `Customer type`, `Product line`</a:t>
            </a:r>
          </a:p>
          <a:p>
            <a:r>
              <a:rPr lang="en-IN" dirty="0">
                <a:latin typeface="Cambria Math" panose="02040503050406030204" pitchFamily="18" charset="0"/>
                <a:ea typeface="Cambria Math" panose="02040503050406030204" pitchFamily="18" charset="0"/>
              </a:rPr>
              <a:t>ORDER BY `Customer type` DESC;</a:t>
            </a:r>
          </a:p>
        </p:txBody>
      </p:sp>
      <p:graphicFrame>
        <p:nvGraphicFramePr>
          <p:cNvPr id="6" name="Chart 5">
            <a:extLst>
              <a:ext uri="{FF2B5EF4-FFF2-40B4-BE49-F238E27FC236}">
                <a16:creationId xmlns:a16="http://schemas.microsoft.com/office/drawing/2014/main" id="{7B80757C-F104-9D39-34DF-7BA49F6E53B8}"/>
              </a:ext>
            </a:extLst>
          </p:cNvPr>
          <p:cNvGraphicFramePr>
            <a:graphicFrameLocks/>
          </p:cNvGraphicFramePr>
          <p:nvPr>
            <p:extLst>
              <p:ext uri="{D42A27DB-BD31-4B8C-83A1-F6EECF244321}">
                <p14:modId xmlns:p14="http://schemas.microsoft.com/office/powerpoint/2010/main" val="2864143776"/>
              </p:ext>
            </p:extLst>
          </p:nvPr>
        </p:nvGraphicFramePr>
        <p:xfrm>
          <a:off x="5486400" y="3217506"/>
          <a:ext cx="6558116" cy="34925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A29924F4-FC87-AB1D-6FC3-8D454D7BFE78}"/>
              </a:ext>
            </a:extLst>
          </p:cNvPr>
          <p:cNvGraphicFramePr>
            <a:graphicFrameLocks noGrp="1"/>
          </p:cNvGraphicFramePr>
          <p:nvPr>
            <p:extLst>
              <p:ext uri="{D42A27DB-BD31-4B8C-83A1-F6EECF244321}">
                <p14:modId xmlns:p14="http://schemas.microsoft.com/office/powerpoint/2010/main" val="1591882308"/>
              </p:ext>
            </p:extLst>
          </p:nvPr>
        </p:nvGraphicFramePr>
        <p:xfrm>
          <a:off x="468086" y="3629015"/>
          <a:ext cx="3799114" cy="2967731"/>
        </p:xfrm>
        <a:graphic>
          <a:graphicData uri="http://schemas.openxmlformats.org/drawingml/2006/table">
            <a:tbl>
              <a:tblPr/>
              <a:tblGrid>
                <a:gridCol w="1717685">
                  <a:extLst>
                    <a:ext uri="{9D8B030D-6E8A-4147-A177-3AD203B41FA5}">
                      <a16:colId xmlns:a16="http://schemas.microsoft.com/office/drawing/2014/main" val="3989089979"/>
                    </a:ext>
                  </a:extLst>
                </a:gridCol>
                <a:gridCol w="2081429">
                  <a:extLst>
                    <a:ext uri="{9D8B030D-6E8A-4147-A177-3AD203B41FA5}">
                      <a16:colId xmlns:a16="http://schemas.microsoft.com/office/drawing/2014/main" val="1498276021"/>
                    </a:ext>
                  </a:extLst>
                </a:gridCol>
              </a:tblGrid>
              <a:tr h="228287">
                <a:tc>
                  <a:txBody>
                    <a:bodyPr/>
                    <a:lstStyle/>
                    <a:p>
                      <a:pPr algn="ctr" fontAlgn="b">
                        <a:buNone/>
                      </a:pPr>
                      <a:r>
                        <a:rPr lang="en-IN" sz="1100" b="1" i="0" u="none" strike="noStrike" dirty="0">
                          <a:solidFill>
                            <a:schemeClr val="tx1"/>
                          </a:solidFill>
                          <a:effectLst/>
                          <a:highlight>
                            <a:srgbClr val="000000"/>
                          </a:highlight>
                          <a:latin typeface="Calibri" panose="020F0502020204030204" pitchFamily="34" charset="0"/>
                        </a:rPr>
                        <a:t>Customer type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IN" sz="1100" b="1" i="0" u="none" strike="noStrike" dirty="0">
                          <a:solidFill>
                            <a:schemeClr val="tx1"/>
                          </a:solidFill>
                          <a:effectLst/>
                          <a:highlight>
                            <a:srgbClr val="000000"/>
                          </a:highlight>
                          <a:latin typeface="Calibri" panose="020F0502020204030204" pitchFamily="34" charset="0"/>
                        </a:rPr>
                        <a:t>Product line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855542112"/>
                  </a:ext>
                </a:extLst>
              </a:tr>
              <a:tr h="228287">
                <a:tc>
                  <a:txBody>
                    <a:bodyPr/>
                    <a:lstStyle/>
                    <a:p>
                      <a:pPr algn="ctr" fontAlgn="b">
                        <a:buNone/>
                      </a:pPr>
                      <a:r>
                        <a:rPr lang="en-IN" sz="1100" b="1" i="0" u="none" strike="noStrike" dirty="0">
                          <a:solidFill>
                            <a:schemeClr val="tx1"/>
                          </a:solidFill>
                          <a:effectLst/>
                          <a:latin typeface="Calibri" panose="020F0502020204030204" pitchFamily="34" charset="0"/>
                        </a:rPr>
                        <a:t>Member</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Electronic accessories</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extLst>
                  <a:ext uri="{0D108BD9-81ED-4DB2-BD59-A6C34878D82A}">
                    <a16:rowId xmlns:a16="http://schemas.microsoft.com/office/drawing/2014/main" val="1532242481"/>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Member</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Fashion accessories</a:t>
                      </a:r>
                    </a:p>
                  </a:txBody>
                  <a:tcPr marL="7620" marR="7620" marT="7620" marB="0" anchor="b">
                    <a:lnL>
                      <a:noFill/>
                    </a:lnL>
                    <a:lnR>
                      <a:noFill/>
                    </a:lnR>
                    <a:lnT>
                      <a:noFill/>
                    </a:lnT>
                    <a:lnB>
                      <a:noFill/>
                    </a:lnB>
                    <a:noFill/>
                  </a:tcPr>
                </a:tc>
                <a:extLst>
                  <a:ext uri="{0D108BD9-81ED-4DB2-BD59-A6C34878D82A}">
                    <a16:rowId xmlns:a16="http://schemas.microsoft.com/office/drawing/2014/main" val="1103980584"/>
                  </a:ext>
                </a:extLst>
              </a:tr>
              <a:tr h="228287">
                <a:tc>
                  <a:txBody>
                    <a:bodyPr/>
                    <a:lstStyle/>
                    <a:p>
                      <a:pPr algn="ctr" fontAlgn="b">
                        <a:buNone/>
                      </a:pPr>
                      <a:r>
                        <a:rPr lang="en-IN" sz="1100" b="1" i="0" u="none" strike="noStrike" dirty="0">
                          <a:solidFill>
                            <a:schemeClr val="tx1"/>
                          </a:solidFill>
                          <a:effectLst/>
                          <a:latin typeface="Calibri" panose="020F0502020204030204" pitchFamily="34" charset="0"/>
                        </a:rPr>
                        <a:t>Member</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Food and beverages</a:t>
                      </a:r>
                    </a:p>
                  </a:txBody>
                  <a:tcPr marL="7620" marR="7620" marT="7620" marB="0" anchor="b">
                    <a:lnL>
                      <a:noFill/>
                    </a:lnL>
                    <a:lnR>
                      <a:noFill/>
                    </a:lnR>
                    <a:lnT>
                      <a:noFill/>
                    </a:lnT>
                    <a:lnB>
                      <a:noFill/>
                    </a:lnB>
                    <a:noFill/>
                  </a:tcPr>
                </a:tc>
                <a:extLst>
                  <a:ext uri="{0D108BD9-81ED-4DB2-BD59-A6C34878D82A}">
                    <a16:rowId xmlns:a16="http://schemas.microsoft.com/office/drawing/2014/main" val="4197119947"/>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Member</a:t>
                      </a:r>
                    </a:p>
                  </a:txBody>
                  <a:tcPr marL="7620" marR="7620" marT="7620" marB="0" anchor="b">
                    <a:lnL>
                      <a:noFill/>
                    </a:lnL>
                    <a:lnR>
                      <a:noFill/>
                    </a:lnR>
                    <a:lnT>
                      <a:noFill/>
                    </a:lnT>
                    <a:lnB>
                      <a:noFill/>
                    </a:lnB>
                    <a:noFill/>
                  </a:tcPr>
                </a:tc>
                <a:tc>
                  <a:txBody>
                    <a:bodyPr/>
                    <a:lstStyle/>
                    <a:p>
                      <a:pPr algn="ctr" fontAlgn="b">
                        <a:buNone/>
                      </a:pPr>
                      <a:r>
                        <a:rPr lang="en-IN" sz="1100" b="0" i="0" u="none" strike="noStrike" dirty="0">
                          <a:solidFill>
                            <a:schemeClr val="tx1"/>
                          </a:solidFill>
                          <a:effectLst/>
                          <a:latin typeface="Calibri" panose="020F0502020204030204" pitchFamily="34" charset="0"/>
                        </a:rPr>
                        <a:t>Health and beauty</a:t>
                      </a:r>
                    </a:p>
                  </a:txBody>
                  <a:tcPr marL="7620" marR="7620" marT="7620" marB="0" anchor="b">
                    <a:lnL>
                      <a:noFill/>
                    </a:lnL>
                    <a:lnR>
                      <a:noFill/>
                    </a:lnR>
                    <a:lnT>
                      <a:noFill/>
                    </a:lnT>
                    <a:lnB>
                      <a:noFill/>
                    </a:lnB>
                    <a:noFill/>
                  </a:tcPr>
                </a:tc>
                <a:extLst>
                  <a:ext uri="{0D108BD9-81ED-4DB2-BD59-A6C34878D82A}">
                    <a16:rowId xmlns:a16="http://schemas.microsoft.com/office/drawing/2014/main" val="2508512888"/>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Member</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Home and lifestyle</a:t>
                      </a:r>
                    </a:p>
                  </a:txBody>
                  <a:tcPr marL="7620" marR="7620" marT="7620" marB="0" anchor="b">
                    <a:lnL>
                      <a:noFill/>
                    </a:lnL>
                    <a:lnR>
                      <a:noFill/>
                    </a:lnR>
                    <a:lnT>
                      <a:noFill/>
                    </a:lnT>
                    <a:lnB>
                      <a:noFill/>
                    </a:lnB>
                    <a:noFill/>
                  </a:tcPr>
                </a:tc>
                <a:extLst>
                  <a:ext uri="{0D108BD9-81ED-4DB2-BD59-A6C34878D82A}">
                    <a16:rowId xmlns:a16="http://schemas.microsoft.com/office/drawing/2014/main" val="3140418280"/>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Member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noFill/>
                  </a:tcPr>
                </a:tc>
                <a:tc>
                  <a:txBody>
                    <a:bodyPr/>
                    <a:lstStyle/>
                    <a:p>
                      <a:pPr algn="ctr" fontAlgn="b">
                        <a:buNone/>
                      </a:pPr>
                      <a:r>
                        <a:rPr lang="en-IN" sz="1100" b="0" i="0" u="none" strike="noStrike">
                          <a:solidFill>
                            <a:schemeClr val="tx1"/>
                          </a:solidFill>
                          <a:effectLst/>
                          <a:latin typeface="Calibri" panose="020F0502020204030204" pitchFamily="34" charset="0"/>
                        </a:rPr>
                        <a:t>Sports and travel</a:t>
                      </a:r>
                    </a:p>
                  </a:txBody>
                  <a:tcPr marL="7620" marR="7620" marT="7620" marB="0" anchor="b">
                    <a:lnL>
                      <a:noFill/>
                    </a:lnL>
                    <a:lnR>
                      <a:noFill/>
                    </a:lnR>
                    <a:lnT>
                      <a:noFill/>
                    </a:lnT>
                    <a:lnB>
                      <a:noFill/>
                    </a:lnB>
                    <a:noFill/>
                  </a:tcPr>
                </a:tc>
                <a:extLst>
                  <a:ext uri="{0D108BD9-81ED-4DB2-BD59-A6C34878D82A}">
                    <a16:rowId xmlns:a16="http://schemas.microsoft.com/office/drawing/2014/main" val="1272345264"/>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Normal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Electronic accessories</a:t>
                      </a:r>
                    </a:p>
                  </a:txBody>
                  <a:tcPr marL="7620" marR="7620" marT="7620" marB="0" anchor="b">
                    <a:lnL>
                      <a:noFill/>
                    </a:lnL>
                    <a:lnR>
                      <a:noFill/>
                    </a:lnR>
                    <a:lnT>
                      <a:noFill/>
                    </a:lnT>
                    <a:lnB>
                      <a:noFill/>
                    </a:lnB>
                    <a:noFill/>
                  </a:tcPr>
                </a:tc>
                <a:extLst>
                  <a:ext uri="{0D108BD9-81ED-4DB2-BD59-A6C34878D82A}">
                    <a16:rowId xmlns:a16="http://schemas.microsoft.com/office/drawing/2014/main" val="3468832202"/>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Normal</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Fashion accessories</a:t>
                      </a:r>
                    </a:p>
                  </a:txBody>
                  <a:tcPr marL="7620" marR="7620" marT="7620" marB="0" anchor="b">
                    <a:lnL>
                      <a:noFill/>
                    </a:lnL>
                    <a:lnR>
                      <a:noFill/>
                    </a:lnR>
                    <a:lnT>
                      <a:noFill/>
                    </a:lnT>
                    <a:lnB>
                      <a:noFill/>
                    </a:lnB>
                    <a:noFill/>
                  </a:tcPr>
                </a:tc>
                <a:extLst>
                  <a:ext uri="{0D108BD9-81ED-4DB2-BD59-A6C34878D82A}">
                    <a16:rowId xmlns:a16="http://schemas.microsoft.com/office/drawing/2014/main" val="3097196116"/>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Normal</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Food and beverages</a:t>
                      </a:r>
                    </a:p>
                  </a:txBody>
                  <a:tcPr marL="7620" marR="7620" marT="7620" marB="0" anchor="b">
                    <a:lnL>
                      <a:noFill/>
                    </a:lnL>
                    <a:lnR>
                      <a:noFill/>
                    </a:lnR>
                    <a:lnT>
                      <a:noFill/>
                    </a:lnT>
                    <a:lnB>
                      <a:noFill/>
                    </a:lnB>
                    <a:noFill/>
                  </a:tcPr>
                </a:tc>
                <a:extLst>
                  <a:ext uri="{0D108BD9-81ED-4DB2-BD59-A6C34878D82A}">
                    <a16:rowId xmlns:a16="http://schemas.microsoft.com/office/drawing/2014/main" val="2539550738"/>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Normal</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Health and beauty</a:t>
                      </a:r>
                    </a:p>
                  </a:txBody>
                  <a:tcPr marL="7620" marR="7620" marT="7620" marB="0" anchor="b">
                    <a:lnL>
                      <a:noFill/>
                    </a:lnL>
                    <a:lnR>
                      <a:noFill/>
                    </a:lnR>
                    <a:lnT>
                      <a:noFill/>
                    </a:lnT>
                    <a:lnB>
                      <a:noFill/>
                    </a:lnB>
                    <a:noFill/>
                  </a:tcPr>
                </a:tc>
                <a:extLst>
                  <a:ext uri="{0D108BD9-81ED-4DB2-BD59-A6C34878D82A}">
                    <a16:rowId xmlns:a16="http://schemas.microsoft.com/office/drawing/2014/main" val="836852544"/>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Normal</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libri" panose="020F0502020204030204" pitchFamily="34" charset="0"/>
                        </a:rPr>
                        <a:t>Home and lifestyle</a:t>
                      </a:r>
                    </a:p>
                  </a:txBody>
                  <a:tcPr marL="7620" marR="7620" marT="7620" marB="0" anchor="b">
                    <a:lnL>
                      <a:noFill/>
                    </a:lnL>
                    <a:lnR>
                      <a:noFill/>
                    </a:lnR>
                    <a:lnT>
                      <a:noFill/>
                    </a:lnT>
                    <a:lnB>
                      <a:noFill/>
                    </a:lnB>
                    <a:noFill/>
                  </a:tcPr>
                </a:tc>
                <a:extLst>
                  <a:ext uri="{0D108BD9-81ED-4DB2-BD59-A6C34878D82A}">
                    <a16:rowId xmlns:a16="http://schemas.microsoft.com/office/drawing/2014/main" val="2582720221"/>
                  </a:ext>
                </a:extLst>
              </a:tr>
              <a:tr h="228287">
                <a:tc>
                  <a:txBody>
                    <a:bodyPr/>
                    <a:lstStyle/>
                    <a:p>
                      <a:pPr algn="ctr" fontAlgn="b">
                        <a:buNone/>
                      </a:pPr>
                      <a:r>
                        <a:rPr lang="en-IN" sz="1100" b="1" i="0" u="none" strike="noStrike">
                          <a:solidFill>
                            <a:schemeClr val="tx1"/>
                          </a:solidFill>
                          <a:effectLst/>
                          <a:latin typeface="Calibri" panose="020F0502020204030204" pitchFamily="34" charset="0"/>
                        </a:rPr>
                        <a:t>Normal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noFill/>
                  </a:tcPr>
                </a:tc>
                <a:tc>
                  <a:txBody>
                    <a:bodyPr/>
                    <a:lstStyle/>
                    <a:p>
                      <a:pPr algn="ctr" fontAlgn="b">
                        <a:buNone/>
                      </a:pPr>
                      <a:r>
                        <a:rPr lang="en-IN" sz="1100" b="0" i="0" u="none" strike="noStrike" dirty="0">
                          <a:solidFill>
                            <a:schemeClr val="tx1"/>
                          </a:solidFill>
                          <a:effectLst/>
                          <a:latin typeface="Calibri" panose="020F0502020204030204" pitchFamily="34" charset="0"/>
                        </a:rPr>
                        <a:t>Sports and travel</a:t>
                      </a:r>
                    </a:p>
                  </a:txBody>
                  <a:tcPr marL="7620" marR="7620" marT="7620" marB="0" anchor="b">
                    <a:lnL>
                      <a:noFill/>
                    </a:lnL>
                    <a:lnR>
                      <a:noFill/>
                    </a:lnR>
                    <a:lnT>
                      <a:noFill/>
                    </a:lnT>
                    <a:lnB>
                      <a:noFill/>
                    </a:lnB>
                    <a:noFill/>
                  </a:tcPr>
                </a:tc>
                <a:extLst>
                  <a:ext uri="{0D108BD9-81ED-4DB2-BD59-A6C34878D82A}">
                    <a16:rowId xmlns:a16="http://schemas.microsoft.com/office/drawing/2014/main" val="3992786877"/>
                  </a:ext>
                </a:extLst>
              </a:tr>
            </a:tbl>
          </a:graphicData>
        </a:graphic>
      </p:graphicFrame>
      <p:sp>
        <p:nvSpPr>
          <p:cNvPr id="4" name="TextBox 3">
            <a:extLst>
              <a:ext uri="{FF2B5EF4-FFF2-40B4-BE49-F238E27FC236}">
                <a16:creationId xmlns:a16="http://schemas.microsoft.com/office/drawing/2014/main" id="{5C5E09A0-0199-22C6-0A7B-F3B0B97F6B32}"/>
              </a:ext>
            </a:extLst>
          </p:cNvPr>
          <p:cNvSpPr txBox="1"/>
          <p:nvPr/>
        </p:nvSpPr>
        <p:spPr>
          <a:xfrm>
            <a:off x="4896464" y="1456474"/>
            <a:ext cx="6096000" cy="1200329"/>
          </a:xfrm>
          <a:prstGeom prst="rect">
            <a:avLst/>
          </a:prstGeom>
          <a:noFill/>
        </p:spPr>
        <p:txBody>
          <a:bodyPr wrap="square">
            <a:spAutoFit/>
          </a:bodyPr>
          <a:lstStyle/>
          <a:p>
            <a:r>
              <a:rPr lang="en-US" b="1" i="0" dirty="0">
                <a:solidFill>
                  <a:srgbClr val="FFFFFF"/>
                </a:solidFill>
                <a:effectLst/>
                <a:latin typeface="Cambria Math" panose="02040503050406030204" pitchFamily="18" charset="0"/>
                <a:ea typeface="Cambria Math" panose="02040503050406030204" pitchFamily="18" charset="0"/>
              </a:rPr>
              <a:t>Approach</a:t>
            </a:r>
            <a:r>
              <a:rPr lang="en-US" b="0" i="0" dirty="0">
                <a:solidFill>
                  <a:srgbClr val="FFFFFF"/>
                </a:solidFill>
                <a:effectLst/>
                <a:latin typeface="Cambria Math" panose="02040503050406030204" pitchFamily="18" charset="0"/>
                <a:ea typeface="Cambria Math" panose="02040503050406030204" pitchFamily="18" charset="0"/>
              </a:rPr>
              <a:t>:</a:t>
            </a:r>
          </a:p>
          <a:p>
            <a:endParaRPr lang="en-US" b="0" i="0" dirty="0">
              <a:solidFill>
                <a:srgbClr val="FFFFFF"/>
              </a:solidFill>
              <a:effectLst/>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Group by Customer Type and Product Line. </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Sum the total sales and rank them in descending order.</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039167295"/>
      </p:ext>
    </p:extLst>
  </p:cSld>
  <p:clrMapOvr>
    <a:masterClrMapping/>
  </p:clrMapOvr>
  <p:transition spd="slow" advTm="1498">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32DE81-1989-7552-6106-47D52571EA33}"/>
              </a:ext>
            </a:extLst>
          </p:cNvPr>
          <p:cNvSpPr txBox="1"/>
          <p:nvPr/>
        </p:nvSpPr>
        <p:spPr>
          <a:xfrm>
            <a:off x="163286" y="202364"/>
            <a:ext cx="11702143" cy="923330"/>
          </a:xfrm>
          <a:prstGeom prst="rect">
            <a:avLst/>
          </a:prstGeom>
          <a:noFill/>
        </p:spPr>
        <p:txBody>
          <a:bodyPr wrap="square">
            <a:spAutoFit/>
          </a:bodyPr>
          <a:lstStyle/>
          <a:p>
            <a:r>
              <a:rPr lang="en-US" dirty="0">
                <a:latin typeface="Cambria Math" panose="02040503050406030204" pitchFamily="18" charset="0"/>
                <a:ea typeface="Cambria Math" panose="02040503050406030204" pitchFamily="18" charset="0"/>
              </a:rPr>
              <a:t>Task 8: Identifying Repeat Customers </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 Walmart needs to identify customers who made repeat purchases within a specific time frame (e.g., within 30 days). </a:t>
            </a:r>
            <a:endParaRPr lang="en-IN"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F83FE549-ACD1-12E1-C417-5D295645250A}"/>
              </a:ext>
            </a:extLst>
          </p:cNvPr>
          <p:cNvSpPr txBox="1"/>
          <p:nvPr/>
        </p:nvSpPr>
        <p:spPr>
          <a:xfrm>
            <a:off x="163286" y="1411852"/>
            <a:ext cx="6738257" cy="4524315"/>
          </a:xfrm>
          <a:prstGeom prst="rect">
            <a:avLst/>
          </a:prstGeom>
          <a:noFill/>
        </p:spPr>
        <p:txBody>
          <a:bodyPr wrap="square">
            <a:spAutoFit/>
          </a:bodyPr>
          <a:lstStyle/>
          <a:p>
            <a:r>
              <a:rPr lang="en-IN" dirty="0">
                <a:latin typeface="Cambria Math" panose="02040503050406030204" pitchFamily="18" charset="0"/>
                <a:ea typeface="Cambria Math" panose="02040503050406030204" pitchFamily="18" charset="0"/>
              </a:rPr>
              <a:t>SQL Script:-</a:t>
            </a:r>
          </a:p>
          <a:p>
            <a:r>
              <a:rPr lang="en-IN" dirty="0">
                <a:latin typeface="Cambria Math" panose="02040503050406030204" pitchFamily="18" charset="0"/>
                <a:ea typeface="Cambria Math" panose="02040503050406030204" pitchFamily="18" charset="0"/>
              </a:rPr>
              <a:t>Use </a:t>
            </a:r>
            <a:r>
              <a:rPr lang="en-IN" dirty="0" err="1">
                <a:latin typeface="Cambria Math" panose="02040503050406030204" pitchFamily="18" charset="0"/>
                <a:ea typeface="Cambria Math" panose="02040503050406030204" pitchFamily="18" charset="0"/>
              </a:rPr>
              <a:t>walmartsales</a:t>
            </a:r>
            <a:r>
              <a:rPr lang="en-IN" dirty="0">
                <a:latin typeface="Cambria Math" panose="02040503050406030204" pitchFamily="18" charset="0"/>
                <a:ea typeface="Cambria Math" panose="02040503050406030204" pitchFamily="18" charset="0"/>
              </a:rPr>
              <a:t>;</a:t>
            </a:r>
          </a:p>
          <a:p>
            <a:r>
              <a:rPr lang="en-IN" dirty="0">
                <a:latin typeface="Cambria Math" panose="02040503050406030204" pitchFamily="18" charset="0"/>
                <a:ea typeface="Cambria Math" panose="02040503050406030204" pitchFamily="18" charset="0"/>
              </a:rPr>
              <a:t>WITH </a:t>
            </a:r>
            <a:r>
              <a:rPr lang="en-IN" dirty="0" err="1">
                <a:latin typeface="Cambria Math" panose="02040503050406030204" pitchFamily="18" charset="0"/>
                <a:ea typeface="Cambria Math" panose="02040503050406030204" pitchFamily="18" charset="0"/>
              </a:rPr>
              <a:t>RankedPurchases</a:t>
            </a:r>
            <a:r>
              <a:rPr lang="en-IN" dirty="0">
                <a:latin typeface="Cambria Math" panose="02040503050406030204" pitchFamily="18" charset="0"/>
                <a:ea typeface="Cambria Math" panose="02040503050406030204" pitchFamily="18" charset="0"/>
              </a:rPr>
              <a:t> AS</a:t>
            </a:r>
          </a:p>
          <a:p>
            <a:r>
              <a:rPr lang="en-IN" dirty="0">
                <a:latin typeface="Cambria Math" panose="02040503050406030204" pitchFamily="18" charset="0"/>
                <a:ea typeface="Cambria Math" panose="02040503050406030204" pitchFamily="18" charset="0"/>
              </a:rPr>
              <a:t> (  </a:t>
            </a:r>
          </a:p>
          <a:p>
            <a:r>
              <a:rPr lang="en-IN" dirty="0">
                <a:latin typeface="Cambria Math" panose="02040503050406030204" pitchFamily="18" charset="0"/>
                <a:ea typeface="Cambria Math" panose="02040503050406030204" pitchFamily="18" charset="0"/>
              </a:rPr>
              <a:t>  SELECT </a:t>
            </a:r>
          </a:p>
          <a:p>
            <a:r>
              <a:rPr lang="en-IN" dirty="0">
                <a:latin typeface="Cambria Math" panose="02040503050406030204" pitchFamily="18" charset="0"/>
                <a:ea typeface="Cambria Math" panose="02040503050406030204" pitchFamily="18" charset="0"/>
              </a:rPr>
              <a:t>        `Customer ID`,        Date,      </a:t>
            </a:r>
          </a:p>
          <a:p>
            <a:r>
              <a:rPr lang="en-IN" dirty="0">
                <a:latin typeface="Cambria Math" panose="02040503050406030204" pitchFamily="18" charset="0"/>
                <a:ea typeface="Cambria Math" panose="02040503050406030204" pitchFamily="18" charset="0"/>
              </a:rPr>
              <a:t>  LAG(Date) OVER (PARTITION BY `Customer ID` ORDER BY Date) </a:t>
            </a:r>
          </a:p>
          <a:p>
            <a:r>
              <a:rPr lang="en-IN" dirty="0">
                <a:latin typeface="Cambria Math" panose="02040503050406030204" pitchFamily="18" charset="0"/>
                <a:ea typeface="Cambria Math" panose="02040503050406030204" pitchFamily="18" charset="0"/>
              </a:rPr>
              <a:t>AS </a:t>
            </a:r>
            <a:r>
              <a:rPr lang="en-IN" dirty="0" err="1">
                <a:latin typeface="Cambria Math" panose="02040503050406030204" pitchFamily="18" charset="0"/>
                <a:ea typeface="Cambria Math" panose="02040503050406030204" pitchFamily="18" charset="0"/>
              </a:rPr>
              <a:t>PrevDate</a:t>
            </a:r>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FROM </a:t>
            </a:r>
            <a:r>
              <a:rPr lang="en-IN" dirty="0" err="1">
                <a:latin typeface="Cambria Math" panose="02040503050406030204" pitchFamily="18" charset="0"/>
                <a:ea typeface="Cambria Math" panose="02040503050406030204" pitchFamily="18" charset="0"/>
              </a:rPr>
              <a:t>walmartsales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a:t>
            </a:r>
          </a:p>
          <a:p>
            <a:r>
              <a:rPr lang="en-IN" dirty="0">
                <a:latin typeface="Cambria Math" panose="02040503050406030204" pitchFamily="18" charset="0"/>
                <a:ea typeface="Cambria Math" panose="02040503050406030204" pitchFamily="18" charset="0"/>
              </a:rPr>
              <a:t>SELECT   </a:t>
            </a:r>
          </a:p>
          <a:p>
            <a:r>
              <a:rPr lang="en-IN" dirty="0">
                <a:latin typeface="Cambria Math" panose="02040503050406030204" pitchFamily="18" charset="0"/>
                <a:ea typeface="Cambria Math" panose="02040503050406030204" pitchFamily="18" charset="0"/>
              </a:rPr>
              <a:t>  `Customer ID`,    Date AS </a:t>
            </a:r>
            <a:r>
              <a:rPr lang="en-IN" dirty="0" err="1">
                <a:latin typeface="Cambria Math" panose="02040503050406030204" pitchFamily="18" charset="0"/>
                <a:ea typeface="Cambria Math" panose="02040503050406030204" pitchFamily="18" charset="0"/>
              </a:rPr>
              <a:t>currentpurchase</a:t>
            </a:r>
            <a:r>
              <a:rPr lang="en-IN" dirty="0">
                <a:latin typeface="Cambria Math" panose="02040503050406030204" pitchFamily="18" charset="0"/>
                <a:ea typeface="Cambria Math" panose="02040503050406030204" pitchFamily="18" charset="0"/>
              </a:rPr>
              <a:t>,    </a:t>
            </a:r>
            <a:r>
              <a:rPr lang="en-IN" dirty="0" err="1">
                <a:latin typeface="Cambria Math" panose="02040503050406030204" pitchFamily="18" charset="0"/>
                <a:ea typeface="Cambria Math" panose="02040503050406030204" pitchFamily="18" charset="0"/>
              </a:rPr>
              <a:t>PrevDate</a:t>
            </a:r>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DATEDIFF(Date, </a:t>
            </a:r>
            <a:r>
              <a:rPr lang="en-IN" dirty="0" err="1">
                <a:latin typeface="Cambria Math" panose="02040503050406030204" pitchFamily="18" charset="0"/>
                <a:ea typeface="Cambria Math" panose="02040503050406030204" pitchFamily="18" charset="0"/>
              </a:rPr>
              <a:t>PrevDate</a:t>
            </a:r>
            <a:r>
              <a:rPr lang="en-IN" dirty="0">
                <a:latin typeface="Cambria Math" panose="02040503050406030204" pitchFamily="18" charset="0"/>
                <a:ea typeface="Cambria Math" panose="02040503050406030204" pitchFamily="18" charset="0"/>
              </a:rPr>
              <a:t>) AS </a:t>
            </a:r>
            <a:r>
              <a:rPr lang="en-IN" dirty="0" err="1">
                <a:latin typeface="Cambria Math" panose="02040503050406030204" pitchFamily="18" charset="0"/>
                <a:ea typeface="Cambria Math" panose="02040503050406030204" pitchFamily="18" charset="0"/>
              </a:rPr>
              <a:t>Daysbetween</a:t>
            </a:r>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FROM </a:t>
            </a:r>
            <a:r>
              <a:rPr lang="en-IN" dirty="0" err="1">
                <a:latin typeface="Cambria Math" panose="02040503050406030204" pitchFamily="18" charset="0"/>
                <a:ea typeface="Cambria Math" panose="02040503050406030204" pitchFamily="18" charset="0"/>
              </a:rPr>
              <a:t>RankedPurchases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WHERE</a:t>
            </a:r>
          </a:p>
          <a:p>
            <a:r>
              <a:rPr lang="en-IN" dirty="0">
                <a:latin typeface="Cambria Math" panose="02040503050406030204" pitchFamily="18" charset="0"/>
                <a:ea typeface="Cambria Math" panose="02040503050406030204" pitchFamily="18" charset="0"/>
              </a:rPr>
              <a:t> </a:t>
            </a:r>
            <a:r>
              <a:rPr lang="en-IN" dirty="0" err="1">
                <a:latin typeface="Cambria Math" panose="02040503050406030204" pitchFamily="18" charset="0"/>
                <a:ea typeface="Cambria Math" panose="02040503050406030204" pitchFamily="18" charset="0"/>
              </a:rPr>
              <a:t>PrevDate</a:t>
            </a:r>
            <a:r>
              <a:rPr lang="en-IN" dirty="0">
                <a:latin typeface="Cambria Math" panose="02040503050406030204" pitchFamily="18" charset="0"/>
                <a:ea typeface="Cambria Math" panose="02040503050406030204" pitchFamily="18" charset="0"/>
              </a:rPr>
              <a:t> is not null and </a:t>
            </a:r>
            <a:r>
              <a:rPr lang="en-IN" dirty="0" err="1">
                <a:latin typeface="Cambria Math" panose="02040503050406030204" pitchFamily="18" charset="0"/>
                <a:ea typeface="Cambria Math" panose="02040503050406030204" pitchFamily="18" charset="0"/>
              </a:rPr>
              <a:t>datediff</a:t>
            </a:r>
            <a:r>
              <a:rPr lang="en-IN" dirty="0">
                <a:latin typeface="Cambria Math" panose="02040503050406030204" pitchFamily="18" charset="0"/>
                <a:ea typeface="Cambria Math" panose="02040503050406030204" pitchFamily="18" charset="0"/>
              </a:rPr>
              <a:t>( date, </a:t>
            </a:r>
            <a:r>
              <a:rPr lang="en-IN" dirty="0" err="1">
                <a:latin typeface="Cambria Math" panose="02040503050406030204" pitchFamily="18" charset="0"/>
                <a:ea typeface="Cambria Math" panose="02040503050406030204" pitchFamily="18" charset="0"/>
              </a:rPr>
              <a:t>PrevDate</a:t>
            </a:r>
            <a:r>
              <a:rPr lang="en-IN" dirty="0">
                <a:latin typeface="Cambria Math" panose="02040503050406030204" pitchFamily="18" charset="0"/>
                <a:ea typeface="Cambria Math" panose="02040503050406030204" pitchFamily="18" charset="0"/>
              </a:rPr>
              <a:t>)&lt;=30;</a:t>
            </a:r>
          </a:p>
        </p:txBody>
      </p:sp>
      <mc:AlternateContent xmlns:mc="http://schemas.openxmlformats.org/markup-compatibility/2006" xmlns:cx1="http://schemas.microsoft.com/office/drawing/2015/9/8/chartex">
        <mc:Choice Requires="cx1">
          <p:graphicFrame>
            <p:nvGraphicFramePr>
              <p:cNvPr id="6" name="Chart 5">
                <a:extLst>
                  <a:ext uri="{FF2B5EF4-FFF2-40B4-BE49-F238E27FC236}">
                    <a16:creationId xmlns:a16="http://schemas.microsoft.com/office/drawing/2014/main" id="{6C72DCA9-3E70-6A4A-7D49-6EE91F8B0288}"/>
                  </a:ext>
                </a:extLst>
              </p:cNvPr>
              <p:cNvGraphicFramePr/>
              <p:nvPr>
                <p:extLst>
                  <p:ext uri="{D42A27DB-BD31-4B8C-83A1-F6EECF244321}">
                    <p14:modId xmlns:p14="http://schemas.microsoft.com/office/powerpoint/2010/main" val="2049620423"/>
                  </p:ext>
                </p:extLst>
              </p:nvPr>
            </p:nvGraphicFramePr>
            <p:xfrm>
              <a:off x="6999514" y="3146323"/>
              <a:ext cx="5192486" cy="3711677"/>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6" name="Chart 5">
                <a:extLst>
                  <a:ext uri="{FF2B5EF4-FFF2-40B4-BE49-F238E27FC236}">
                    <a16:creationId xmlns:a16="http://schemas.microsoft.com/office/drawing/2014/main" id="{6C72DCA9-3E70-6A4A-7D49-6EE91F8B0288}"/>
                  </a:ext>
                </a:extLst>
              </p:cNvPr>
              <p:cNvPicPr>
                <a:picLocks noGrp="1" noRot="1" noChangeAspect="1" noMove="1" noResize="1" noEditPoints="1" noAdjustHandles="1" noChangeArrowheads="1" noChangeShapeType="1"/>
              </p:cNvPicPr>
              <p:nvPr/>
            </p:nvPicPr>
            <p:blipFill>
              <a:blip r:embed="rId3"/>
              <a:stretch>
                <a:fillRect/>
              </a:stretch>
            </p:blipFill>
            <p:spPr>
              <a:xfrm>
                <a:off x="6999514" y="3146323"/>
                <a:ext cx="5192486" cy="3711677"/>
              </a:xfrm>
              <a:prstGeom prst="rect">
                <a:avLst/>
              </a:prstGeom>
            </p:spPr>
          </p:pic>
        </mc:Fallback>
      </mc:AlternateContent>
      <p:sp>
        <p:nvSpPr>
          <p:cNvPr id="4" name="TextBox 3">
            <a:extLst>
              <a:ext uri="{FF2B5EF4-FFF2-40B4-BE49-F238E27FC236}">
                <a16:creationId xmlns:a16="http://schemas.microsoft.com/office/drawing/2014/main" id="{0D3C9A65-3198-3509-F34E-297C1BD85E7F}"/>
              </a:ext>
            </a:extLst>
          </p:cNvPr>
          <p:cNvSpPr txBox="1"/>
          <p:nvPr/>
        </p:nvSpPr>
        <p:spPr>
          <a:xfrm>
            <a:off x="4916129" y="1411852"/>
            <a:ext cx="6843251" cy="1200329"/>
          </a:xfrm>
          <a:prstGeom prst="rect">
            <a:avLst/>
          </a:prstGeom>
          <a:noFill/>
        </p:spPr>
        <p:txBody>
          <a:bodyPr wrap="square">
            <a:spAutoFit/>
          </a:bodyPr>
          <a:lstStyle/>
          <a:p>
            <a:r>
              <a:rPr lang="en-US" b="1" i="0" dirty="0">
                <a:solidFill>
                  <a:srgbClr val="FFFFFF"/>
                </a:solidFill>
                <a:effectLst/>
                <a:latin typeface="Cambria Math" panose="02040503050406030204" pitchFamily="18" charset="0"/>
                <a:ea typeface="Cambria Math" panose="02040503050406030204" pitchFamily="18" charset="0"/>
              </a:rPr>
              <a:t>Approach</a:t>
            </a:r>
            <a:r>
              <a:rPr lang="en-US" b="0" i="0" dirty="0">
                <a:solidFill>
                  <a:srgbClr val="FFFFFF"/>
                </a:solidFill>
                <a:effectLst/>
                <a:latin typeface="Cambria Math" panose="02040503050406030204" pitchFamily="18" charset="0"/>
                <a:ea typeface="Cambria Math" panose="02040503050406030204" pitchFamily="18" charset="0"/>
              </a:rPr>
              <a:t>: </a:t>
            </a:r>
          </a:p>
          <a:p>
            <a:endParaRPr lang="en-US" b="0" i="0" dirty="0">
              <a:solidFill>
                <a:srgbClr val="FFFFFF"/>
              </a:solidFill>
              <a:effectLst/>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Use Customer ID and Date.</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Use LAG() to find repeat dates within 30-day range.</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40355503"/>
      </p:ext>
    </p:extLst>
  </p:cSld>
  <p:clrMapOvr>
    <a:masterClrMapping/>
  </p:clrMapOvr>
  <p:transition spd="slow" advTm="1267">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FCEC25-6647-3774-267D-6D7617D5C7D3}"/>
              </a:ext>
            </a:extLst>
          </p:cNvPr>
          <p:cNvSpPr txBox="1"/>
          <p:nvPr/>
        </p:nvSpPr>
        <p:spPr>
          <a:xfrm>
            <a:off x="163286" y="256792"/>
            <a:ext cx="10276114" cy="923330"/>
          </a:xfrm>
          <a:prstGeom prst="rect">
            <a:avLst/>
          </a:prstGeom>
          <a:noFill/>
        </p:spPr>
        <p:txBody>
          <a:bodyPr wrap="square">
            <a:spAutoFit/>
          </a:bodyPr>
          <a:lstStyle/>
          <a:p>
            <a:r>
              <a:rPr lang="en-US" dirty="0">
                <a:latin typeface="Cambria Math" panose="02040503050406030204" pitchFamily="18" charset="0"/>
                <a:ea typeface="Cambria Math" panose="02040503050406030204" pitchFamily="18" charset="0"/>
              </a:rPr>
              <a:t>Task 9: Finding Top 5 Customers by Sales Volume </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 Walmart wants to reward its top 5 customers who have generated the most sales Revenue</a:t>
            </a:r>
            <a:endParaRPr lang="en-IN"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C5B2C295-E868-5635-022F-4BE8C33C9239}"/>
              </a:ext>
            </a:extLst>
          </p:cNvPr>
          <p:cNvSpPr txBox="1"/>
          <p:nvPr/>
        </p:nvSpPr>
        <p:spPr>
          <a:xfrm>
            <a:off x="283029" y="1617507"/>
            <a:ext cx="4898571" cy="2308324"/>
          </a:xfrm>
          <a:prstGeom prst="rect">
            <a:avLst/>
          </a:prstGeom>
          <a:noFill/>
        </p:spPr>
        <p:txBody>
          <a:bodyPr wrap="square">
            <a:spAutoFit/>
          </a:bodyPr>
          <a:lstStyle/>
          <a:p>
            <a:r>
              <a:rPr lang="en-IN" dirty="0">
                <a:latin typeface="Cambria Math" panose="02040503050406030204" pitchFamily="18" charset="0"/>
                <a:ea typeface="Cambria Math" panose="02040503050406030204" pitchFamily="18" charset="0"/>
              </a:rPr>
              <a:t>SQL Script:-</a:t>
            </a:r>
          </a:p>
          <a:p>
            <a:r>
              <a:rPr lang="en-IN" dirty="0">
                <a:latin typeface="Cambria Math" panose="02040503050406030204" pitchFamily="18" charset="0"/>
                <a:ea typeface="Cambria Math" panose="02040503050406030204" pitchFamily="18" charset="0"/>
              </a:rPr>
              <a:t>SELECT  </a:t>
            </a:r>
          </a:p>
          <a:p>
            <a:r>
              <a:rPr lang="en-IN" dirty="0">
                <a:latin typeface="Cambria Math" panose="02040503050406030204" pitchFamily="18" charset="0"/>
                <a:ea typeface="Cambria Math" panose="02040503050406030204" pitchFamily="18" charset="0"/>
              </a:rPr>
              <a:t>   `Customer ID`,    </a:t>
            </a:r>
          </a:p>
          <a:p>
            <a:r>
              <a:rPr lang="en-IN" dirty="0">
                <a:latin typeface="Cambria Math" panose="02040503050406030204" pitchFamily="18" charset="0"/>
                <a:ea typeface="Cambria Math" panose="02040503050406030204" pitchFamily="18" charset="0"/>
              </a:rPr>
              <a:t>    round(SUM(Total),2) AS </a:t>
            </a:r>
            <a:r>
              <a:rPr lang="en-IN" dirty="0" err="1">
                <a:latin typeface="Cambria Math" panose="02040503050406030204" pitchFamily="18" charset="0"/>
                <a:ea typeface="Cambria Math" panose="02040503050406030204" pitchFamily="18" charset="0"/>
              </a:rPr>
              <a:t>TotalSales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FROM </a:t>
            </a:r>
            <a:r>
              <a:rPr lang="en-IN" dirty="0" err="1">
                <a:latin typeface="Cambria Math" panose="02040503050406030204" pitchFamily="18" charset="0"/>
                <a:ea typeface="Cambria Math" panose="02040503050406030204" pitchFamily="18" charset="0"/>
              </a:rPr>
              <a:t>walmartsales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    GROUP BY `Customer ID`</a:t>
            </a:r>
          </a:p>
          <a:p>
            <a:r>
              <a:rPr lang="en-IN" dirty="0">
                <a:latin typeface="Cambria Math" panose="02040503050406030204" pitchFamily="18" charset="0"/>
                <a:ea typeface="Cambria Math" panose="02040503050406030204" pitchFamily="18" charset="0"/>
              </a:rPr>
              <a:t>    ORDER BY </a:t>
            </a:r>
            <a:r>
              <a:rPr lang="en-IN" dirty="0" err="1">
                <a:latin typeface="Cambria Math" panose="02040503050406030204" pitchFamily="18" charset="0"/>
                <a:ea typeface="Cambria Math" panose="02040503050406030204" pitchFamily="18" charset="0"/>
              </a:rPr>
              <a:t>TotalSales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 DESCLIMIT 5;</a:t>
            </a:r>
          </a:p>
        </p:txBody>
      </p:sp>
      <p:graphicFrame>
        <p:nvGraphicFramePr>
          <p:cNvPr id="6" name="Chart 5">
            <a:extLst>
              <a:ext uri="{FF2B5EF4-FFF2-40B4-BE49-F238E27FC236}">
                <a16:creationId xmlns:a16="http://schemas.microsoft.com/office/drawing/2014/main" id="{DF49658D-DE5D-E0D2-7141-45B468CA2F17}"/>
              </a:ext>
            </a:extLst>
          </p:cNvPr>
          <p:cNvGraphicFramePr>
            <a:graphicFrameLocks/>
          </p:cNvGraphicFramePr>
          <p:nvPr>
            <p:extLst>
              <p:ext uri="{D42A27DB-BD31-4B8C-83A1-F6EECF244321}">
                <p14:modId xmlns:p14="http://schemas.microsoft.com/office/powerpoint/2010/main" val="3595985500"/>
              </p:ext>
            </p:extLst>
          </p:nvPr>
        </p:nvGraphicFramePr>
        <p:xfrm>
          <a:off x="6270171" y="3533112"/>
          <a:ext cx="5638800" cy="30680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F307821B-1E12-97E0-AD42-98A5DCBA3112}"/>
              </a:ext>
            </a:extLst>
          </p:cNvPr>
          <p:cNvGraphicFramePr>
            <a:graphicFrameLocks noGrp="1"/>
          </p:cNvGraphicFramePr>
          <p:nvPr>
            <p:extLst>
              <p:ext uri="{D42A27DB-BD31-4B8C-83A1-F6EECF244321}">
                <p14:modId xmlns:p14="http://schemas.microsoft.com/office/powerpoint/2010/main" val="2385895604"/>
              </p:ext>
            </p:extLst>
          </p:nvPr>
        </p:nvGraphicFramePr>
        <p:xfrm>
          <a:off x="634773" y="4147456"/>
          <a:ext cx="3458256" cy="2453748"/>
        </p:xfrm>
        <a:graphic>
          <a:graphicData uri="http://schemas.openxmlformats.org/drawingml/2006/table">
            <a:tbl>
              <a:tblPr/>
              <a:tblGrid>
                <a:gridCol w="2027253">
                  <a:extLst>
                    <a:ext uri="{9D8B030D-6E8A-4147-A177-3AD203B41FA5}">
                      <a16:colId xmlns:a16="http://schemas.microsoft.com/office/drawing/2014/main" val="3630760028"/>
                    </a:ext>
                  </a:extLst>
                </a:gridCol>
                <a:gridCol w="1431003">
                  <a:extLst>
                    <a:ext uri="{9D8B030D-6E8A-4147-A177-3AD203B41FA5}">
                      <a16:colId xmlns:a16="http://schemas.microsoft.com/office/drawing/2014/main" val="2134250448"/>
                    </a:ext>
                  </a:extLst>
                </a:gridCol>
              </a:tblGrid>
              <a:tr h="408958">
                <a:tc>
                  <a:txBody>
                    <a:bodyPr/>
                    <a:lstStyle/>
                    <a:p>
                      <a:pPr algn="ctr" fontAlgn="b">
                        <a:buNone/>
                      </a:pPr>
                      <a:r>
                        <a:rPr lang="en-IN" sz="1400" b="1" i="0" u="none" strike="noStrike" dirty="0">
                          <a:solidFill>
                            <a:schemeClr val="tx1"/>
                          </a:solidFill>
                          <a:effectLst/>
                          <a:latin typeface="Cambria Math" panose="02040503050406030204" pitchFamily="18" charset="0"/>
                          <a:ea typeface="Cambria Math" panose="02040503050406030204" pitchFamily="18" charset="0"/>
                        </a:rPr>
                        <a:t>Customer ID</a:t>
                      </a:r>
                    </a:p>
                  </a:txBody>
                  <a:tcPr marL="7620" marR="7620" marT="7620" marB="0" anchor="b">
                    <a:lnL>
                      <a:noFill/>
                    </a:lnL>
                    <a:lnR>
                      <a:noFill/>
                    </a:lnR>
                    <a:lnT>
                      <a:noFill/>
                    </a:lnT>
                    <a:lnB>
                      <a:noFill/>
                    </a:lnB>
                    <a:noFill/>
                  </a:tcPr>
                </a:tc>
                <a:tc>
                  <a:txBody>
                    <a:bodyPr/>
                    <a:lstStyle/>
                    <a:p>
                      <a:pPr algn="ctr" fontAlgn="b">
                        <a:buNone/>
                      </a:pPr>
                      <a:r>
                        <a:rPr lang="en-IN" sz="1400" b="1" i="0" u="none" strike="noStrike" dirty="0" err="1">
                          <a:solidFill>
                            <a:schemeClr val="tx1"/>
                          </a:solidFill>
                          <a:effectLst/>
                          <a:latin typeface="Cambria Math" panose="02040503050406030204" pitchFamily="18" charset="0"/>
                          <a:ea typeface="Cambria Math" panose="02040503050406030204" pitchFamily="18" charset="0"/>
                        </a:rPr>
                        <a:t>TotalSales</a:t>
                      </a:r>
                      <a:endParaRPr lang="en-IN" sz="1400" b="1" i="0" u="none" strike="noStrike" dirty="0">
                        <a:solidFill>
                          <a:schemeClr val="tx1"/>
                        </a:solidFill>
                        <a:effectLst/>
                        <a:latin typeface="Cambria Math" panose="02040503050406030204" pitchFamily="18" charset="0"/>
                        <a:ea typeface="Cambria Math" panose="02040503050406030204" pitchFamily="18"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88050278"/>
                  </a:ext>
                </a:extLst>
              </a:tr>
              <a:tr h="408958">
                <a:tc>
                  <a:txBody>
                    <a:bodyPr/>
                    <a:lstStyle/>
                    <a:p>
                      <a:pPr algn="ct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8</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26634.34</a:t>
                      </a:r>
                    </a:p>
                  </a:txBody>
                  <a:tcPr marL="7620" marR="7620" marT="7620" marB="0" anchor="b">
                    <a:lnL>
                      <a:noFill/>
                    </a:lnL>
                    <a:lnR>
                      <a:noFill/>
                    </a:lnR>
                    <a:lnT>
                      <a:noFill/>
                    </a:lnT>
                    <a:lnB>
                      <a:noFill/>
                    </a:lnB>
                    <a:noFill/>
                  </a:tcPr>
                </a:tc>
                <a:extLst>
                  <a:ext uri="{0D108BD9-81ED-4DB2-BD59-A6C34878D82A}">
                    <a16:rowId xmlns:a16="http://schemas.microsoft.com/office/drawing/2014/main" val="2201962996"/>
                  </a:ext>
                </a:extLst>
              </a:tr>
              <a:tr h="408958">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3</a:t>
                      </a:r>
                    </a:p>
                  </a:txBody>
                  <a:tcPr marL="7620" marR="7620" marT="7620" marB="0" anchor="b">
                    <a:lnL>
                      <a:noFill/>
                    </a:lnL>
                    <a:lnR>
                      <a:noFill/>
                    </a:lnR>
                    <a:lnT>
                      <a:noFill/>
                    </a:lnT>
                    <a:lnB>
                      <a:noFill/>
                    </a:lnB>
                    <a:noFill/>
                  </a:tcPr>
                </a:tc>
                <a:tc>
                  <a:txBody>
                    <a:bodyPr/>
                    <a:lstStyle/>
                    <a:p>
                      <a:pPr algn="ct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23402.26</a:t>
                      </a:r>
                    </a:p>
                  </a:txBody>
                  <a:tcPr marL="7620" marR="7620" marT="7620" marB="0" anchor="b">
                    <a:lnL>
                      <a:noFill/>
                    </a:lnL>
                    <a:lnR>
                      <a:noFill/>
                    </a:lnR>
                    <a:lnT>
                      <a:noFill/>
                    </a:lnT>
                    <a:lnB>
                      <a:noFill/>
                    </a:lnB>
                    <a:noFill/>
                  </a:tcPr>
                </a:tc>
                <a:extLst>
                  <a:ext uri="{0D108BD9-81ED-4DB2-BD59-A6C34878D82A}">
                    <a16:rowId xmlns:a16="http://schemas.microsoft.com/office/drawing/2014/main" val="1448894239"/>
                  </a:ext>
                </a:extLst>
              </a:tr>
              <a:tr h="408958">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2</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23392.28</a:t>
                      </a:r>
                    </a:p>
                  </a:txBody>
                  <a:tcPr marL="7620" marR="7620" marT="7620" marB="0" anchor="b">
                    <a:lnL>
                      <a:noFill/>
                    </a:lnL>
                    <a:lnR>
                      <a:noFill/>
                    </a:lnR>
                    <a:lnT>
                      <a:noFill/>
                    </a:lnT>
                    <a:lnB>
                      <a:noFill/>
                    </a:lnB>
                    <a:noFill/>
                  </a:tcPr>
                </a:tc>
                <a:extLst>
                  <a:ext uri="{0D108BD9-81ED-4DB2-BD59-A6C34878D82A}">
                    <a16:rowId xmlns:a16="http://schemas.microsoft.com/office/drawing/2014/main" val="3243180109"/>
                  </a:ext>
                </a:extLst>
              </a:tr>
              <a:tr h="408958">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15</a:t>
                      </a:r>
                    </a:p>
                  </a:txBody>
                  <a:tcPr marL="7620" marR="7620" marT="7620" marB="0" anchor="b">
                    <a:lnL>
                      <a:noFill/>
                    </a:lnL>
                    <a:lnR>
                      <a:noFill/>
                    </a:lnR>
                    <a:lnT>
                      <a:noFill/>
                    </a:lnT>
                    <a:lnB>
                      <a:noFill/>
                    </a:lnB>
                    <a:noFill/>
                  </a:tcPr>
                </a:tc>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22674.46</a:t>
                      </a:r>
                    </a:p>
                  </a:txBody>
                  <a:tcPr marL="7620" marR="7620" marT="7620" marB="0" anchor="b">
                    <a:lnL>
                      <a:noFill/>
                    </a:lnL>
                    <a:lnR>
                      <a:noFill/>
                    </a:lnR>
                    <a:lnT>
                      <a:noFill/>
                    </a:lnT>
                    <a:lnB>
                      <a:noFill/>
                    </a:lnB>
                    <a:noFill/>
                  </a:tcPr>
                </a:tc>
                <a:extLst>
                  <a:ext uri="{0D108BD9-81ED-4DB2-BD59-A6C34878D82A}">
                    <a16:rowId xmlns:a16="http://schemas.microsoft.com/office/drawing/2014/main" val="267737347"/>
                  </a:ext>
                </a:extLst>
              </a:tr>
              <a:tr h="408958">
                <a:tc>
                  <a:txBody>
                    <a:bodyPr/>
                    <a:lstStyle/>
                    <a:p>
                      <a:pPr algn="ctr" fontAlgn="b">
                        <a:buNone/>
                      </a:pPr>
                      <a:r>
                        <a:rPr lang="en-IN" sz="1100" b="0" i="0" u="none" strike="noStrike">
                          <a:solidFill>
                            <a:schemeClr val="tx1"/>
                          </a:solidFill>
                          <a:effectLst/>
                          <a:latin typeface="Cambria Math" panose="02040503050406030204" pitchFamily="18" charset="0"/>
                          <a:ea typeface="Cambria Math" panose="02040503050406030204" pitchFamily="18" charset="0"/>
                        </a:rPr>
                        <a:t>1</a:t>
                      </a:r>
                    </a:p>
                  </a:txBody>
                  <a:tcPr marL="7620" marR="7620" marT="7620" marB="0" anchor="b">
                    <a:lnL>
                      <a:noFill/>
                    </a:lnL>
                    <a:lnR>
                      <a:noFill/>
                    </a:lnR>
                    <a:lnT>
                      <a:noFill/>
                    </a:lnT>
                    <a:lnB>
                      <a:noFill/>
                    </a:lnB>
                    <a:noFill/>
                  </a:tcPr>
                </a:tc>
                <a:tc>
                  <a:txBody>
                    <a:bodyPr/>
                    <a:lstStyle/>
                    <a:p>
                      <a:pPr algn="ctr" fontAlgn="b">
                        <a:buNone/>
                      </a:pPr>
                      <a:r>
                        <a:rPr lang="en-IN" sz="1100" b="0" i="0" u="none" strike="noStrike" dirty="0">
                          <a:solidFill>
                            <a:schemeClr val="tx1"/>
                          </a:solidFill>
                          <a:effectLst/>
                          <a:latin typeface="Cambria Math" panose="02040503050406030204" pitchFamily="18" charset="0"/>
                          <a:ea typeface="Cambria Math" panose="02040503050406030204" pitchFamily="18" charset="0"/>
                        </a:rPr>
                        <a:t>22634.55</a:t>
                      </a:r>
                    </a:p>
                  </a:txBody>
                  <a:tcPr marL="7620" marR="7620" marT="7620" marB="0" anchor="b">
                    <a:lnL>
                      <a:noFill/>
                    </a:lnL>
                    <a:lnR>
                      <a:noFill/>
                    </a:lnR>
                    <a:lnT>
                      <a:noFill/>
                    </a:lnT>
                    <a:lnB>
                      <a:noFill/>
                    </a:lnB>
                    <a:noFill/>
                  </a:tcPr>
                </a:tc>
                <a:extLst>
                  <a:ext uri="{0D108BD9-81ED-4DB2-BD59-A6C34878D82A}">
                    <a16:rowId xmlns:a16="http://schemas.microsoft.com/office/drawing/2014/main" val="946045139"/>
                  </a:ext>
                </a:extLst>
              </a:tr>
            </a:tbl>
          </a:graphicData>
        </a:graphic>
      </p:graphicFrame>
      <p:sp>
        <p:nvSpPr>
          <p:cNvPr id="4" name="TextBox 3">
            <a:extLst>
              <a:ext uri="{FF2B5EF4-FFF2-40B4-BE49-F238E27FC236}">
                <a16:creationId xmlns:a16="http://schemas.microsoft.com/office/drawing/2014/main" id="{48D57358-47C3-2DD2-6E41-4342CC773F05}"/>
              </a:ext>
            </a:extLst>
          </p:cNvPr>
          <p:cNvSpPr txBox="1"/>
          <p:nvPr/>
        </p:nvSpPr>
        <p:spPr>
          <a:xfrm>
            <a:off x="5535561" y="1617507"/>
            <a:ext cx="6096000" cy="1200329"/>
          </a:xfrm>
          <a:prstGeom prst="rect">
            <a:avLst/>
          </a:prstGeom>
          <a:noFill/>
        </p:spPr>
        <p:txBody>
          <a:bodyPr wrap="square">
            <a:spAutoFit/>
          </a:bodyPr>
          <a:lstStyle/>
          <a:p>
            <a:r>
              <a:rPr lang="en-US" b="1" i="0" dirty="0">
                <a:solidFill>
                  <a:srgbClr val="FFFFFF"/>
                </a:solidFill>
                <a:effectLst/>
                <a:latin typeface="Cambria Math" panose="02040503050406030204" pitchFamily="18" charset="0"/>
                <a:ea typeface="Cambria Math" panose="02040503050406030204" pitchFamily="18" charset="0"/>
              </a:rPr>
              <a:t>Approach</a:t>
            </a:r>
            <a:r>
              <a:rPr lang="en-US" b="0" i="0" dirty="0">
                <a:solidFill>
                  <a:srgbClr val="FFFFFF"/>
                </a:solidFill>
                <a:effectLst/>
                <a:latin typeface="Cambria Math" panose="02040503050406030204" pitchFamily="18" charset="0"/>
                <a:ea typeface="Cambria Math" panose="02040503050406030204" pitchFamily="18" charset="0"/>
              </a:rPr>
              <a:t>: </a:t>
            </a:r>
          </a:p>
          <a:p>
            <a:endParaRPr lang="en-US" b="0" i="0" dirty="0">
              <a:solidFill>
                <a:srgbClr val="FFFFFF"/>
              </a:solidFill>
              <a:effectLst/>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Group by Customer ID, and sum the total purchases. </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Use ORDER BY total DESC LIMIT 5.</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255452353"/>
      </p:ext>
    </p:extLst>
  </p:cSld>
  <p:clrMapOvr>
    <a:masterClrMapping/>
  </p:clrMapOvr>
  <p:transition spd="slow" advTm="1334">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778291-9FE9-37B4-DD11-311E49FD8C85}"/>
              </a:ext>
            </a:extLst>
          </p:cNvPr>
          <p:cNvSpPr txBox="1"/>
          <p:nvPr/>
        </p:nvSpPr>
        <p:spPr>
          <a:xfrm>
            <a:off x="206829" y="104392"/>
            <a:ext cx="11647714" cy="1015663"/>
          </a:xfrm>
          <a:prstGeom prst="rect">
            <a:avLst/>
          </a:prstGeom>
          <a:noFill/>
        </p:spPr>
        <p:txBody>
          <a:bodyPr wrap="square">
            <a:spAutoFit/>
          </a:bodyPr>
          <a:lstStyle/>
          <a:p>
            <a:r>
              <a:rPr lang="en-US" sz="2000" dirty="0">
                <a:latin typeface="Cambria Math" panose="02040503050406030204" pitchFamily="18" charset="0"/>
                <a:ea typeface="Cambria Math" panose="02040503050406030204" pitchFamily="18" charset="0"/>
              </a:rPr>
              <a:t>Task 10: Analyzing Sales Trends by Day of the Week </a:t>
            </a:r>
          </a:p>
          <a:p>
            <a:endParaRPr lang="en-US" sz="2000"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 Walmart wants to analyze the sales patterns to determine which day of the week brings the highest sales.</a:t>
            </a:r>
            <a:endParaRPr lang="en-IN" sz="2000"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0C11A6AF-A87C-5EAD-92C5-659282861276}"/>
              </a:ext>
            </a:extLst>
          </p:cNvPr>
          <p:cNvSpPr txBox="1"/>
          <p:nvPr/>
        </p:nvSpPr>
        <p:spPr>
          <a:xfrm>
            <a:off x="206829" y="1444509"/>
            <a:ext cx="9971314" cy="3970318"/>
          </a:xfrm>
          <a:prstGeom prst="rect">
            <a:avLst/>
          </a:prstGeom>
          <a:noFill/>
        </p:spPr>
        <p:txBody>
          <a:bodyPr wrap="square">
            <a:spAutoFit/>
          </a:bodyPr>
          <a:lstStyle/>
          <a:p>
            <a:r>
              <a:rPr lang="en-IN" dirty="0">
                <a:latin typeface="Cambria Math" panose="02040503050406030204" pitchFamily="18" charset="0"/>
                <a:ea typeface="Cambria Math" panose="02040503050406030204" pitchFamily="18" charset="0"/>
              </a:rPr>
              <a:t>SQL Scripts:-</a:t>
            </a:r>
          </a:p>
          <a:p>
            <a:r>
              <a:rPr lang="en-IN" dirty="0">
                <a:latin typeface="Cambria Math" panose="02040503050406030204" pitchFamily="18" charset="0"/>
                <a:ea typeface="Cambria Math" panose="02040503050406030204" pitchFamily="18" charset="0"/>
              </a:rPr>
              <a:t>SELECT   </a:t>
            </a:r>
          </a:p>
          <a:p>
            <a:r>
              <a:rPr lang="en-IN" dirty="0">
                <a:latin typeface="Cambria Math" panose="02040503050406030204" pitchFamily="18" charset="0"/>
                <a:ea typeface="Cambria Math" panose="02040503050406030204" pitchFamily="18" charset="0"/>
              </a:rPr>
              <a:t>  </a:t>
            </a:r>
            <a:r>
              <a:rPr lang="en-IN" dirty="0" err="1">
                <a:latin typeface="Cambria Math" panose="02040503050406030204" pitchFamily="18" charset="0"/>
                <a:ea typeface="Cambria Math" panose="02040503050406030204" pitchFamily="18" charset="0"/>
              </a:rPr>
              <a:t>DayofWeek</a:t>
            </a:r>
            <a:r>
              <a:rPr lang="en-IN" dirty="0">
                <a:latin typeface="Cambria Math" panose="02040503050406030204" pitchFamily="18" charset="0"/>
                <a:ea typeface="Cambria Math" panose="02040503050406030204" pitchFamily="18" charset="0"/>
              </a:rPr>
              <a:t>,    </a:t>
            </a:r>
            <a:r>
              <a:rPr lang="en-IN" dirty="0" err="1">
                <a:latin typeface="Cambria Math" panose="02040503050406030204" pitchFamily="18" charset="0"/>
                <a:ea typeface="Cambria Math" panose="02040503050406030204" pitchFamily="18" charset="0"/>
              </a:rPr>
              <a:t>TotalSales</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FROM (    </a:t>
            </a:r>
          </a:p>
          <a:p>
            <a:r>
              <a:rPr lang="en-IN" dirty="0">
                <a:latin typeface="Cambria Math" panose="02040503050406030204" pitchFamily="18" charset="0"/>
                <a:ea typeface="Cambria Math" panose="02040503050406030204" pitchFamily="18" charset="0"/>
              </a:rPr>
              <a:t>SELECT      </a:t>
            </a:r>
          </a:p>
          <a:p>
            <a:r>
              <a:rPr lang="en-IN" dirty="0">
                <a:latin typeface="Cambria Math" panose="02040503050406030204" pitchFamily="18" charset="0"/>
                <a:ea typeface="Cambria Math" panose="02040503050406030204" pitchFamily="18" charset="0"/>
              </a:rPr>
              <a:t>   DAYNAME(STR_TO_DATE(Date, '%d-%m-%Y')) AS </a:t>
            </a:r>
            <a:r>
              <a:rPr lang="en-IN" dirty="0" err="1">
                <a:latin typeface="Cambria Math" panose="02040503050406030204" pitchFamily="18" charset="0"/>
                <a:ea typeface="Cambria Math" panose="02040503050406030204" pitchFamily="18" charset="0"/>
              </a:rPr>
              <a:t>DayofWeek</a:t>
            </a:r>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   ROUND(SUM(Total), 0) AS </a:t>
            </a:r>
            <a:r>
              <a:rPr lang="en-IN" dirty="0" err="1">
                <a:latin typeface="Cambria Math" panose="02040503050406030204" pitchFamily="18" charset="0"/>
                <a:ea typeface="Cambria Math" panose="02040503050406030204" pitchFamily="18" charset="0"/>
              </a:rPr>
              <a:t>TotalSales</a:t>
            </a:r>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 FROM </a:t>
            </a:r>
            <a:r>
              <a:rPr lang="en-IN" dirty="0" err="1">
                <a:latin typeface="Cambria Math" panose="02040503050406030204" pitchFamily="18" charset="0"/>
                <a:ea typeface="Cambria Math" panose="02040503050406030204" pitchFamily="18" charset="0"/>
              </a:rPr>
              <a:t>walmartsales</a:t>
            </a:r>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 WHERE </a:t>
            </a:r>
          </a:p>
          <a:p>
            <a:r>
              <a:rPr lang="en-IN" dirty="0">
                <a:latin typeface="Cambria Math" panose="02040503050406030204" pitchFamily="18" charset="0"/>
                <a:ea typeface="Cambria Math" panose="02040503050406030204" pitchFamily="18" charset="0"/>
              </a:rPr>
              <a:t>Date IS NOT NULL AND Date != ‘’  </a:t>
            </a:r>
          </a:p>
          <a:p>
            <a:r>
              <a:rPr lang="en-IN" dirty="0">
                <a:latin typeface="Cambria Math" panose="02040503050406030204" pitchFamily="18" charset="0"/>
                <a:ea typeface="Cambria Math" panose="02040503050406030204" pitchFamily="18" charset="0"/>
              </a:rPr>
              <a:t>  GROUP BY DAYNAME(STR_TO_DATE(Date, '%d-%m-%Y’))</a:t>
            </a:r>
          </a:p>
          <a:p>
            <a:r>
              <a:rPr lang="en-IN" dirty="0">
                <a:latin typeface="Cambria Math" panose="02040503050406030204" pitchFamily="18" charset="0"/>
                <a:ea typeface="Cambria Math" panose="02040503050406030204" pitchFamily="18" charset="0"/>
              </a:rPr>
              <a:t>) AS sub</a:t>
            </a:r>
          </a:p>
          <a:p>
            <a:r>
              <a:rPr lang="en-IN" dirty="0">
                <a:latin typeface="Cambria Math" panose="02040503050406030204" pitchFamily="18" charset="0"/>
                <a:ea typeface="Cambria Math" panose="02040503050406030204" pitchFamily="18" charset="0"/>
              </a:rPr>
              <a:t>ORDER BY     </a:t>
            </a:r>
          </a:p>
          <a:p>
            <a:r>
              <a:rPr lang="en-IN" dirty="0">
                <a:latin typeface="Cambria Math" panose="02040503050406030204" pitchFamily="18" charset="0"/>
                <a:ea typeface="Cambria Math" panose="02040503050406030204" pitchFamily="18" charset="0"/>
              </a:rPr>
              <a:t>FIELD(</a:t>
            </a:r>
            <a:r>
              <a:rPr lang="en-IN" dirty="0" err="1">
                <a:latin typeface="Cambria Math" panose="02040503050406030204" pitchFamily="18" charset="0"/>
                <a:ea typeface="Cambria Math" panose="02040503050406030204" pitchFamily="18" charset="0"/>
              </a:rPr>
              <a:t>DayofWeek</a:t>
            </a:r>
            <a:r>
              <a:rPr lang="en-IN" dirty="0">
                <a:latin typeface="Cambria Math" panose="02040503050406030204" pitchFamily="18" charset="0"/>
                <a:ea typeface="Cambria Math" panose="02040503050406030204" pitchFamily="18" charset="0"/>
              </a:rPr>
              <a:t>, 'Monday', 'Tuesday', 'Wednesday', 'Thursday', 'Friday', 'Saturday', 'Sunday');</a:t>
            </a:r>
          </a:p>
        </p:txBody>
      </p:sp>
      <p:sp>
        <p:nvSpPr>
          <p:cNvPr id="4" name="TextBox 3">
            <a:extLst>
              <a:ext uri="{FF2B5EF4-FFF2-40B4-BE49-F238E27FC236}">
                <a16:creationId xmlns:a16="http://schemas.microsoft.com/office/drawing/2014/main" id="{977743EF-2661-8AAF-3919-94AB01688E1F}"/>
              </a:ext>
            </a:extLst>
          </p:cNvPr>
          <p:cNvSpPr txBox="1"/>
          <p:nvPr/>
        </p:nvSpPr>
        <p:spPr>
          <a:xfrm>
            <a:off x="7695498" y="1325186"/>
            <a:ext cx="3847573" cy="1200329"/>
          </a:xfrm>
          <a:prstGeom prst="rect">
            <a:avLst/>
          </a:prstGeom>
          <a:noFill/>
        </p:spPr>
        <p:txBody>
          <a:bodyPr wrap="square">
            <a:spAutoFit/>
          </a:bodyPr>
          <a:lstStyle/>
          <a:p>
            <a:r>
              <a:rPr lang="en-US" b="1" i="0" dirty="0">
                <a:solidFill>
                  <a:srgbClr val="FFFFFF"/>
                </a:solidFill>
                <a:effectLst/>
                <a:latin typeface="Cambria Math" panose="02040503050406030204" pitchFamily="18" charset="0"/>
                <a:ea typeface="Cambria Math" panose="02040503050406030204" pitchFamily="18" charset="0"/>
              </a:rPr>
              <a:t>Approach</a:t>
            </a:r>
            <a:r>
              <a:rPr lang="en-US" b="0" i="0" dirty="0">
                <a:solidFill>
                  <a:srgbClr val="FFFFFF"/>
                </a:solidFill>
                <a:effectLst/>
                <a:latin typeface="Cambria Math" panose="02040503050406030204" pitchFamily="18" charset="0"/>
                <a:ea typeface="Cambria Math" panose="02040503050406030204" pitchFamily="18" charset="0"/>
              </a:rPr>
              <a:t>: </a:t>
            </a:r>
          </a:p>
          <a:p>
            <a:endParaRPr lang="en-US" b="0" i="0" dirty="0">
              <a:solidFill>
                <a:srgbClr val="FFFFFF"/>
              </a:solidFill>
              <a:effectLst/>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Extract day of week </a:t>
            </a:r>
            <a:r>
              <a:rPr lang="en-US" dirty="0">
                <a:solidFill>
                  <a:srgbClr val="FFFFFF"/>
                </a:solidFill>
                <a:latin typeface="Cambria Math" panose="02040503050406030204" pitchFamily="18" charset="0"/>
                <a:ea typeface="Cambria Math" panose="02040503050406030204" pitchFamily="18" charset="0"/>
              </a:rPr>
              <a:t>using</a:t>
            </a:r>
            <a:r>
              <a:rPr lang="en-US" b="0" i="0" dirty="0">
                <a:solidFill>
                  <a:srgbClr val="FFFFFF"/>
                </a:solidFill>
                <a:effectLst/>
                <a:latin typeface="Cambria Math" panose="02040503050406030204" pitchFamily="18" charset="0"/>
                <a:ea typeface="Cambria Math" panose="02040503050406030204" pitchFamily="18" charset="0"/>
              </a:rPr>
              <a:t> Date. </a:t>
            </a:r>
          </a:p>
          <a:p>
            <a:pPr marL="285750" indent="-285750">
              <a:buFont typeface="Arial" panose="020B0604020202020204" pitchFamily="34" charset="0"/>
              <a:buChar char="•"/>
            </a:pPr>
            <a:r>
              <a:rPr lang="en-US" b="0" i="0" dirty="0">
                <a:solidFill>
                  <a:srgbClr val="FFFFFF"/>
                </a:solidFill>
                <a:effectLst/>
                <a:latin typeface="Cambria Math" panose="02040503050406030204" pitchFamily="18" charset="0"/>
                <a:ea typeface="Cambria Math" panose="02040503050406030204" pitchFamily="18" charset="0"/>
              </a:rPr>
              <a:t>Group by Day name, sum sales.</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122124037"/>
      </p:ext>
    </p:extLst>
  </p:cSld>
  <p:clrMapOvr>
    <a:masterClrMapping/>
  </p:clrMapOvr>
  <p:transition spd="slow" advTm="1302">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E9E265D3-067F-036B-D38B-CA57E93CBC86}"/>
              </a:ext>
            </a:extLst>
          </p:cNvPr>
          <p:cNvGraphicFramePr>
            <a:graphicFrameLocks/>
          </p:cNvGraphicFramePr>
          <p:nvPr>
            <p:extLst>
              <p:ext uri="{D42A27DB-BD31-4B8C-83A1-F6EECF244321}">
                <p14:modId xmlns:p14="http://schemas.microsoft.com/office/powerpoint/2010/main" val="3187590460"/>
              </p:ext>
            </p:extLst>
          </p:nvPr>
        </p:nvGraphicFramePr>
        <p:xfrm>
          <a:off x="4757056" y="283030"/>
          <a:ext cx="7130143" cy="6019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Table 2">
            <a:extLst>
              <a:ext uri="{FF2B5EF4-FFF2-40B4-BE49-F238E27FC236}">
                <a16:creationId xmlns:a16="http://schemas.microsoft.com/office/drawing/2014/main" id="{80F61D4D-77E4-A4D8-A0F0-3CA6D1FC2ED4}"/>
              </a:ext>
            </a:extLst>
          </p:cNvPr>
          <p:cNvGraphicFramePr>
            <a:graphicFrameLocks noGrp="1"/>
          </p:cNvGraphicFramePr>
          <p:nvPr>
            <p:extLst>
              <p:ext uri="{D42A27DB-BD31-4B8C-83A1-F6EECF244321}">
                <p14:modId xmlns:p14="http://schemas.microsoft.com/office/powerpoint/2010/main" val="2045601464"/>
              </p:ext>
            </p:extLst>
          </p:nvPr>
        </p:nvGraphicFramePr>
        <p:xfrm>
          <a:off x="806223" y="929345"/>
          <a:ext cx="3210606" cy="4742112"/>
        </p:xfrm>
        <a:graphic>
          <a:graphicData uri="http://schemas.openxmlformats.org/drawingml/2006/table">
            <a:tbl>
              <a:tblPr/>
              <a:tblGrid>
                <a:gridCol w="1846809">
                  <a:extLst>
                    <a:ext uri="{9D8B030D-6E8A-4147-A177-3AD203B41FA5}">
                      <a16:colId xmlns:a16="http://schemas.microsoft.com/office/drawing/2014/main" val="2636563773"/>
                    </a:ext>
                  </a:extLst>
                </a:gridCol>
                <a:gridCol w="1363797">
                  <a:extLst>
                    <a:ext uri="{9D8B030D-6E8A-4147-A177-3AD203B41FA5}">
                      <a16:colId xmlns:a16="http://schemas.microsoft.com/office/drawing/2014/main" val="1342707160"/>
                    </a:ext>
                  </a:extLst>
                </a:gridCol>
              </a:tblGrid>
              <a:tr h="592764">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DayofWeek</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TotalSales</a:t>
                      </a:r>
                    </a:p>
                  </a:txBody>
                  <a:tcPr marL="7620" marR="7620" marT="7620" marB="0" anchor="b">
                    <a:lnL>
                      <a:noFill/>
                    </a:lnL>
                    <a:lnR>
                      <a:noFill/>
                    </a:lnR>
                    <a:lnT>
                      <a:noFill/>
                    </a:lnT>
                    <a:lnB>
                      <a:noFill/>
                    </a:lnB>
                    <a:noFill/>
                  </a:tcPr>
                </a:tc>
                <a:extLst>
                  <a:ext uri="{0D108BD9-81ED-4DB2-BD59-A6C34878D82A}">
                    <a16:rowId xmlns:a16="http://schemas.microsoft.com/office/drawing/2014/main" val="1585036747"/>
                  </a:ext>
                </a:extLst>
              </a:tr>
              <a:tr h="592764">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Monday</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37899</a:t>
                      </a:r>
                    </a:p>
                  </a:txBody>
                  <a:tcPr marL="7620" marR="7620" marT="7620" marB="0" anchor="b">
                    <a:lnL>
                      <a:noFill/>
                    </a:lnL>
                    <a:lnR>
                      <a:noFill/>
                    </a:lnR>
                    <a:lnT>
                      <a:noFill/>
                    </a:lnT>
                    <a:lnB>
                      <a:noFill/>
                    </a:lnB>
                    <a:noFill/>
                  </a:tcPr>
                </a:tc>
                <a:extLst>
                  <a:ext uri="{0D108BD9-81ED-4DB2-BD59-A6C34878D82A}">
                    <a16:rowId xmlns:a16="http://schemas.microsoft.com/office/drawing/2014/main" val="1558860757"/>
                  </a:ext>
                </a:extLst>
              </a:tr>
              <a:tr h="592764">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Tuesday</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51482</a:t>
                      </a:r>
                    </a:p>
                  </a:txBody>
                  <a:tcPr marL="7620" marR="7620" marT="7620" marB="0" anchor="b">
                    <a:lnL>
                      <a:noFill/>
                    </a:lnL>
                    <a:lnR>
                      <a:noFill/>
                    </a:lnR>
                    <a:lnT>
                      <a:noFill/>
                    </a:lnT>
                    <a:lnB>
                      <a:noFill/>
                    </a:lnB>
                    <a:noFill/>
                  </a:tcPr>
                </a:tc>
                <a:extLst>
                  <a:ext uri="{0D108BD9-81ED-4DB2-BD59-A6C34878D82A}">
                    <a16:rowId xmlns:a16="http://schemas.microsoft.com/office/drawing/2014/main" val="4219856191"/>
                  </a:ext>
                </a:extLst>
              </a:tr>
              <a:tr h="592764">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Wednesday</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43731</a:t>
                      </a:r>
                    </a:p>
                  </a:txBody>
                  <a:tcPr marL="7620" marR="7620" marT="7620" marB="0" anchor="b">
                    <a:lnL>
                      <a:noFill/>
                    </a:lnL>
                    <a:lnR>
                      <a:noFill/>
                    </a:lnR>
                    <a:lnT>
                      <a:noFill/>
                    </a:lnT>
                    <a:lnB>
                      <a:noFill/>
                    </a:lnB>
                    <a:noFill/>
                  </a:tcPr>
                </a:tc>
                <a:extLst>
                  <a:ext uri="{0D108BD9-81ED-4DB2-BD59-A6C34878D82A}">
                    <a16:rowId xmlns:a16="http://schemas.microsoft.com/office/drawing/2014/main" val="1086043055"/>
                  </a:ext>
                </a:extLst>
              </a:tr>
              <a:tr h="592764">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Thursday</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45349</a:t>
                      </a:r>
                    </a:p>
                  </a:txBody>
                  <a:tcPr marL="7620" marR="7620" marT="7620" marB="0" anchor="b">
                    <a:lnL>
                      <a:noFill/>
                    </a:lnL>
                    <a:lnR>
                      <a:noFill/>
                    </a:lnR>
                    <a:lnT>
                      <a:noFill/>
                    </a:lnT>
                    <a:lnB>
                      <a:noFill/>
                    </a:lnB>
                    <a:noFill/>
                  </a:tcPr>
                </a:tc>
                <a:extLst>
                  <a:ext uri="{0D108BD9-81ED-4DB2-BD59-A6C34878D82A}">
                    <a16:rowId xmlns:a16="http://schemas.microsoft.com/office/drawing/2014/main" val="3660930100"/>
                  </a:ext>
                </a:extLst>
              </a:tr>
              <a:tr h="592764">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Friday</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43926</a:t>
                      </a:r>
                    </a:p>
                  </a:txBody>
                  <a:tcPr marL="7620" marR="7620" marT="7620" marB="0" anchor="b">
                    <a:lnL>
                      <a:noFill/>
                    </a:lnL>
                    <a:lnR>
                      <a:noFill/>
                    </a:lnR>
                    <a:lnT>
                      <a:noFill/>
                    </a:lnT>
                    <a:lnB>
                      <a:noFill/>
                    </a:lnB>
                    <a:noFill/>
                  </a:tcPr>
                </a:tc>
                <a:extLst>
                  <a:ext uri="{0D108BD9-81ED-4DB2-BD59-A6C34878D82A}">
                    <a16:rowId xmlns:a16="http://schemas.microsoft.com/office/drawing/2014/main" val="2009689824"/>
                  </a:ext>
                </a:extLst>
              </a:tr>
              <a:tr h="592764">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Saturday</a:t>
                      </a:r>
                    </a:p>
                  </a:txBody>
                  <a:tcPr marL="7620" marR="7620" marT="7620" marB="0" anchor="b">
                    <a:lnL>
                      <a:noFill/>
                    </a:lnL>
                    <a:lnR>
                      <a:noFill/>
                    </a:lnR>
                    <a:lnT>
                      <a:noFill/>
                    </a:lnT>
                    <a:lnB>
                      <a:noFill/>
                    </a:lnB>
                    <a:noFill/>
                  </a:tcPr>
                </a:tc>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56121</a:t>
                      </a:r>
                    </a:p>
                  </a:txBody>
                  <a:tcPr marL="7620" marR="7620" marT="7620" marB="0" anchor="b">
                    <a:lnL>
                      <a:noFill/>
                    </a:lnL>
                    <a:lnR>
                      <a:noFill/>
                    </a:lnR>
                    <a:lnT>
                      <a:noFill/>
                    </a:lnT>
                    <a:lnB>
                      <a:noFill/>
                    </a:lnB>
                    <a:noFill/>
                  </a:tcPr>
                </a:tc>
                <a:extLst>
                  <a:ext uri="{0D108BD9-81ED-4DB2-BD59-A6C34878D82A}">
                    <a16:rowId xmlns:a16="http://schemas.microsoft.com/office/drawing/2014/main" val="458634946"/>
                  </a:ext>
                </a:extLst>
              </a:tr>
              <a:tr h="592764">
                <a:tc>
                  <a:txBody>
                    <a:bodyPr/>
                    <a:lstStyle/>
                    <a:p>
                      <a:pPr algn="ctr" fontAlgn="b">
                        <a:buNone/>
                      </a:pPr>
                      <a:r>
                        <a:rPr lang="en-IN" sz="1200" b="0" i="0" u="none" strike="noStrike">
                          <a:solidFill>
                            <a:schemeClr val="tx1"/>
                          </a:solidFill>
                          <a:effectLst/>
                          <a:latin typeface="Cambria Math" panose="02040503050406030204" pitchFamily="18" charset="0"/>
                          <a:ea typeface="Cambria Math" panose="02040503050406030204" pitchFamily="18" charset="0"/>
                        </a:rPr>
                        <a:t>Sunday</a:t>
                      </a:r>
                    </a:p>
                  </a:txBody>
                  <a:tcPr marL="7620" marR="7620" marT="7620" marB="0" anchor="b">
                    <a:lnL>
                      <a:noFill/>
                    </a:lnL>
                    <a:lnR>
                      <a:noFill/>
                    </a:lnR>
                    <a:lnT>
                      <a:noFill/>
                    </a:lnT>
                    <a:lnB>
                      <a:noFill/>
                    </a:lnB>
                    <a:noFill/>
                  </a:tcPr>
                </a:tc>
                <a:tc>
                  <a:txBody>
                    <a:bodyPr/>
                    <a:lstStyle/>
                    <a:p>
                      <a:pPr algn="ctr" fontAlgn="b">
                        <a:buNone/>
                      </a:pPr>
                      <a:r>
                        <a:rPr lang="en-IN" sz="1200" b="0" i="0" u="none" strike="noStrike" dirty="0">
                          <a:solidFill>
                            <a:schemeClr val="tx1"/>
                          </a:solidFill>
                          <a:effectLst/>
                          <a:latin typeface="Cambria Math" panose="02040503050406030204" pitchFamily="18" charset="0"/>
                          <a:ea typeface="Cambria Math" panose="02040503050406030204" pitchFamily="18" charset="0"/>
                        </a:rPr>
                        <a:t>44458</a:t>
                      </a:r>
                    </a:p>
                  </a:txBody>
                  <a:tcPr marL="7620" marR="7620" marT="7620" marB="0" anchor="b">
                    <a:lnL>
                      <a:noFill/>
                    </a:lnL>
                    <a:lnR>
                      <a:noFill/>
                    </a:lnR>
                    <a:lnT>
                      <a:noFill/>
                    </a:lnT>
                    <a:lnB>
                      <a:noFill/>
                    </a:lnB>
                    <a:noFill/>
                  </a:tcPr>
                </a:tc>
                <a:extLst>
                  <a:ext uri="{0D108BD9-81ED-4DB2-BD59-A6C34878D82A}">
                    <a16:rowId xmlns:a16="http://schemas.microsoft.com/office/drawing/2014/main" val="2901200432"/>
                  </a:ext>
                </a:extLst>
              </a:tr>
            </a:tbl>
          </a:graphicData>
        </a:graphic>
      </p:graphicFrame>
    </p:spTree>
    <p:extLst>
      <p:ext uri="{BB962C8B-B14F-4D97-AF65-F5344CB8AC3E}">
        <p14:creationId xmlns:p14="http://schemas.microsoft.com/office/powerpoint/2010/main" val="2423154466"/>
      </p:ext>
    </p:extLst>
  </p:cSld>
  <p:clrMapOvr>
    <a:masterClrMapping/>
  </p:clrMapOvr>
  <p:transition spd="slow" advTm="1517">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F60BCB-3588-B5B3-A9DE-F8683CD01FD8}"/>
              </a:ext>
            </a:extLst>
          </p:cNvPr>
          <p:cNvSpPr txBox="1"/>
          <p:nvPr/>
        </p:nvSpPr>
        <p:spPr>
          <a:xfrm>
            <a:off x="829558" y="968306"/>
            <a:ext cx="10077253" cy="646331"/>
          </a:xfrm>
          <a:prstGeom prst="rect">
            <a:avLst/>
          </a:prstGeom>
          <a:noFill/>
        </p:spPr>
        <p:txBody>
          <a:bodyPr wrap="square">
            <a:spAutoFit/>
          </a:bodyPr>
          <a:lstStyle/>
          <a:p>
            <a:r>
              <a:rPr lang="en-IN" dirty="0">
                <a:latin typeface="Cambria Math" panose="02040503050406030204" pitchFamily="18" charset="0"/>
                <a:ea typeface="Cambria Math" panose="02040503050406030204" pitchFamily="18" charset="0"/>
                <a:hlinkClick r:id="rId2"/>
              </a:rPr>
              <a:t>https://drive.google.com/file/d/1yUiaPXmF1_WLI_72drzlL1PawniW7JyN/view?usp=sharing</a:t>
            </a:r>
            <a:endParaRPr lang="en-IN" dirty="0">
              <a:latin typeface="Cambria Math" panose="02040503050406030204" pitchFamily="18" charset="0"/>
              <a:ea typeface="Cambria Math" panose="02040503050406030204" pitchFamily="18" charset="0"/>
            </a:endParaRPr>
          </a:p>
          <a:p>
            <a:endParaRPr lang="en-IN" dirty="0">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C6421CD6-B5B0-EF6B-6072-AF1B43285B5D}"/>
              </a:ext>
            </a:extLst>
          </p:cNvPr>
          <p:cNvSpPr txBox="1"/>
          <p:nvPr/>
        </p:nvSpPr>
        <p:spPr>
          <a:xfrm>
            <a:off x="829559" y="386499"/>
            <a:ext cx="6806152" cy="400110"/>
          </a:xfrm>
          <a:prstGeom prst="rect">
            <a:avLst/>
          </a:prstGeom>
          <a:noFill/>
        </p:spPr>
        <p:txBody>
          <a:bodyPr wrap="square" rtlCol="0">
            <a:spAutoFit/>
          </a:bodyPr>
          <a:lstStyle/>
          <a:p>
            <a:r>
              <a:rPr lang="en-IN" sz="2000" b="1" dirty="0">
                <a:latin typeface="Cambria Math" panose="02040503050406030204" pitchFamily="18" charset="0"/>
                <a:ea typeface="Cambria Math" panose="02040503050406030204" pitchFamily="18" charset="0"/>
              </a:rPr>
              <a:t>Video  explanation  of   </a:t>
            </a:r>
            <a:r>
              <a:rPr lang="en-IN" sz="2000" b="1" dirty="0" err="1">
                <a:latin typeface="Cambria Math" panose="02040503050406030204" pitchFamily="18" charset="0"/>
                <a:ea typeface="Cambria Math" panose="02040503050406030204" pitchFamily="18" charset="0"/>
              </a:rPr>
              <a:t>Walmartsales</a:t>
            </a:r>
            <a:r>
              <a:rPr lang="en-IN" sz="2000" b="1" dirty="0">
                <a:latin typeface="Cambria Math" panose="02040503050406030204" pitchFamily="18" charset="0"/>
                <a:ea typeface="Cambria Math" panose="02040503050406030204" pitchFamily="18" charset="0"/>
              </a:rPr>
              <a:t> Project:-</a:t>
            </a:r>
          </a:p>
        </p:txBody>
      </p:sp>
      <p:sp>
        <p:nvSpPr>
          <p:cNvPr id="6" name="TextBox 5">
            <a:extLst>
              <a:ext uri="{FF2B5EF4-FFF2-40B4-BE49-F238E27FC236}">
                <a16:creationId xmlns:a16="http://schemas.microsoft.com/office/drawing/2014/main" id="{BC677EF8-2A52-8A83-12A1-DB29DF3A714A}"/>
              </a:ext>
            </a:extLst>
          </p:cNvPr>
          <p:cNvSpPr txBox="1"/>
          <p:nvPr/>
        </p:nvSpPr>
        <p:spPr>
          <a:xfrm>
            <a:off x="829558" y="1614637"/>
            <a:ext cx="9936765" cy="369332"/>
          </a:xfrm>
          <a:prstGeom prst="rect">
            <a:avLst/>
          </a:prstGeom>
          <a:noFill/>
        </p:spPr>
        <p:txBody>
          <a:bodyPr wrap="square">
            <a:spAutoFit/>
          </a:bodyPr>
          <a:lstStyle/>
          <a:p>
            <a:r>
              <a:rPr lang="en-IN" dirty="0">
                <a:latin typeface="Cambria Math" panose="02040503050406030204" pitchFamily="18" charset="0"/>
                <a:ea typeface="Cambria Math" panose="02040503050406030204" pitchFamily="18" charset="0"/>
              </a:rPr>
              <a:t>https://drive.google.com/file/d/1QeCAqb61cZc_Zv0nbYerdzskg5RRLXQ-/view?usp=sharing</a:t>
            </a:r>
          </a:p>
        </p:txBody>
      </p:sp>
    </p:spTree>
    <p:extLst>
      <p:ext uri="{BB962C8B-B14F-4D97-AF65-F5344CB8AC3E}">
        <p14:creationId xmlns:p14="http://schemas.microsoft.com/office/powerpoint/2010/main" val="3699536139"/>
      </p:ext>
    </p:extLst>
  </p:cSld>
  <p:clrMapOvr>
    <a:masterClrMapping/>
  </p:clrMapOvr>
  <p:transition spd="slow" advTm="2725">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703B09-219D-41C4-62C5-8E43BDAF4A51}"/>
              </a:ext>
            </a:extLst>
          </p:cNvPr>
          <p:cNvSpPr txBox="1"/>
          <p:nvPr/>
        </p:nvSpPr>
        <p:spPr>
          <a:xfrm>
            <a:off x="4090219" y="2253344"/>
            <a:ext cx="5053781" cy="923330"/>
          </a:xfrm>
          <a:prstGeom prst="rect">
            <a:avLst/>
          </a:prstGeom>
          <a:noFill/>
        </p:spPr>
        <p:txBody>
          <a:bodyPr wrap="square" rtlCol="0">
            <a:spAutoFit/>
          </a:bodyPr>
          <a:lstStyle/>
          <a:p>
            <a:r>
              <a:rPr lang="en-IN" sz="5400" dirty="0">
                <a:latin typeface="Cambria Math" panose="02040503050406030204" pitchFamily="18" charset="0"/>
                <a:ea typeface="Cambria Math" panose="02040503050406030204" pitchFamily="18" charset="0"/>
              </a:rPr>
              <a:t>Thank You</a:t>
            </a:r>
          </a:p>
        </p:txBody>
      </p:sp>
    </p:spTree>
    <p:custDataLst>
      <p:tags r:id="rId1"/>
    </p:custDataLst>
    <p:extLst>
      <p:ext uri="{BB962C8B-B14F-4D97-AF65-F5344CB8AC3E}">
        <p14:creationId xmlns:p14="http://schemas.microsoft.com/office/powerpoint/2010/main" val="710412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5183">
        <p15:prstTrans prst="drape"/>
      </p:transition>
    </mc:Choice>
    <mc:Fallback xmlns="">
      <p:transition spd="slow" advTm="5183">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9|1.6"/>
</p:tagLst>
</file>

<file path=ppt/tags/tag2.xml><?xml version="1.0" encoding="utf-8"?>
<p:tagLst xmlns:a="http://schemas.openxmlformats.org/drawingml/2006/main" xmlns:r="http://schemas.openxmlformats.org/officeDocument/2006/relationships" xmlns:p="http://schemas.openxmlformats.org/presentationml/2006/main">
  <p:tag name="TIMING" val="|0.9|1.1"/>
</p:tagLst>
</file>

<file path=ppt/tags/tag3.xml><?xml version="1.0" encoding="utf-8"?>
<p:tagLst xmlns:a="http://schemas.openxmlformats.org/drawingml/2006/main" xmlns:r="http://schemas.openxmlformats.org/officeDocument/2006/relationships" xmlns:p="http://schemas.openxmlformats.org/presentationml/2006/main">
  <p:tag name="TIMING" val="|1|1.2"/>
</p:tagLst>
</file>

<file path=ppt/tags/tag4.xml><?xml version="1.0" encoding="utf-8"?>
<p:tagLst xmlns:a="http://schemas.openxmlformats.org/drawingml/2006/main" xmlns:r="http://schemas.openxmlformats.org/officeDocument/2006/relationships" xmlns:p="http://schemas.openxmlformats.org/presentationml/2006/main">
  <p:tag name="TIMING" val="|0.4"/>
</p:tagLst>
</file>

<file path=ppt/tags/tag5.xml><?xml version="1.0" encoding="utf-8"?>
<p:tagLst xmlns:a="http://schemas.openxmlformats.org/drawingml/2006/main" xmlns:r="http://schemas.openxmlformats.org/officeDocument/2006/relationships" xmlns:p="http://schemas.openxmlformats.org/presentationml/2006/main">
  <p:tag name="TIMING" val="|1.5"/>
</p:tagLst>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TM04033923[[fn=Depth]]</Template>
  <TotalTime>1536</TotalTime>
  <Words>1923</Words>
  <Application>Microsoft Office PowerPoint</Application>
  <PresentationFormat>Widescreen</PresentationFormat>
  <Paragraphs>409</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Cambria Math</vt:lpstr>
      <vt:lpstr>Corbel</vt:lpstr>
      <vt:lpstr>Depth</vt:lpstr>
      <vt:lpstr>Project :-   Walmart Sales </vt:lpstr>
      <vt:lpstr>PowerPoint Presentation</vt:lpstr>
      <vt:lpstr>Business Problem:</vt:lpstr>
      <vt:lpstr>Task 1:- Identifying the Top Branch by Sales Growth Rate Walmart wants to identify which branch has exhibited the highest sales growth over time. Analyze the total sales for each branch and compare the growth rate across months to find the top performer</vt:lpstr>
      <vt:lpstr>PowerPoint Presentation</vt:lpstr>
      <vt:lpstr>Task 2: Finding the Most Profitable Product Line for Each Branch.  Walmart needs to determine which product line contributes the highest profit to each branch. The profit margin should be calculated based on the difference between the gross income and the cost of goods sold.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Pravallika</dc:creator>
  <cp:lastModifiedBy>K Pravallika</cp:lastModifiedBy>
  <cp:revision>8</cp:revision>
  <dcterms:created xsi:type="dcterms:W3CDTF">2025-07-14T23:05:20Z</dcterms:created>
  <dcterms:modified xsi:type="dcterms:W3CDTF">2025-07-16T10:02:12Z</dcterms:modified>
</cp:coreProperties>
</file>